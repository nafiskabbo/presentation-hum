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video" Target="../media/media-6-2.mp4"/><Relationship Id="rId3" Type="http://schemas.microsoft.com/office/2007/relationships/media" Target="../media/media-6-2.mp4"/><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video" Target="../media/media-25-2.mp4"/><Relationship Id="rId3" Type="http://schemas.microsoft.com/office/2007/relationships/media" Target="../media/media-25-2.mp4"/><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nafiskabbo/development/presentation-hum/media/img/slide_one_hero.png">    </p:cNvPr>
          <p:cNvPicPr>
            <a:picLocks noChangeAspect="1"/>
          </p:cNvPicPr>
          <p:nvPr/>
        </p:nvPicPr>
        <p:blipFill>
          <a:blip r:embed="rId1"/>
          <a:srcRect l="0" r="0" t="0" b="0"/>
          <a:stretch/>
        </p:blipFill>
        <p:spPr>
          <a:xfrm>
            <a:off x="6419088" y="0"/>
            <a:ext cx="5769864" cy="6858000"/>
          </a:xfrm>
          <a:prstGeom prst="rect">
            <a:avLst/>
          </a:prstGeom>
        </p:spPr>
      </p:pic>
      <p:sp>
        <p:nvSpPr>
          <p:cNvPr id="3" name="Shape 0"/>
          <p:cNvSpPr/>
          <p:nvPr/>
        </p:nvSpPr>
        <p:spPr>
          <a:xfrm>
            <a:off x="0" y="0"/>
            <a:ext cx="6583680" cy="6858000"/>
          </a:xfrm>
          <a:prstGeom prst="rect">
            <a:avLst/>
          </a:prstGeom>
          <a:solidFill>
            <a:srgbClr val="FFFFFF"/>
          </a:solidFill>
          <a:ln w="12700">
            <a:solidFill>
              <a:srgbClr val="333333"/>
            </a:solidFill>
            <a:prstDash val="solid"/>
          </a:ln>
        </p:spPr>
      </p:sp>
      <p:sp>
        <p:nvSpPr>
          <p:cNvPr id="4" name="Text 1"/>
          <p:cNvSpPr/>
          <p:nvPr/>
        </p:nvSpPr>
        <p:spPr>
          <a:xfrm>
            <a:off x="566928" y="822960"/>
            <a:ext cx="5669280" cy="1005840"/>
          </a:xfrm>
          <a:prstGeom prst="rect">
            <a:avLst/>
          </a:prstGeom>
          <a:noFill/>
          <a:ln/>
        </p:spPr>
        <p:txBody>
          <a:bodyPr wrap="square" lIns="0" tIns="0" rIns="0" bIns="0" rtlCol="0" anchor="ctr"/>
          <a:lstStyle/>
          <a:p>
            <a:pPr indent="0" marL="0">
              <a:buNone/>
            </a:pPr>
            <a:r>
              <a:rPr lang="en-US" sz="6800" b="1" dirty="0">
                <a:solidFill>
                  <a:srgbClr val="800020"/>
                </a:solidFill>
                <a:latin typeface="Century Schoolbook" pitchFamily="34" charset="0"/>
                <a:ea typeface="Century Schoolbook" pitchFamily="34" charset="-122"/>
                <a:cs typeface="Century Schoolbook" pitchFamily="34" charset="-120"/>
              </a:rPr>
              <a:t>AeroSetu</a:t>
            </a:r>
            <a:endParaRPr lang="en-US" sz="6800" dirty="0"/>
          </a:p>
        </p:txBody>
      </p:sp>
      <p:sp>
        <p:nvSpPr>
          <p:cNvPr id="5" name="Shape 2"/>
          <p:cNvSpPr/>
          <p:nvPr/>
        </p:nvSpPr>
        <p:spPr>
          <a:xfrm>
            <a:off x="566928" y="1938528"/>
            <a:ext cx="1005840" cy="54864"/>
          </a:xfrm>
          <a:prstGeom prst="rect">
            <a:avLst/>
          </a:prstGeom>
          <a:solidFill>
            <a:srgbClr val="800020"/>
          </a:solidFill>
          <a:ln w="12700">
            <a:solidFill>
              <a:srgbClr val="333333"/>
            </a:solidFill>
            <a:prstDash val="solid"/>
          </a:ln>
        </p:spPr>
      </p:sp>
      <p:sp>
        <p:nvSpPr>
          <p:cNvPr id="6" name="Text 3"/>
          <p:cNvSpPr/>
          <p:nvPr/>
        </p:nvSpPr>
        <p:spPr>
          <a:xfrm>
            <a:off x="566928" y="2139696"/>
            <a:ext cx="5669280" cy="365760"/>
          </a:xfrm>
          <a:prstGeom prst="rect">
            <a:avLst/>
          </a:prstGeom>
          <a:noFill/>
          <a:ln/>
        </p:spPr>
        <p:txBody>
          <a:bodyPr wrap="square" lIns="0" tIns="0" rIns="0" bIns="0" rtlCol="0" anchor="ctr"/>
          <a:lstStyle/>
          <a:p>
            <a:pPr indent="0" marL="0">
              <a:buNone/>
            </a:pPr>
            <a:r>
              <a:rPr lang="en-US" sz="1700" dirty="0">
                <a:solidFill>
                  <a:srgbClr val="0F172A"/>
                </a:solidFill>
                <a:latin typeface="Calibri" pitchFamily="34" charset="0"/>
                <a:ea typeface="Calibri" pitchFamily="34" charset="-122"/>
                <a:cs typeface="Calibri" pitchFamily="34" charset="-120"/>
              </a:rPr>
              <a:t>Vision and AI powered drone food delivery</a:t>
            </a:r>
            <a:endParaRPr lang="en-US" sz="1700" dirty="0"/>
          </a:p>
        </p:txBody>
      </p:sp>
      <p:sp>
        <p:nvSpPr>
          <p:cNvPr id="7" name="Text 4"/>
          <p:cNvSpPr/>
          <p:nvPr/>
        </p:nvSpPr>
        <p:spPr>
          <a:xfrm>
            <a:off x="566928" y="2798064"/>
            <a:ext cx="5669280" cy="256032"/>
          </a:xfrm>
          <a:prstGeom prst="rect">
            <a:avLst/>
          </a:prstGeom>
          <a:noFill/>
          <a:ln/>
        </p:spPr>
        <p:txBody>
          <a:bodyPr wrap="square" lIns="0" tIns="0" rIns="0" bIns="0" rtlCol="0" anchor="ctr"/>
          <a:lstStyle/>
          <a:p>
            <a:pPr indent="0" marL="0">
              <a:buNone/>
            </a:pPr>
            <a:r>
              <a:rPr lang="en-US" sz="1200" b="1" spc="150" kern="0" dirty="0">
                <a:solidFill>
                  <a:srgbClr val="64748B"/>
                </a:solidFill>
                <a:latin typeface="Calibri" pitchFamily="34" charset="0"/>
                <a:ea typeface="Calibri" pitchFamily="34" charset="-122"/>
                <a:cs typeface="Calibri" pitchFamily="34" charset="-120"/>
              </a:rPr>
              <a:t>SECTIONS AND PRESENTERS</a:t>
            </a:r>
            <a:endParaRPr lang="en-US" sz="1200" dirty="0"/>
          </a:p>
        </p:txBody>
      </p:sp>
      <p:sp>
        <p:nvSpPr>
          <p:cNvPr id="8" name="Text 5"/>
          <p:cNvSpPr/>
          <p:nvPr/>
        </p:nvSpPr>
        <p:spPr>
          <a:xfrm>
            <a:off x="566928" y="314553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1, 2</a:t>
            </a:r>
            <a:endParaRPr lang="en-US" sz="1400" dirty="0"/>
          </a:p>
        </p:txBody>
      </p:sp>
      <p:sp>
        <p:nvSpPr>
          <p:cNvPr id="9" name="Text 6"/>
          <p:cNvSpPr/>
          <p:nvPr/>
        </p:nvSpPr>
        <p:spPr>
          <a:xfrm>
            <a:off x="1481328" y="314553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MD Masfie Amin Srijon</a:t>
            </a:r>
            <a:endParaRPr lang="en-US" sz="1400" dirty="0"/>
          </a:p>
        </p:txBody>
      </p:sp>
      <p:sp>
        <p:nvSpPr>
          <p:cNvPr id="10" name="Text 7"/>
          <p:cNvSpPr/>
          <p:nvPr/>
        </p:nvSpPr>
        <p:spPr>
          <a:xfrm>
            <a:off x="566928" y="351129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3, 4</a:t>
            </a:r>
            <a:endParaRPr lang="en-US" sz="1400" dirty="0"/>
          </a:p>
        </p:txBody>
      </p:sp>
      <p:sp>
        <p:nvSpPr>
          <p:cNvPr id="11" name="Text 8"/>
          <p:cNvSpPr/>
          <p:nvPr/>
        </p:nvSpPr>
        <p:spPr>
          <a:xfrm>
            <a:off x="1481328" y="351129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Nafis Islam Kabbo</a:t>
            </a:r>
            <a:endParaRPr lang="en-US" sz="1400" dirty="0"/>
          </a:p>
        </p:txBody>
      </p:sp>
      <p:sp>
        <p:nvSpPr>
          <p:cNvPr id="12" name="Text 9"/>
          <p:cNvSpPr/>
          <p:nvPr/>
        </p:nvSpPr>
        <p:spPr>
          <a:xfrm>
            <a:off x="566928" y="387705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5, 6</a:t>
            </a:r>
            <a:endParaRPr lang="en-US" sz="1400" dirty="0"/>
          </a:p>
        </p:txBody>
      </p:sp>
      <p:sp>
        <p:nvSpPr>
          <p:cNvPr id="13" name="Text 10"/>
          <p:cNvSpPr/>
          <p:nvPr/>
        </p:nvSpPr>
        <p:spPr>
          <a:xfrm>
            <a:off x="1481328" y="387705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MRM Mubashshirul Haque</a:t>
            </a:r>
            <a:endParaRPr lang="en-US" sz="1400" dirty="0"/>
          </a:p>
        </p:txBody>
      </p:sp>
      <p:sp>
        <p:nvSpPr>
          <p:cNvPr id="14" name="Text 11"/>
          <p:cNvSpPr/>
          <p:nvPr/>
        </p:nvSpPr>
        <p:spPr>
          <a:xfrm>
            <a:off x="566928" y="424281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a:t>
            </a:r>
            <a:endParaRPr lang="en-US" sz="1400" dirty="0"/>
          </a:p>
        </p:txBody>
      </p:sp>
      <p:sp>
        <p:nvSpPr>
          <p:cNvPr id="15" name="Text 12"/>
          <p:cNvSpPr/>
          <p:nvPr/>
        </p:nvSpPr>
        <p:spPr>
          <a:xfrm>
            <a:off x="1481328" y="424281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MD. Nafis Sadot</a:t>
            </a:r>
            <a:endParaRPr lang="en-US" sz="1400" dirty="0"/>
          </a:p>
        </p:txBody>
      </p:sp>
      <p:sp>
        <p:nvSpPr>
          <p:cNvPr id="16" name="Text 13"/>
          <p:cNvSpPr/>
          <p:nvPr/>
        </p:nvSpPr>
        <p:spPr>
          <a:xfrm>
            <a:off x="566928" y="460857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a:t>
            </a:r>
            <a:endParaRPr lang="en-US" sz="1400" dirty="0"/>
          </a:p>
        </p:txBody>
      </p:sp>
      <p:sp>
        <p:nvSpPr>
          <p:cNvPr id="17" name="Text 14"/>
          <p:cNvSpPr/>
          <p:nvPr/>
        </p:nvSpPr>
        <p:spPr>
          <a:xfrm>
            <a:off x="1481328" y="460857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Refayet Hossain Ananda</a:t>
            </a:r>
            <a:endParaRPr lang="en-US" sz="1400" dirty="0"/>
          </a:p>
        </p:txBody>
      </p:sp>
      <p:sp>
        <p:nvSpPr>
          <p:cNvPr id="18" name="Text 15"/>
          <p:cNvSpPr/>
          <p:nvPr/>
        </p:nvSpPr>
        <p:spPr>
          <a:xfrm>
            <a:off x="566928" y="497433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a:t>
            </a:r>
            <a:endParaRPr lang="en-US" sz="1400" dirty="0"/>
          </a:p>
        </p:txBody>
      </p:sp>
      <p:sp>
        <p:nvSpPr>
          <p:cNvPr id="19" name="Text 16"/>
          <p:cNvSpPr/>
          <p:nvPr/>
        </p:nvSpPr>
        <p:spPr>
          <a:xfrm>
            <a:off x="1481328" y="497433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Neloy Nandi</a:t>
            </a:r>
            <a:endParaRPr lang="en-US" sz="1400" dirty="0"/>
          </a:p>
        </p:txBody>
      </p:sp>
      <p:sp>
        <p:nvSpPr>
          <p:cNvPr id="20" name="Text 17"/>
          <p:cNvSpPr/>
          <p:nvPr/>
        </p:nvSpPr>
        <p:spPr>
          <a:xfrm>
            <a:off x="566928" y="534009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a:t>
            </a:r>
            <a:endParaRPr lang="en-US" sz="1400" dirty="0"/>
          </a:p>
        </p:txBody>
      </p:sp>
      <p:sp>
        <p:nvSpPr>
          <p:cNvPr id="21" name="Text 18"/>
          <p:cNvSpPr/>
          <p:nvPr/>
        </p:nvSpPr>
        <p:spPr>
          <a:xfrm>
            <a:off x="1481328" y="534009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Anindo Chama</a:t>
            </a:r>
            <a:endParaRPr lang="en-US" sz="1400" dirty="0"/>
          </a:p>
        </p:txBody>
      </p:sp>
      <p:sp>
        <p:nvSpPr>
          <p:cNvPr id="22" name="Text 19"/>
          <p:cNvSpPr/>
          <p:nvPr/>
        </p:nvSpPr>
        <p:spPr>
          <a:xfrm>
            <a:off x="566928" y="5705856"/>
            <a:ext cx="914400" cy="292608"/>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a:t>
            </a:r>
            <a:endParaRPr lang="en-US" sz="1400" dirty="0"/>
          </a:p>
        </p:txBody>
      </p:sp>
      <p:sp>
        <p:nvSpPr>
          <p:cNvPr id="23" name="Text 20"/>
          <p:cNvSpPr/>
          <p:nvPr/>
        </p:nvSpPr>
        <p:spPr>
          <a:xfrm>
            <a:off x="1481328" y="5705856"/>
            <a:ext cx="4754880" cy="292608"/>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MD Jebon Sheikh</a:t>
            </a:r>
            <a:endParaRPr lang="en-US" sz="1400" dirty="0"/>
          </a:p>
        </p:txBody>
      </p:sp>
      <p:sp>
        <p:nvSpPr>
          <p:cNvPr id="24" name="Text 21"/>
          <p:cNvSpPr/>
          <p:nvPr/>
        </p:nvSpPr>
        <p:spPr>
          <a:xfrm>
            <a:off x="566928" y="6345936"/>
            <a:ext cx="54864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25" name="Text 22"/>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Overview</a:t>
            </a:r>
            <a:endParaRPr lang="en-US" sz="2600" dirty="0"/>
          </a:p>
        </p:txBody>
      </p:sp>
      <p:sp>
        <p:nvSpPr>
          <p:cNvPr id="3" name="Text 1"/>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Presentation outline</a:t>
            </a:r>
            <a:endParaRPr lang="en-US" sz="1600" dirty="0"/>
          </a:p>
        </p:txBody>
      </p:sp>
      <p:sp>
        <p:nvSpPr>
          <p:cNvPr id="4" name="Text 2"/>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5" name="Text 3"/>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6" name="Text 4"/>
          <p:cNvSpPr/>
          <p:nvPr/>
        </p:nvSpPr>
        <p:spPr>
          <a:xfrm>
            <a:off x="566928" y="1280160"/>
            <a:ext cx="457200" cy="219456"/>
          </a:xfrm>
          <a:prstGeom prst="rect">
            <a:avLst/>
          </a:prstGeom>
          <a:noFill/>
          <a:ln/>
        </p:spPr>
        <p:txBody>
          <a:bodyPr wrap="square" lIns="0" tIns="0" rIns="0" bIns="0" rtlCol="0" anchor="ctr"/>
          <a:lstStyle/>
          <a:p>
            <a:pPr indent="0" marL="0">
              <a:buNone/>
            </a:pPr>
            <a:r>
              <a:rPr lang="en-US" sz="1200" b="1" spc="100" kern="0" dirty="0">
                <a:solidFill>
                  <a:srgbClr val="64748B"/>
                </a:solidFill>
                <a:latin typeface="Calibri" pitchFamily="34" charset="0"/>
                <a:ea typeface="Calibri" pitchFamily="34" charset="-122"/>
                <a:cs typeface="Calibri" pitchFamily="34" charset="-120"/>
              </a:rPr>
              <a:t>SECTION</a:t>
            </a:r>
            <a:endParaRPr lang="en-US" sz="1200" dirty="0"/>
          </a:p>
        </p:txBody>
      </p:sp>
      <p:sp>
        <p:nvSpPr>
          <p:cNvPr id="7" name="Text 5"/>
          <p:cNvSpPr/>
          <p:nvPr/>
        </p:nvSpPr>
        <p:spPr>
          <a:xfrm>
            <a:off x="1042416" y="1280160"/>
            <a:ext cx="2377440" cy="219456"/>
          </a:xfrm>
          <a:prstGeom prst="rect">
            <a:avLst/>
          </a:prstGeom>
          <a:noFill/>
          <a:ln/>
        </p:spPr>
        <p:txBody>
          <a:bodyPr wrap="square" lIns="0" tIns="0" rIns="0" bIns="0" rtlCol="0" anchor="ctr"/>
          <a:lstStyle/>
          <a:p>
            <a:pPr indent="0" marL="0">
              <a:buNone/>
            </a:pPr>
            <a:r>
              <a:rPr lang="en-US" sz="1200" b="1" spc="100" kern="0" dirty="0">
                <a:solidFill>
                  <a:srgbClr val="64748B"/>
                </a:solidFill>
                <a:latin typeface="Calibri" pitchFamily="34" charset="0"/>
                <a:ea typeface="Calibri" pitchFamily="34" charset="-122"/>
                <a:cs typeface="Calibri" pitchFamily="34" charset="-120"/>
              </a:rPr>
              <a:t>TOPIC</a:t>
            </a:r>
            <a:endParaRPr lang="en-US" sz="1200" dirty="0"/>
          </a:p>
        </p:txBody>
      </p:sp>
      <p:sp>
        <p:nvSpPr>
          <p:cNvPr id="8" name="Text 6"/>
          <p:cNvSpPr/>
          <p:nvPr/>
        </p:nvSpPr>
        <p:spPr>
          <a:xfrm>
            <a:off x="9247327" y="1280160"/>
            <a:ext cx="2377440" cy="219456"/>
          </a:xfrm>
          <a:prstGeom prst="rect">
            <a:avLst/>
          </a:prstGeom>
          <a:noFill/>
          <a:ln/>
        </p:spPr>
        <p:txBody>
          <a:bodyPr wrap="square" lIns="0" tIns="0" rIns="0" bIns="0" rtlCol="0" anchor="ctr"/>
          <a:lstStyle/>
          <a:p>
            <a:pPr algn="r" indent="0" marL="0">
              <a:buNone/>
            </a:pPr>
            <a:r>
              <a:rPr lang="en-US" sz="1200" b="1" spc="100" kern="0" dirty="0">
                <a:solidFill>
                  <a:srgbClr val="64748B"/>
                </a:solidFill>
                <a:latin typeface="Calibri" pitchFamily="34" charset="0"/>
                <a:ea typeface="Calibri" pitchFamily="34" charset="-122"/>
                <a:cs typeface="Calibri" pitchFamily="34" charset="-120"/>
              </a:rPr>
              <a:t>FRAMEWORK</a:t>
            </a:r>
            <a:endParaRPr lang="en-US" sz="1200" dirty="0"/>
          </a:p>
        </p:txBody>
      </p:sp>
      <p:sp>
        <p:nvSpPr>
          <p:cNvPr id="9" name="Shape 7"/>
          <p:cNvSpPr/>
          <p:nvPr/>
        </p:nvSpPr>
        <p:spPr>
          <a:xfrm>
            <a:off x="566928" y="1517904"/>
            <a:ext cx="11057839" cy="18288"/>
          </a:xfrm>
          <a:prstGeom prst="rect">
            <a:avLst/>
          </a:prstGeom>
          <a:solidFill>
            <a:srgbClr val="CBD5E1"/>
          </a:solidFill>
          <a:ln w="12700">
            <a:solidFill>
              <a:srgbClr val="333333"/>
            </a:solidFill>
            <a:prstDash val="solid"/>
          </a:ln>
        </p:spPr>
      </p:sp>
      <p:sp>
        <p:nvSpPr>
          <p:cNvPr id="10" name="Text 8"/>
          <p:cNvSpPr/>
          <p:nvPr/>
        </p:nvSpPr>
        <p:spPr>
          <a:xfrm>
            <a:off x="566928" y="1609344"/>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1</a:t>
            </a:r>
            <a:endParaRPr lang="en-US" sz="1700" dirty="0"/>
          </a:p>
        </p:txBody>
      </p:sp>
      <p:sp>
        <p:nvSpPr>
          <p:cNvPr id="11" name="Text 9"/>
          <p:cNvSpPr/>
          <p:nvPr/>
        </p:nvSpPr>
        <p:spPr>
          <a:xfrm>
            <a:off x="1042416" y="1609344"/>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The Problem and Market We Enter</a:t>
            </a:r>
            <a:endParaRPr lang="en-US" sz="1600" dirty="0"/>
          </a:p>
        </p:txBody>
      </p:sp>
      <p:sp>
        <p:nvSpPr>
          <p:cNvPr id="12" name="Text 10"/>
          <p:cNvSpPr/>
          <p:nvPr/>
        </p:nvSpPr>
        <p:spPr>
          <a:xfrm>
            <a:off x="8790127" y="1609344"/>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Problem-Solution Fit</a:t>
            </a:r>
            <a:endParaRPr lang="en-US" sz="1400" dirty="0"/>
          </a:p>
        </p:txBody>
      </p:sp>
      <p:sp>
        <p:nvSpPr>
          <p:cNvPr id="13" name="Shape 11"/>
          <p:cNvSpPr/>
          <p:nvPr/>
        </p:nvSpPr>
        <p:spPr>
          <a:xfrm>
            <a:off x="566928" y="2002536"/>
            <a:ext cx="11057839" cy="365760"/>
          </a:xfrm>
          <a:prstGeom prst="rect">
            <a:avLst/>
          </a:prstGeom>
          <a:solidFill>
            <a:srgbClr val="F8FAFC"/>
          </a:solidFill>
          <a:ln w="12700">
            <a:solidFill>
              <a:srgbClr val="333333"/>
            </a:solidFill>
            <a:prstDash val="solid"/>
          </a:ln>
        </p:spPr>
      </p:sp>
      <p:sp>
        <p:nvSpPr>
          <p:cNvPr id="14" name="Text 12"/>
          <p:cNvSpPr/>
          <p:nvPr/>
        </p:nvSpPr>
        <p:spPr>
          <a:xfrm>
            <a:off x="566928" y="2002536"/>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2</a:t>
            </a:r>
            <a:endParaRPr lang="en-US" sz="1700" dirty="0"/>
          </a:p>
        </p:txBody>
      </p:sp>
      <p:sp>
        <p:nvSpPr>
          <p:cNvPr id="15" name="Text 13"/>
          <p:cNvSpPr/>
          <p:nvPr/>
        </p:nvSpPr>
        <p:spPr>
          <a:xfrm>
            <a:off x="1042416" y="2002536"/>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Value Proposition and Problem-Solution Fit</a:t>
            </a:r>
            <a:endParaRPr lang="en-US" sz="1600" dirty="0"/>
          </a:p>
        </p:txBody>
      </p:sp>
      <p:sp>
        <p:nvSpPr>
          <p:cNvPr id="16" name="Text 14"/>
          <p:cNvSpPr/>
          <p:nvPr/>
        </p:nvSpPr>
        <p:spPr>
          <a:xfrm>
            <a:off x="8790127" y="2002536"/>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Value Proposition Canvas</a:t>
            </a:r>
            <a:endParaRPr lang="en-US" sz="1400" dirty="0"/>
          </a:p>
        </p:txBody>
      </p:sp>
      <p:sp>
        <p:nvSpPr>
          <p:cNvPr id="17" name="Text 15"/>
          <p:cNvSpPr/>
          <p:nvPr/>
        </p:nvSpPr>
        <p:spPr>
          <a:xfrm>
            <a:off x="566928" y="2395728"/>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3</a:t>
            </a:r>
            <a:endParaRPr lang="en-US" sz="1700" dirty="0"/>
          </a:p>
        </p:txBody>
      </p:sp>
      <p:sp>
        <p:nvSpPr>
          <p:cNvPr id="18" name="Text 16"/>
          <p:cNvSpPr/>
          <p:nvPr/>
        </p:nvSpPr>
        <p:spPr>
          <a:xfrm>
            <a:off x="1042416" y="2395728"/>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Technology: Vision, Jev and GLM</a:t>
            </a:r>
            <a:endParaRPr lang="en-US" sz="1600" dirty="0"/>
          </a:p>
        </p:txBody>
      </p:sp>
      <p:sp>
        <p:nvSpPr>
          <p:cNvPr id="19" name="Text 17"/>
          <p:cNvSpPr/>
          <p:nvPr/>
        </p:nvSpPr>
        <p:spPr>
          <a:xfrm>
            <a:off x="8790127" y="2395728"/>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Architecture and Tech Selection</a:t>
            </a:r>
            <a:endParaRPr lang="en-US" sz="1400" dirty="0"/>
          </a:p>
        </p:txBody>
      </p:sp>
      <p:sp>
        <p:nvSpPr>
          <p:cNvPr id="20" name="Shape 18"/>
          <p:cNvSpPr/>
          <p:nvPr/>
        </p:nvSpPr>
        <p:spPr>
          <a:xfrm>
            <a:off x="566928" y="2788920"/>
            <a:ext cx="11057839" cy="365760"/>
          </a:xfrm>
          <a:prstGeom prst="rect">
            <a:avLst/>
          </a:prstGeom>
          <a:solidFill>
            <a:srgbClr val="F8FAFC"/>
          </a:solidFill>
          <a:ln w="12700">
            <a:solidFill>
              <a:srgbClr val="333333"/>
            </a:solidFill>
            <a:prstDash val="solid"/>
          </a:ln>
        </p:spPr>
      </p:sp>
      <p:sp>
        <p:nvSpPr>
          <p:cNvPr id="21" name="Text 19"/>
          <p:cNvSpPr/>
          <p:nvPr/>
        </p:nvSpPr>
        <p:spPr>
          <a:xfrm>
            <a:off x="566928" y="2788920"/>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4</a:t>
            </a:r>
            <a:endParaRPr lang="en-US" sz="1700" dirty="0"/>
          </a:p>
        </p:txBody>
      </p:sp>
      <p:sp>
        <p:nvSpPr>
          <p:cNvPr id="22" name="Text 20"/>
          <p:cNvSpPr/>
          <p:nvPr/>
        </p:nvSpPr>
        <p:spPr>
          <a:xfrm>
            <a:off x="1042416" y="2788920"/>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Technical Safety and Navigation Risk</a:t>
            </a:r>
            <a:endParaRPr lang="en-US" sz="1600" dirty="0"/>
          </a:p>
        </p:txBody>
      </p:sp>
      <p:sp>
        <p:nvSpPr>
          <p:cNvPr id="23" name="Text 21"/>
          <p:cNvSpPr/>
          <p:nvPr/>
        </p:nvSpPr>
        <p:spPr>
          <a:xfrm>
            <a:off x="8790127" y="2788920"/>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Risk Analysis</a:t>
            </a:r>
            <a:endParaRPr lang="en-US" sz="1400" dirty="0"/>
          </a:p>
        </p:txBody>
      </p:sp>
      <p:sp>
        <p:nvSpPr>
          <p:cNvPr id="24" name="Text 22"/>
          <p:cNvSpPr/>
          <p:nvPr/>
        </p:nvSpPr>
        <p:spPr>
          <a:xfrm>
            <a:off x="566928" y="3182112"/>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5</a:t>
            </a:r>
            <a:endParaRPr lang="en-US" sz="1700" dirty="0"/>
          </a:p>
        </p:txBody>
      </p:sp>
      <p:sp>
        <p:nvSpPr>
          <p:cNvPr id="25" name="Text 23"/>
          <p:cNvSpPr/>
          <p:nvPr/>
        </p:nvSpPr>
        <p:spPr>
          <a:xfrm>
            <a:off x="1042416" y="3182112"/>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Business Model and Revenue</a:t>
            </a:r>
            <a:endParaRPr lang="en-US" sz="1600" dirty="0"/>
          </a:p>
        </p:txBody>
      </p:sp>
      <p:sp>
        <p:nvSpPr>
          <p:cNvPr id="26" name="Text 24"/>
          <p:cNvSpPr/>
          <p:nvPr/>
        </p:nvSpPr>
        <p:spPr>
          <a:xfrm>
            <a:off x="8790127" y="3182112"/>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Business Model Canvas</a:t>
            </a:r>
            <a:endParaRPr lang="en-US" sz="1400" dirty="0"/>
          </a:p>
        </p:txBody>
      </p:sp>
      <p:sp>
        <p:nvSpPr>
          <p:cNvPr id="27" name="Shape 25"/>
          <p:cNvSpPr/>
          <p:nvPr/>
        </p:nvSpPr>
        <p:spPr>
          <a:xfrm>
            <a:off x="566928" y="3575304"/>
            <a:ext cx="11057839" cy="365760"/>
          </a:xfrm>
          <a:prstGeom prst="rect">
            <a:avLst/>
          </a:prstGeom>
          <a:solidFill>
            <a:srgbClr val="F8FAFC"/>
          </a:solidFill>
          <a:ln w="12700">
            <a:solidFill>
              <a:srgbClr val="333333"/>
            </a:solidFill>
            <a:prstDash val="solid"/>
          </a:ln>
        </p:spPr>
      </p:sp>
      <p:sp>
        <p:nvSpPr>
          <p:cNvPr id="28" name="Text 26"/>
          <p:cNvSpPr/>
          <p:nvPr/>
        </p:nvSpPr>
        <p:spPr>
          <a:xfrm>
            <a:off x="566928" y="3575304"/>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6</a:t>
            </a:r>
            <a:endParaRPr lang="en-US" sz="1700" dirty="0"/>
          </a:p>
        </p:txBody>
      </p:sp>
      <p:sp>
        <p:nvSpPr>
          <p:cNvPr id="29" name="Text 27"/>
          <p:cNvSpPr/>
          <p:nvPr/>
        </p:nvSpPr>
        <p:spPr>
          <a:xfrm>
            <a:off x="1042416" y="3575304"/>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Unit Economics and Break-Even</a:t>
            </a:r>
            <a:endParaRPr lang="en-US" sz="1600" dirty="0"/>
          </a:p>
        </p:txBody>
      </p:sp>
      <p:sp>
        <p:nvSpPr>
          <p:cNvPr id="30" name="Text 28"/>
          <p:cNvSpPr/>
          <p:nvPr/>
        </p:nvSpPr>
        <p:spPr>
          <a:xfrm>
            <a:off x="8790127" y="3575304"/>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Cost and Contribution</a:t>
            </a:r>
            <a:endParaRPr lang="en-US" sz="1400" dirty="0"/>
          </a:p>
        </p:txBody>
      </p:sp>
      <p:sp>
        <p:nvSpPr>
          <p:cNvPr id="31" name="Text 29"/>
          <p:cNvSpPr/>
          <p:nvPr/>
        </p:nvSpPr>
        <p:spPr>
          <a:xfrm>
            <a:off x="566928" y="3968496"/>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7</a:t>
            </a:r>
            <a:endParaRPr lang="en-US" sz="1700" dirty="0"/>
          </a:p>
        </p:txBody>
      </p:sp>
      <p:sp>
        <p:nvSpPr>
          <p:cNvPr id="32" name="Text 30"/>
          <p:cNvSpPr/>
          <p:nvPr/>
        </p:nvSpPr>
        <p:spPr>
          <a:xfrm>
            <a:off x="1042416" y="3968496"/>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Internal Strengths and Weaknesses</a:t>
            </a:r>
            <a:endParaRPr lang="en-US" sz="1600" dirty="0"/>
          </a:p>
        </p:txBody>
      </p:sp>
      <p:sp>
        <p:nvSpPr>
          <p:cNvPr id="33" name="Text 31"/>
          <p:cNvSpPr/>
          <p:nvPr/>
        </p:nvSpPr>
        <p:spPr>
          <a:xfrm>
            <a:off x="8790127" y="3968496"/>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SWOT internal</a:t>
            </a:r>
            <a:endParaRPr lang="en-US" sz="1400" dirty="0"/>
          </a:p>
        </p:txBody>
      </p:sp>
      <p:sp>
        <p:nvSpPr>
          <p:cNvPr id="34" name="Shape 32"/>
          <p:cNvSpPr/>
          <p:nvPr/>
        </p:nvSpPr>
        <p:spPr>
          <a:xfrm>
            <a:off x="566928" y="4361688"/>
            <a:ext cx="11057839" cy="365760"/>
          </a:xfrm>
          <a:prstGeom prst="rect">
            <a:avLst/>
          </a:prstGeom>
          <a:solidFill>
            <a:srgbClr val="F8FAFC"/>
          </a:solidFill>
          <a:ln w="12700">
            <a:solidFill>
              <a:srgbClr val="333333"/>
            </a:solidFill>
            <a:prstDash val="solid"/>
          </a:ln>
        </p:spPr>
      </p:sp>
      <p:sp>
        <p:nvSpPr>
          <p:cNvPr id="35" name="Text 33"/>
          <p:cNvSpPr/>
          <p:nvPr/>
        </p:nvSpPr>
        <p:spPr>
          <a:xfrm>
            <a:off x="566928" y="4361688"/>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8</a:t>
            </a:r>
            <a:endParaRPr lang="en-US" sz="1700" dirty="0"/>
          </a:p>
        </p:txBody>
      </p:sp>
      <p:sp>
        <p:nvSpPr>
          <p:cNvPr id="36" name="Text 34"/>
          <p:cNvSpPr/>
          <p:nvPr/>
        </p:nvSpPr>
        <p:spPr>
          <a:xfrm>
            <a:off x="1042416" y="4361688"/>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External Opportunities and Threats</a:t>
            </a:r>
            <a:endParaRPr lang="en-US" sz="1600" dirty="0"/>
          </a:p>
        </p:txBody>
      </p:sp>
      <p:sp>
        <p:nvSpPr>
          <p:cNvPr id="37" name="Text 35"/>
          <p:cNvSpPr/>
          <p:nvPr/>
        </p:nvSpPr>
        <p:spPr>
          <a:xfrm>
            <a:off x="8790127" y="4361688"/>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SWOT external</a:t>
            </a:r>
            <a:endParaRPr lang="en-US" sz="1400" dirty="0"/>
          </a:p>
        </p:txBody>
      </p:sp>
      <p:sp>
        <p:nvSpPr>
          <p:cNvPr id="38" name="Text 36"/>
          <p:cNvSpPr/>
          <p:nvPr/>
        </p:nvSpPr>
        <p:spPr>
          <a:xfrm>
            <a:off x="566928" y="4754880"/>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9</a:t>
            </a:r>
            <a:endParaRPr lang="en-US" sz="1700" dirty="0"/>
          </a:p>
        </p:txBody>
      </p:sp>
      <p:sp>
        <p:nvSpPr>
          <p:cNvPr id="39" name="Text 37"/>
          <p:cNvSpPr/>
          <p:nvPr/>
        </p:nvSpPr>
        <p:spPr>
          <a:xfrm>
            <a:off x="1042416" y="4754880"/>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Competition and Industry Landscape</a:t>
            </a:r>
            <a:endParaRPr lang="en-US" sz="1600" dirty="0"/>
          </a:p>
        </p:txBody>
      </p:sp>
      <p:sp>
        <p:nvSpPr>
          <p:cNvPr id="40" name="Text 38"/>
          <p:cNvSpPr/>
          <p:nvPr/>
        </p:nvSpPr>
        <p:spPr>
          <a:xfrm>
            <a:off x="8790127" y="4754880"/>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Porter's Five Forces</a:t>
            </a:r>
            <a:endParaRPr lang="en-US" sz="1400" dirty="0"/>
          </a:p>
        </p:txBody>
      </p:sp>
      <p:sp>
        <p:nvSpPr>
          <p:cNvPr id="41" name="Shape 39"/>
          <p:cNvSpPr/>
          <p:nvPr/>
        </p:nvSpPr>
        <p:spPr>
          <a:xfrm>
            <a:off x="566928" y="5148072"/>
            <a:ext cx="11057839" cy="365760"/>
          </a:xfrm>
          <a:prstGeom prst="rect">
            <a:avLst/>
          </a:prstGeom>
          <a:solidFill>
            <a:srgbClr val="F8FAFC"/>
          </a:solidFill>
          <a:ln w="12700">
            <a:solidFill>
              <a:srgbClr val="333333"/>
            </a:solidFill>
            <a:prstDash val="solid"/>
          </a:ln>
        </p:spPr>
      </p:sp>
      <p:sp>
        <p:nvSpPr>
          <p:cNvPr id="42" name="Text 40"/>
          <p:cNvSpPr/>
          <p:nvPr/>
        </p:nvSpPr>
        <p:spPr>
          <a:xfrm>
            <a:off x="566928" y="5148072"/>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10</a:t>
            </a:r>
            <a:endParaRPr lang="en-US" sz="1700" dirty="0"/>
          </a:p>
        </p:txBody>
      </p:sp>
      <p:sp>
        <p:nvSpPr>
          <p:cNvPr id="43" name="Text 41"/>
          <p:cNvSpPr/>
          <p:nvPr/>
        </p:nvSpPr>
        <p:spPr>
          <a:xfrm>
            <a:off x="1042416" y="5148072"/>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Operations and People System</a:t>
            </a:r>
            <a:endParaRPr lang="en-US" sz="1600" dirty="0"/>
          </a:p>
        </p:txBody>
      </p:sp>
      <p:sp>
        <p:nvSpPr>
          <p:cNvPr id="44" name="Text 42"/>
          <p:cNvSpPr/>
          <p:nvPr/>
        </p:nvSpPr>
        <p:spPr>
          <a:xfrm>
            <a:off x="8790127" y="5148072"/>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Operations Process Design</a:t>
            </a:r>
            <a:endParaRPr lang="en-US" sz="1400" dirty="0"/>
          </a:p>
        </p:txBody>
      </p:sp>
      <p:sp>
        <p:nvSpPr>
          <p:cNvPr id="45" name="Text 43"/>
          <p:cNvSpPr/>
          <p:nvPr/>
        </p:nvSpPr>
        <p:spPr>
          <a:xfrm>
            <a:off x="566928" y="5541264"/>
            <a:ext cx="457200" cy="365760"/>
          </a:xfrm>
          <a:prstGeom prst="rect">
            <a:avLst/>
          </a:prstGeom>
          <a:noFill/>
          <a:ln/>
        </p:spPr>
        <p:txBody>
          <a:bodyPr wrap="square" lIns="0" tIns="0" rIns="0" bIns="0" rtlCol="0" anchor="ctr"/>
          <a:lstStyle/>
          <a:p>
            <a:pPr indent="0" marL="0">
              <a:buNone/>
            </a:pPr>
            <a:r>
              <a:rPr lang="en-US" sz="1700" b="1" dirty="0">
                <a:solidFill>
                  <a:srgbClr val="A24A48"/>
                </a:solidFill>
                <a:latin typeface="Century Schoolbook" pitchFamily="34" charset="0"/>
                <a:ea typeface="Century Schoolbook" pitchFamily="34" charset="-122"/>
                <a:cs typeface="Century Schoolbook" pitchFamily="34" charset="-120"/>
              </a:rPr>
              <a:t>11</a:t>
            </a:r>
            <a:endParaRPr lang="en-US" sz="1700" dirty="0"/>
          </a:p>
        </p:txBody>
      </p:sp>
      <p:sp>
        <p:nvSpPr>
          <p:cNvPr id="46" name="Text 44"/>
          <p:cNvSpPr/>
          <p:nvPr/>
        </p:nvSpPr>
        <p:spPr>
          <a:xfrm>
            <a:off x="1042416" y="5541264"/>
            <a:ext cx="7674559" cy="36576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Social Impact, Ethics and Future Strategy</a:t>
            </a:r>
            <a:endParaRPr lang="en-US" sz="1600" dirty="0"/>
          </a:p>
        </p:txBody>
      </p:sp>
      <p:sp>
        <p:nvSpPr>
          <p:cNvPr id="47" name="Text 45"/>
          <p:cNvSpPr/>
          <p:nvPr/>
        </p:nvSpPr>
        <p:spPr>
          <a:xfrm>
            <a:off x="8790127" y="5541264"/>
            <a:ext cx="2834640" cy="365760"/>
          </a:xfrm>
          <a:prstGeom prst="rect">
            <a:avLst/>
          </a:prstGeom>
          <a:noFill/>
          <a:ln/>
        </p:spPr>
        <p:txBody>
          <a:bodyPr wrap="square" lIns="0" tIns="0" rIns="0" bIns="0" rtlCol="0" anchor="ctr"/>
          <a:lstStyle/>
          <a:p>
            <a:pPr algn="r" indent="0" marL="0">
              <a:buNone/>
            </a:pPr>
            <a:r>
              <a:rPr lang="en-US" sz="1400" dirty="0">
                <a:solidFill>
                  <a:srgbClr val="64748B"/>
                </a:solidFill>
                <a:latin typeface="Calibri" pitchFamily="34" charset="0"/>
                <a:ea typeface="Calibri" pitchFamily="34" charset="-122"/>
                <a:cs typeface="Calibri" pitchFamily="34" charset="-120"/>
              </a:rPr>
              <a:t>Triple Bottom Line + Ethics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The Problem and Market We Enter</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Problem-Solution Fit</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The market is already paying, in lost time, every single day.</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The Problem and Market We Enter</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AeroSetu flies a corridor, not a route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How one order travels, end to end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079894" cy="64008"/>
          </a:xfrm>
          <a:prstGeom prst="rect">
            <a:avLst/>
          </a:prstGeom>
          <a:solidFill>
            <a:srgbClr val="800020"/>
          </a:solidFill>
          <a:ln w="12700">
            <a:solidFill>
              <a:srgbClr val="333333"/>
            </a:solidFill>
            <a:prstDash val="solid"/>
          </a:ln>
        </p:spPr>
      </p:sp>
      <p:sp>
        <p:nvSpPr>
          <p:cNvPr id="9" name="Text 7"/>
          <p:cNvSpPr/>
          <p:nvPr/>
        </p:nvSpPr>
        <p:spPr>
          <a:xfrm>
            <a:off x="694944"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1</a:t>
            </a:r>
            <a:endParaRPr lang="en-US" sz="2000" dirty="0"/>
          </a:p>
        </p:txBody>
      </p:sp>
      <p:sp>
        <p:nvSpPr>
          <p:cNvPr id="10" name="Text 8"/>
          <p:cNvSpPr/>
          <p:nvPr/>
        </p:nvSpPr>
        <p:spPr>
          <a:xfrm>
            <a:off x="694944"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Order and pad</a:t>
            </a:r>
            <a:endParaRPr lang="en-US" sz="1600" dirty="0"/>
          </a:p>
        </p:txBody>
      </p:sp>
      <p:sp>
        <p:nvSpPr>
          <p:cNvPr id="11" name="Text 9"/>
          <p:cNvSpPr/>
          <p:nvPr/>
        </p:nvSpPr>
        <p:spPr>
          <a:xfrm>
            <a:off x="694944"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App matches a kitchen to a landing pad</a:t>
            </a:r>
            <a:endParaRPr lang="en-US" sz="1400" dirty="0"/>
          </a:p>
        </p:txBody>
      </p:sp>
      <p:sp>
        <p:nvSpPr>
          <p:cNvPr id="12" name="Shape 10"/>
          <p:cNvSpPr/>
          <p:nvPr/>
        </p:nvSpPr>
        <p:spPr>
          <a:xfrm>
            <a:off x="2811414"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2811414" y="1298448"/>
            <a:ext cx="2079894" cy="64008"/>
          </a:xfrm>
          <a:prstGeom prst="rect">
            <a:avLst/>
          </a:prstGeom>
          <a:solidFill>
            <a:srgbClr val="800020"/>
          </a:solidFill>
          <a:ln w="12700">
            <a:solidFill>
              <a:srgbClr val="333333"/>
            </a:solidFill>
            <a:prstDash val="solid"/>
          </a:ln>
        </p:spPr>
      </p:sp>
      <p:sp>
        <p:nvSpPr>
          <p:cNvPr id="14" name="Text 12"/>
          <p:cNvSpPr/>
          <p:nvPr/>
        </p:nvSpPr>
        <p:spPr>
          <a:xfrm>
            <a:off x="2939430"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2</a:t>
            </a:r>
            <a:endParaRPr lang="en-US" sz="2000" dirty="0"/>
          </a:p>
        </p:txBody>
      </p:sp>
      <p:sp>
        <p:nvSpPr>
          <p:cNvPr id="15" name="Text 13"/>
          <p:cNvSpPr/>
          <p:nvPr/>
        </p:nvSpPr>
        <p:spPr>
          <a:xfrm>
            <a:off x="2939430"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Launch</a:t>
            </a:r>
            <a:endParaRPr lang="en-US" sz="1600" dirty="0"/>
          </a:p>
        </p:txBody>
      </p:sp>
      <p:sp>
        <p:nvSpPr>
          <p:cNvPr id="16" name="Text 14"/>
          <p:cNvSpPr/>
          <p:nvPr/>
        </p:nvSpPr>
        <p:spPr>
          <a:xfrm>
            <a:off x="2939430"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Aircraft is loaded at the hub</a:t>
            </a:r>
            <a:endParaRPr lang="en-US" sz="1400" dirty="0"/>
          </a:p>
        </p:txBody>
      </p:sp>
      <p:sp>
        <p:nvSpPr>
          <p:cNvPr id="17" name="Shape 15"/>
          <p:cNvSpPr/>
          <p:nvPr/>
        </p:nvSpPr>
        <p:spPr>
          <a:xfrm>
            <a:off x="5055900"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5055900" y="1298448"/>
            <a:ext cx="2079894" cy="64008"/>
          </a:xfrm>
          <a:prstGeom prst="rect">
            <a:avLst/>
          </a:prstGeom>
          <a:solidFill>
            <a:srgbClr val="800020"/>
          </a:solidFill>
          <a:ln w="12700">
            <a:solidFill>
              <a:srgbClr val="333333"/>
            </a:solidFill>
            <a:prstDash val="solid"/>
          </a:ln>
        </p:spPr>
      </p:sp>
      <p:sp>
        <p:nvSpPr>
          <p:cNvPr id="19" name="Text 17"/>
          <p:cNvSpPr/>
          <p:nvPr/>
        </p:nvSpPr>
        <p:spPr>
          <a:xfrm>
            <a:off x="5183916"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3</a:t>
            </a:r>
            <a:endParaRPr lang="en-US" sz="2000" dirty="0"/>
          </a:p>
        </p:txBody>
      </p:sp>
      <p:sp>
        <p:nvSpPr>
          <p:cNvPr id="20" name="Text 18"/>
          <p:cNvSpPr/>
          <p:nvPr/>
        </p:nvSpPr>
        <p:spPr>
          <a:xfrm>
            <a:off x="5183916"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Corridor flight</a:t>
            </a:r>
            <a:endParaRPr lang="en-US" sz="1600" dirty="0"/>
          </a:p>
        </p:txBody>
      </p:sp>
      <p:sp>
        <p:nvSpPr>
          <p:cNvPr id="21" name="Text 19"/>
          <p:cNvSpPr/>
          <p:nvPr/>
        </p:nvSpPr>
        <p:spPr>
          <a:xfrm>
            <a:off x="5183916"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follows the corridor to the pad</a:t>
            </a:r>
            <a:endParaRPr lang="en-US" sz="1400" dirty="0"/>
          </a:p>
        </p:txBody>
      </p:sp>
      <p:sp>
        <p:nvSpPr>
          <p:cNvPr id="22" name="Shape 20"/>
          <p:cNvSpPr/>
          <p:nvPr/>
        </p:nvSpPr>
        <p:spPr>
          <a:xfrm>
            <a:off x="7300387"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Shape 21"/>
          <p:cNvSpPr/>
          <p:nvPr/>
        </p:nvSpPr>
        <p:spPr>
          <a:xfrm>
            <a:off x="7300387" y="1298448"/>
            <a:ext cx="2079894" cy="64008"/>
          </a:xfrm>
          <a:prstGeom prst="rect">
            <a:avLst/>
          </a:prstGeom>
          <a:solidFill>
            <a:srgbClr val="800020"/>
          </a:solidFill>
          <a:ln w="12700">
            <a:solidFill>
              <a:srgbClr val="333333"/>
            </a:solidFill>
            <a:prstDash val="solid"/>
          </a:ln>
        </p:spPr>
      </p:sp>
      <p:sp>
        <p:nvSpPr>
          <p:cNvPr id="24" name="Text 22"/>
          <p:cNvSpPr/>
          <p:nvPr/>
        </p:nvSpPr>
        <p:spPr>
          <a:xfrm>
            <a:off x="7428403"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4</a:t>
            </a:r>
            <a:endParaRPr lang="en-US" sz="2000" dirty="0"/>
          </a:p>
        </p:txBody>
      </p:sp>
      <p:sp>
        <p:nvSpPr>
          <p:cNvPr id="25" name="Text 23"/>
          <p:cNvSpPr/>
          <p:nvPr/>
        </p:nvSpPr>
        <p:spPr>
          <a:xfrm>
            <a:off x="7428403"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Landing</a:t>
            </a:r>
            <a:endParaRPr lang="en-US" sz="1600" dirty="0"/>
          </a:p>
        </p:txBody>
      </p:sp>
      <p:sp>
        <p:nvSpPr>
          <p:cNvPr id="26" name="Text 24"/>
          <p:cNvSpPr/>
          <p:nvPr/>
        </p:nvSpPr>
        <p:spPr>
          <a:xfrm>
            <a:off x="7428403"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Pad occupancy and descent are checked</a:t>
            </a:r>
            <a:endParaRPr lang="en-US" sz="1400" dirty="0"/>
          </a:p>
        </p:txBody>
      </p:sp>
      <p:sp>
        <p:nvSpPr>
          <p:cNvPr id="27" name="Shape 25"/>
          <p:cNvSpPr/>
          <p:nvPr/>
        </p:nvSpPr>
        <p:spPr>
          <a:xfrm>
            <a:off x="9544873" y="1298448"/>
            <a:ext cx="2079894" cy="1572768"/>
          </a:xfrm>
          <a:prstGeom prst="roundRect">
            <a:avLst>
              <a:gd name="adj" fmla="val 2907"/>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9544873" y="1298448"/>
            <a:ext cx="2079894" cy="64008"/>
          </a:xfrm>
          <a:prstGeom prst="rect">
            <a:avLst/>
          </a:prstGeom>
          <a:solidFill>
            <a:srgbClr val="800020"/>
          </a:solidFill>
          <a:ln w="12700">
            <a:solidFill>
              <a:srgbClr val="333333"/>
            </a:solidFill>
            <a:prstDash val="solid"/>
          </a:ln>
        </p:spPr>
      </p:sp>
      <p:sp>
        <p:nvSpPr>
          <p:cNvPr id="29" name="Text 27"/>
          <p:cNvSpPr/>
          <p:nvPr/>
        </p:nvSpPr>
        <p:spPr>
          <a:xfrm>
            <a:off x="9672889" y="1481328"/>
            <a:ext cx="365760" cy="292608"/>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5</a:t>
            </a:r>
            <a:endParaRPr lang="en-US" sz="2000" dirty="0"/>
          </a:p>
        </p:txBody>
      </p:sp>
      <p:sp>
        <p:nvSpPr>
          <p:cNvPr id="30" name="Text 28"/>
          <p:cNvSpPr/>
          <p:nvPr/>
        </p:nvSpPr>
        <p:spPr>
          <a:xfrm>
            <a:off x="9672889" y="1792224"/>
            <a:ext cx="182386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Return</a:t>
            </a:r>
            <a:endParaRPr lang="en-US" sz="1600" dirty="0"/>
          </a:p>
        </p:txBody>
      </p:sp>
      <p:sp>
        <p:nvSpPr>
          <p:cNvPr id="31" name="Text 29"/>
          <p:cNvSpPr/>
          <p:nvPr/>
        </p:nvSpPr>
        <p:spPr>
          <a:xfrm>
            <a:off x="9672889" y="2121408"/>
            <a:ext cx="182386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Aircraft returns to the hub for recharge</a:t>
            </a:r>
            <a:endParaRPr lang="en-US" sz="1400" dirty="0"/>
          </a:p>
        </p:txBody>
      </p:sp>
      <p:sp>
        <p:nvSpPr>
          <p:cNvPr id="32" name="Shape 30"/>
          <p:cNvSpPr/>
          <p:nvPr/>
        </p:nvSpPr>
        <p:spPr>
          <a:xfrm>
            <a:off x="566928" y="3072384"/>
            <a:ext cx="5577840" cy="1481328"/>
          </a:xfrm>
          <a:prstGeom prst="roundRect">
            <a:avLst>
              <a:gd name="adj" fmla="val 3086"/>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33" name="Text 31"/>
          <p:cNvSpPr/>
          <p:nvPr/>
        </p:nvSpPr>
        <p:spPr>
          <a:xfrm>
            <a:off x="694944" y="3163824"/>
            <a:ext cx="5321808" cy="274320"/>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The product is a promise</a:t>
            </a:r>
            <a:endParaRPr lang="en-US" sz="1600" dirty="0"/>
          </a:p>
        </p:txBody>
      </p:sp>
      <p:sp>
        <p:nvSpPr>
          <p:cNvPr id="34" name="Text 32"/>
          <p:cNvSpPr/>
          <p:nvPr/>
        </p:nvSpPr>
        <p:spPr>
          <a:xfrm>
            <a:off x="713232" y="3493008"/>
            <a:ext cx="5285232" cy="95097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Fifteen minutes, not sixty</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price of a fixed corridor</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pad the customer already trusts</a:t>
            </a:r>
            <a:endParaRPr lang="en-US" sz="1400" dirty="0"/>
          </a:p>
        </p:txBody>
      </p:sp>
      <p:sp>
        <p:nvSpPr>
          <p:cNvPr id="35" name="Shape 33"/>
          <p:cNvSpPr/>
          <p:nvPr/>
        </p:nvSpPr>
        <p:spPr>
          <a:xfrm>
            <a:off x="6419088" y="3072384"/>
            <a:ext cx="5202936" cy="1481328"/>
          </a:xfrm>
          <a:prstGeom prst="roundRect">
            <a:avLst>
              <a:gd name="adj" fmla="val 3086"/>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36" name="Text 34"/>
          <p:cNvSpPr/>
          <p:nvPr/>
        </p:nvSpPr>
        <p:spPr>
          <a:xfrm>
            <a:off x="6547104" y="3163824"/>
            <a:ext cx="4946904" cy="274320"/>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What the customer gets</a:t>
            </a:r>
            <a:endParaRPr lang="en-US" sz="1600" dirty="0"/>
          </a:p>
        </p:txBody>
      </p:sp>
      <p:sp>
        <p:nvSpPr>
          <p:cNvPr id="37" name="Text 35"/>
          <p:cNvSpPr/>
          <p:nvPr/>
        </p:nvSpPr>
        <p:spPr>
          <a:xfrm>
            <a:off x="6565392" y="3493008"/>
            <a:ext cx="4910328" cy="95097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Predictable arrival time</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No rider traffic exposure</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Food that arrives hot</a:t>
            </a:r>
            <a:endParaRPr lang="en-US" sz="1400" dirty="0"/>
          </a:p>
        </p:txBody>
      </p:sp>
      <p:sp>
        <p:nvSpPr>
          <p:cNvPr id="38" name="Text 36"/>
          <p:cNvSpPr/>
          <p:nvPr/>
        </p:nvSpPr>
        <p:spPr>
          <a:xfrm>
            <a:off x="566928" y="4736592"/>
            <a:ext cx="11057839"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We are not competing with Pathao on convenience. We are competing on a promise they cannot make: a delivery time.</a:t>
            </a:r>
            <a:endParaRPr lang="en-US" sz="1800" dirty="0"/>
          </a:p>
        </p:txBody>
      </p:sp>
      <p:sp>
        <p:nvSpPr>
          <p:cNvPr id="39" name="Text 37"/>
          <p:cNvSpPr/>
          <p:nvPr/>
        </p:nvSpPr>
        <p:spPr>
          <a:xfrm>
            <a:off x="566928" y="5230368"/>
            <a:ext cx="11057839" cy="457200"/>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AeroSetu uses vision to fly the corridor. A reasoning model is called only when a decision is hard, which is what makes the promise affordable.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The Problem and Market We Enter</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Rajshahi first, on purpose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We are not avoiding Dhaka. We are sequencing it.</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BBS 2022 census, IQAir 16 March 2025, The Daily Star and Rajshahi City Corporation reporting on the Tk 490 crore flyover projects, September 2026</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5</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pic>
        <p:nvPicPr>
          <p:cNvPr id="8" name="Image 0" descr="/Users/nafiskabbo/development/presentation-hum/media/img/rajshahi_city.jpg">    </p:cNvPr>
          <p:cNvPicPr>
            <a:picLocks noChangeAspect="1"/>
          </p:cNvPicPr>
          <p:nvPr/>
        </p:nvPicPr>
        <p:blipFill>
          <a:blip r:embed="rId1"/>
          <a:srcRect l="0" r="0" t="0" b="0"/>
          <a:stretch/>
        </p:blipFill>
        <p:spPr>
          <a:xfrm>
            <a:off x="566928" y="1298448"/>
            <a:ext cx="3950208" cy="2194560"/>
          </a:xfrm>
          <a:prstGeom prst="rect">
            <a:avLst/>
          </a:prstGeom>
        </p:spPr>
      </p:pic>
      <p:sp>
        <p:nvSpPr>
          <p:cNvPr id="9" name="Text 6"/>
          <p:cNvSpPr/>
          <p:nvPr/>
        </p:nvSpPr>
        <p:spPr>
          <a:xfrm>
            <a:off x="566928" y="3529584"/>
            <a:ext cx="3950208" cy="384048"/>
          </a:xfrm>
          <a:prstGeom prst="rect">
            <a:avLst/>
          </a:prstGeom>
          <a:noFill/>
          <a:ln/>
        </p:spPr>
        <p:txBody>
          <a:bodyPr wrap="square" lIns="0" tIns="0" rIns="0" bIns="0" rtlCol="0" anchor="t"/>
          <a:lstStyle/>
          <a:p>
            <a:pPr indent="0" marL="0">
              <a:lnSpc>
                <a:spcPts val="1500"/>
              </a:lnSpc>
              <a:buNone/>
            </a:pPr>
            <a:r>
              <a:rPr lang="en-US" sz="1200" i="1" dirty="0">
                <a:solidFill>
                  <a:srgbClr val="64748B"/>
                </a:solidFill>
                <a:latin typeface="Calibri" pitchFamily="34" charset="0"/>
                <a:ea typeface="Calibri" pitchFamily="34" charset="-122"/>
                <a:cs typeface="Calibri" pitchFamily="34" charset="-120"/>
              </a:rPr>
              <a:t>Rajshahi city skyline. CC BY-SA 4.0, Wikimedia Commons</a:t>
            </a:r>
            <a:endParaRPr lang="en-US" sz="1200" dirty="0"/>
          </a:p>
        </p:txBody>
      </p:sp>
      <p:sp>
        <p:nvSpPr>
          <p:cNvPr id="10" name="Shape 7"/>
          <p:cNvSpPr/>
          <p:nvPr/>
        </p:nvSpPr>
        <p:spPr>
          <a:xfrm>
            <a:off x="4791456" y="1298448"/>
            <a:ext cx="6830568" cy="2542032"/>
          </a:xfrm>
          <a:prstGeom prst="roundRect">
            <a:avLst>
              <a:gd name="adj" fmla="val 1799"/>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1" name="Text 8"/>
          <p:cNvSpPr/>
          <p:nvPr/>
        </p:nvSpPr>
        <p:spPr>
          <a:xfrm>
            <a:off x="5010912" y="1463040"/>
            <a:ext cx="6400800" cy="329184"/>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The honest weakness, and why we still start here</a:t>
            </a:r>
            <a:endParaRPr lang="en-US" sz="1600" dirty="0"/>
          </a:p>
        </p:txBody>
      </p:sp>
      <p:sp>
        <p:nvSpPr>
          <p:cNvPr id="12" name="Text 9"/>
          <p:cNvSpPr/>
          <p:nvPr/>
        </p:nvSpPr>
        <p:spPr>
          <a:xfrm>
            <a:off x="5010912" y="1883664"/>
            <a:ext cx="640080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Less dense than Dhaka, so corridors run longer against our 6 km range</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That needs a higher density of pad sites per corridor, which is capital we spend early</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RCC will ask hard questions about airspace over the university area</a:t>
            </a:r>
            <a:endParaRPr lang="en-US" sz="1400" dirty="0"/>
          </a:p>
        </p:txBody>
      </p:sp>
      <p:sp>
        <p:nvSpPr>
          <p:cNvPr id="13" name="Shape 10"/>
          <p:cNvSpPr/>
          <p:nvPr/>
        </p:nvSpPr>
        <p:spPr>
          <a:xfrm>
            <a:off x="566928" y="3986784"/>
            <a:ext cx="255872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4" name="Text 11"/>
          <p:cNvSpPr/>
          <p:nvPr/>
        </p:nvSpPr>
        <p:spPr>
          <a:xfrm>
            <a:off x="713232" y="4114800"/>
            <a:ext cx="2266112" cy="457200"/>
          </a:xfrm>
          <a:prstGeom prst="rect">
            <a:avLst/>
          </a:prstGeom>
          <a:noFill/>
          <a:ln/>
        </p:spPr>
        <p:txBody>
          <a:bodyPr wrap="square" lIns="0" tIns="0" rIns="0" bIns="0" rtlCol="0" anchor="ctr"/>
          <a:lstStyle/>
          <a:p>
            <a:pPr indent="0" marL="0">
              <a:buNone/>
            </a:pPr>
            <a:r>
              <a:rPr lang="en-US" sz="2600" b="1" dirty="0">
                <a:solidFill>
                  <a:srgbClr val="800020"/>
                </a:solidFill>
                <a:latin typeface="Century Schoolbook" pitchFamily="34" charset="0"/>
                <a:ea typeface="Century Schoolbook" pitchFamily="34" charset="-122"/>
                <a:cs typeface="Century Schoolbook" pitchFamily="34" charset="-120"/>
              </a:rPr>
              <a:t>553,288</a:t>
            </a:r>
            <a:endParaRPr lang="en-US" sz="2600" dirty="0"/>
          </a:p>
        </p:txBody>
      </p:sp>
      <p:sp>
        <p:nvSpPr>
          <p:cNvPr id="15" name="Text 12"/>
          <p:cNvSpPr/>
          <p:nvPr/>
        </p:nvSpPr>
        <p:spPr>
          <a:xfrm>
            <a:off x="713232"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People in the city at the 2022 census</a:t>
            </a:r>
            <a:endParaRPr lang="en-US" sz="1400" dirty="0"/>
          </a:p>
        </p:txBody>
      </p:sp>
      <p:sp>
        <p:nvSpPr>
          <p:cNvPr id="16" name="Shape 13"/>
          <p:cNvSpPr/>
          <p:nvPr/>
        </p:nvSpPr>
        <p:spPr>
          <a:xfrm>
            <a:off x="3399968" y="3986784"/>
            <a:ext cx="255872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7" name="Text 14"/>
          <p:cNvSpPr/>
          <p:nvPr/>
        </p:nvSpPr>
        <p:spPr>
          <a:xfrm>
            <a:off x="3546272" y="4114800"/>
            <a:ext cx="2266112" cy="457200"/>
          </a:xfrm>
          <a:prstGeom prst="rect">
            <a:avLst/>
          </a:prstGeom>
          <a:noFill/>
          <a:ln/>
        </p:spPr>
        <p:txBody>
          <a:bodyPr wrap="square" lIns="0" tIns="0" rIns="0" bIns="0" rtlCol="0" anchor="ctr"/>
          <a:lstStyle/>
          <a:p>
            <a:pPr indent="0" marL="0">
              <a:buNone/>
            </a:pPr>
            <a:r>
              <a:rPr lang="en-US" sz="2600" b="1" dirty="0">
                <a:solidFill>
                  <a:srgbClr val="800020"/>
                </a:solidFill>
                <a:latin typeface="Century Schoolbook" pitchFamily="34" charset="0"/>
                <a:ea typeface="Century Schoolbook" pitchFamily="34" charset="-122"/>
                <a:cs typeface="Century Schoolbook" pitchFamily="34" charset="-120"/>
              </a:rPr>
              <a:t>Tk 490 cr</a:t>
            </a:r>
            <a:endParaRPr lang="en-US" sz="2600" dirty="0"/>
          </a:p>
        </p:txBody>
      </p:sp>
      <p:sp>
        <p:nvSpPr>
          <p:cNvPr id="18" name="Text 15"/>
          <p:cNvSpPr/>
          <p:nvPr/>
        </p:nvSpPr>
        <p:spPr>
          <a:xfrm>
            <a:off x="3546272"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Four flyovers started 2023, all unfinished</a:t>
            </a:r>
            <a:endParaRPr lang="en-US" sz="1400" dirty="0"/>
          </a:p>
        </p:txBody>
      </p:sp>
      <p:sp>
        <p:nvSpPr>
          <p:cNvPr id="19" name="Shape 16"/>
          <p:cNvSpPr/>
          <p:nvPr/>
        </p:nvSpPr>
        <p:spPr>
          <a:xfrm>
            <a:off x="6233008" y="3986784"/>
            <a:ext cx="2558720" cy="1371600"/>
          </a:xfrm>
          <a:prstGeom prst="roundRect">
            <a:avLst>
              <a:gd name="adj" fmla="val 3333"/>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7"/>
          <p:cNvSpPr/>
          <p:nvPr/>
        </p:nvSpPr>
        <p:spPr>
          <a:xfrm>
            <a:off x="6379312" y="4114800"/>
            <a:ext cx="2266112" cy="457200"/>
          </a:xfrm>
          <a:prstGeom prst="rect">
            <a:avLst/>
          </a:prstGeom>
          <a:noFill/>
          <a:ln/>
        </p:spPr>
        <p:txBody>
          <a:bodyPr wrap="square" lIns="0" tIns="0" rIns="0" bIns="0" rtlCol="0" anchor="ctr"/>
          <a:lstStyle/>
          <a:p>
            <a:pPr indent="0" marL="0">
              <a:buNone/>
            </a:pPr>
            <a:r>
              <a:rPr lang="en-US" sz="2600" b="1" dirty="0">
                <a:solidFill>
                  <a:srgbClr val="B45309"/>
                </a:solidFill>
                <a:latin typeface="Century Schoolbook" pitchFamily="34" charset="0"/>
                <a:ea typeface="Century Schoolbook" pitchFamily="34" charset="-122"/>
                <a:cs typeface="Century Schoolbook" pitchFamily="34" charset="-120"/>
              </a:rPr>
              <a:t>162</a:t>
            </a:r>
            <a:endParaRPr lang="en-US" sz="2600" dirty="0"/>
          </a:p>
        </p:txBody>
      </p:sp>
      <p:sp>
        <p:nvSpPr>
          <p:cNvPr id="21" name="Text 18"/>
          <p:cNvSpPr/>
          <p:nvPr/>
        </p:nvSpPr>
        <p:spPr>
          <a:xfrm>
            <a:off x="6379312"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 quality index, worst in Bangladesh that day</a:t>
            </a:r>
            <a:endParaRPr lang="en-US" sz="1400" dirty="0"/>
          </a:p>
        </p:txBody>
      </p:sp>
      <p:sp>
        <p:nvSpPr>
          <p:cNvPr id="22" name="Shape 19"/>
          <p:cNvSpPr/>
          <p:nvPr/>
        </p:nvSpPr>
        <p:spPr>
          <a:xfrm>
            <a:off x="9066047" y="3986784"/>
            <a:ext cx="255872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Text 20"/>
          <p:cNvSpPr/>
          <p:nvPr/>
        </p:nvSpPr>
        <p:spPr>
          <a:xfrm>
            <a:off x="9212351" y="4114800"/>
            <a:ext cx="2266112" cy="457200"/>
          </a:xfrm>
          <a:prstGeom prst="rect">
            <a:avLst/>
          </a:prstGeom>
          <a:noFill/>
          <a:ln/>
        </p:spPr>
        <p:txBody>
          <a:bodyPr wrap="square" lIns="0" tIns="0" rIns="0" bIns="0" rtlCol="0" anchor="ctr"/>
          <a:lstStyle/>
          <a:p>
            <a:pPr indent="0" marL="0">
              <a:buNone/>
            </a:pPr>
            <a:r>
              <a:rPr lang="en-US" sz="2600" b="1" dirty="0">
                <a:solidFill>
                  <a:srgbClr val="800020"/>
                </a:solidFill>
                <a:latin typeface="Century Schoolbook" pitchFamily="34" charset="0"/>
                <a:ea typeface="Century Schoolbook" pitchFamily="34" charset="-122"/>
                <a:cs typeface="Century Schoolbook" pitchFamily="34" charset="-120"/>
              </a:rPr>
              <a:t>33%</a:t>
            </a:r>
            <a:endParaRPr lang="en-US" sz="2600" dirty="0"/>
          </a:p>
        </p:txBody>
      </p:sp>
      <p:sp>
        <p:nvSpPr>
          <p:cNvPr id="24" name="Text 21"/>
          <p:cNvSpPr/>
          <p:nvPr/>
        </p:nvSpPr>
        <p:spPr>
          <a:xfrm>
            <a:off x="9212351" y="4608576"/>
            <a:ext cx="2266112" cy="65836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Urbanisation rate, growing about 8 percent a year</a:t>
            </a:r>
            <a:endParaRPr lang="en-US" sz="1400" dirty="0"/>
          </a:p>
        </p:txBody>
      </p:sp>
      <p:sp>
        <p:nvSpPr>
          <p:cNvPr id="25" name="Text 22"/>
          <p:cNvSpPr/>
          <p:nvPr/>
        </p:nvSpPr>
        <p:spPr>
          <a:xfrm>
            <a:off x="566928" y="5468112"/>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Roads cannot keep up. A smaller regulator is a smaller bet. Dhaka is the prize, not the starting line.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 The Problem and Market We Enter</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road tax Dhaka already pays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This is the market, and it is not a forecast</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Dhaka Metropolitan Development Planning Committee area study, General Motors Bangladesh Study 2017, TomTom and Uber Movement indices, The Business Standard on the 2024 corridor and cabling works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6</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pic>
        <p:nvPicPr>
          <p:cNvPr id="8" name="Image 0" descr="/Users/nafiskabbo/development/presentation-hum/media/motion/dhaka_fly.jpg">    </p:cNvPr>
          <p:cNvPicPr>
            <a:picLocks noChangeAspect="1"/>
          </p:cNvPicPr>
          <p:nvPr/>
        </p:nvPicPr>
        <p:blipFill>
          <a:blip r:embed="rId1"/>
          <a:srcRect l="0" r="0" t="0" b="0"/>
          <a:stretch/>
        </p:blipFill>
        <p:spPr>
          <a:xfrm>
            <a:off x="566928" y="1298448"/>
            <a:ext cx="5029200" cy="283464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66928" y="1298448"/>
            <a:ext cx="5029200" cy="2834640"/>
          </a:xfrm>
          <a:prstGeom prst="rect">
            <a:avLst/>
          </a:prstGeom>
        </p:spPr>
      </p:pic>
      <p:sp>
        <p:nvSpPr>
          <p:cNvPr id="10" name="Shape 6"/>
          <p:cNvSpPr/>
          <p:nvPr/>
        </p:nvSpPr>
        <p:spPr>
          <a:xfrm>
            <a:off x="5870448" y="1298448"/>
            <a:ext cx="2740000" cy="1316736"/>
          </a:xfrm>
          <a:prstGeom prst="roundRect">
            <a:avLst>
              <a:gd name="adj" fmla="val 3472"/>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1" name="Text 7"/>
          <p:cNvSpPr/>
          <p:nvPr/>
        </p:nvSpPr>
        <p:spPr>
          <a:xfrm>
            <a:off x="6016752" y="1444752"/>
            <a:ext cx="2447392" cy="457200"/>
          </a:xfrm>
          <a:prstGeom prst="rect">
            <a:avLst/>
          </a:prstGeom>
          <a:noFill/>
          <a:ln/>
        </p:spPr>
        <p:txBody>
          <a:bodyPr wrap="square" lIns="0" tIns="0" rIns="0" bIns="0" rtlCol="0" anchor="ctr"/>
          <a:lstStyle/>
          <a:p>
            <a:pPr indent="0" marL="0">
              <a:buNone/>
            </a:pPr>
            <a:r>
              <a:rPr lang="en-US" sz="2700" b="1" dirty="0">
                <a:solidFill>
                  <a:srgbClr val="800020"/>
                </a:solidFill>
                <a:latin typeface="Century Schoolbook" pitchFamily="34" charset="0"/>
                <a:ea typeface="Century Schoolbook" pitchFamily="34" charset="-122"/>
                <a:cs typeface="Century Schoolbook" pitchFamily="34" charset="-120"/>
              </a:rPr>
              <a:t>74 min</a:t>
            </a:r>
            <a:endParaRPr lang="en-US" sz="2700" dirty="0"/>
          </a:p>
        </p:txBody>
      </p:sp>
      <p:sp>
        <p:nvSpPr>
          <p:cNvPr id="12" name="Text 8"/>
          <p:cNvSpPr/>
          <p:nvPr/>
        </p:nvSpPr>
        <p:spPr>
          <a:xfrm>
            <a:off x="6016752" y="1938528"/>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Average Dhaka road journey for a trip a drone flies in six</a:t>
            </a:r>
            <a:endParaRPr lang="en-US" sz="1400" dirty="0"/>
          </a:p>
        </p:txBody>
      </p:sp>
      <p:sp>
        <p:nvSpPr>
          <p:cNvPr id="13" name="Shape 9"/>
          <p:cNvSpPr/>
          <p:nvPr/>
        </p:nvSpPr>
        <p:spPr>
          <a:xfrm>
            <a:off x="8884768" y="1298448"/>
            <a:ext cx="2740000" cy="1316736"/>
          </a:xfrm>
          <a:prstGeom prst="roundRect">
            <a:avLst>
              <a:gd name="adj" fmla="val 3472"/>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4" name="Text 10"/>
          <p:cNvSpPr/>
          <p:nvPr/>
        </p:nvSpPr>
        <p:spPr>
          <a:xfrm>
            <a:off x="9031072" y="1444752"/>
            <a:ext cx="2447392" cy="457200"/>
          </a:xfrm>
          <a:prstGeom prst="rect">
            <a:avLst/>
          </a:prstGeom>
          <a:noFill/>
          <a:ln/>
        </p:spPr>
        <p:txBody>
          <a:bodyPr wrap="square" lIns="0" tIns="0" rIns="0" bIns="0" rtlCol="0" anchor="ctr"/>
          <a:lstStyle/>
          <a:p>
            <a:pPr indent="0" marL="0">
              <a:buNone/>
            </a:pPr>
            <a:r>
              <a:rPr lang="en-US" sz="2700" b="1" dirty="0">
                <a:solidFill>
                  <a:srgbClr val="800020"/>
                </a:solidFill>
                <a:latin typeface="Century Schoolbook" pitchFamily="34" charset="0"/>
                <a:ea typeface="Century Schoolbook" pitchFamily="34" charset="-122"/>
                <a:cs typeface="Century Schoolbook" pitchFamily="34" charset="-120"/>
              </a:rPr>
              <a:t>1.4 M</a:t>
            </a:r>
            <a:endParaRPr lang="en-US" sz="2700" dirty="0"/>
          </a:p>
        </p:txBody>
      </p:sp>
      <p:sp>
        <p:nvSpPr>
          <p:cNvPr id="15" name="Text 11"/>
          <p:cNvSpPr/>
          <p:nvPr/>
        </p:nvSpPr>
        <p:spPr>
          <a:xfrm>
            <a:off x="9031072" y="1938528"/>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Trips a day, and roughly a fifth of them now take over an hour</a:t>
            </a:r>
            <a:endParaRPr lang="en-US" sz="1400" dirty="0"/>
          </a:p>
        </p:txBody>
      </p:sp>
      <p:sp>
        <p:nvSpPr>
          <p:cNvPr id="16" name="Shape 12"/>
          <p:cNvSpPr/>
          <p:nvPr/>
        </p:nvSpPr>
        <p:spPr>
          <a:xfrm>
            <a:off x="5870448" y="2779776"/>
            <a:ext cx="2740000" cy="1316736"/>
          </a:xfrm>
          <a:prstGeom prst="roundRect">
            <a:avLst>
              <a:gd name="adj" fmla="val 3472"/>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7" name="Text 13"/>
          <p:cNvSpPr/>
          <p:nvPr/>
        </p:nvSpPr>
        <p:spPr>
          <a:xfrm>
            <a:off x="6016752" y="2926080"/>
            <a:ext cx="2447392" cy="457200"/>
          </a:xfrm>
          <a:prstGeom prst="rect">
            <a:avLst/>
          </a:prstGeom>
          <a:noFill/>
          <a:ln/>
        </p:spPr>
        <p:txBody>
          <a:bodyPr wrap="square" lIns="0" tIns="0" rIns="0" bIns="0" rtlCol="0" anchor="ctr"/>
          <a:lstStyle/>
          <a:p>
            <a:pPr indent="0" marL="0">
              <a:buNone/>
            </a:pPr>
            <a:r>
              <a:rPr lang="en-US" sz="2700" b="1" dirty="0">
                <a:solidFill>
                  <a:srgbClr val="B45309"/>
                </a:solidFill>
                <a:latin typeface="Century Schoolbook" pitchFamily="34" charset="0"/>
                <a:ea typeface="Century Schoolbook" pitchFamily="34" charset="-122"/>
                <a:cs typeface="Century Schoolbook" pitchFamily="34" charset="-120"/>
              </a:rPr>
              <a:t>4 hours</a:t>
            </a:r>
            <a:endParaRPr lang="en-US" sz="2700" dirty="0"/>
          </a:p>
        </p:txBody>
      </p:sp>
      <p:sp>
        <p:nvSpPr>
          <p:cNvPr id="18" name="Text 14"/>
          <p:cNvSpPr/>
          <p:nvPr/>
        </p:nvSpPr>
        <p:spPr>
          <a:xfrm>
            <a:off x="6016752" y="3419856"/>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Average time a Dhaka commuter loses each day</a:t>
            </a:r>
            <a:endParaRPr lang="en-US" sz="1400" dirty="0"/>
          </a:p>
        </p:txBody>
      </p:sp>
      <p:sp>
        <p:nvSpPr>
          <p:cNvPr id="19" name="Shape 15"/>
          <p:cNvSpPr/>
          <p:nvPr/>
        </p:nvSpPr>
        <p:spPr>
          <a:xfrm>
            <a:off x="8884768" y="2779776"/>
            <a:ext cx="2740000" cy="1316736"/>
          </a:xfrm>
          <a:prstGeom prst="roundRect">
            <a:avLst>
              <a:gd name="adj" fmla="val 3472"/>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6"/>
          <p:cNvSpPr/>
          <p:nvPr/>
        </p:nvSpPr>
        <p:spPr>
          <a:xfrm>
            <a:off x="9031072" y="2926080"/>
            <a:ext cx="2447392" cy="457200"/>
          </a:xfrm>
          <a:prstGeom prst="rect">
            <a:avLst/>
          </a:prstGeom>
          <a:noFill/>
          <a:ln/>
        </p:spPr>
        <p:txBody>
          <a:bodyPr wrap="square" lIns="0" tIns="0" rIns="0" bIns="0" rtlCol="0" anchor="ctr"/>
          <a:lstStyle/>
          <a:p>
            <a:pPr indent="0" marL="0">
              <a:buNone/>
            </a:pPr>
            <a:r>
              <a:rPr lang="en-US" sz="2700" b="1" dirty="0">
                <a:solidFill>
                  <a:srgbClr val="B45309"/>
                </a:solidFill>
                <a:latin typeface="Century Schoolbook" pitchFamily="34" charset="0"/>
                <a:ea typeface="Century Schoolbook" pitchFamily="34" charset="-122"/>
                <a:cs typeface="Century Schoolbook" pitchFamily="34" charset="-120"/>
              </a:rPr>
              <a:t>0.6%</a:t>
            </a:r>
            <a:endParaRPr lang="en-US" sz="2700" dirty="0"/>
          </a:p>
        </p:txBody>
      </p:sp>
      <p:sp>
        <p:nvSpPr>
          <p:cNvPr id="21" name="Text 17"/>
          <p:cNvSpPr/>
          <p:nvPr/>
        </p:nvSpPr>
        <p:spPr>
          <a:xfrm>
            <a:off x="9031072" y="3419856"/>
            <a:ext cx="2447392" cy="5486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Rise in mean trip time since 2016, because the corridor space is taken</a:t>
            </a:r>
            <a:endParaRPr lang="en-US" sz="1400" dirty="0"/>
          </a:p>
        </p:txBody>
      </p:sp>
      <p:sp>
        <p:nvSpPr>
          <p:cNvPr id="22" name="Text 18"/>
          <p:cNvSpPr/>
          <p:nvPr/>
        </p:nvSpPr>
        <p:spPr>
          <a:xfrm>
            <a:off x="566928" y="4626864"/>
            <a:ext cx="11057839"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This is not a market we have to create. It is a market that already exists, priced every day, in lost time.</a:t>
            </a:r>
            <a:endParaRPr lang="en-US" sz="1800" dirty="0"/>
          </a:p>
        </p:txBody>
      </p:sp>
      <p:sp>
        <p:nvSpPr>
          <p:cNvPr id="23" name="Shape 19"/>
          <p:cNvSpPr/>
          <p:nvPr/>
        </p:nvSpPr>
        <p:spPr>
          <a:xfrm>
            <a:off x="566928" y="5120640"/>
            <a:ext cx="11057839" cy="603504"/>
          </a:xfrm>
          <a:prstGeom prst="roundRect">
            <a:avLst>
              <a:gd name="adj" fmla="val 7576"/>
            </a:avLst>
          </a:prstGeom>
          <a:solidFill>
            <a:srgbClr val="FFF1F2"/>
          </a:solidFill>
          <a:ln w="12700">
            <a:solidFill>
              <a:srgbClr val="FDE8EA"/>
            </a:solidFill>
            <a:prstDash val="solid"/>
          </a:ln>
        </p:spPr>
      </p:sp>
      <p:sp>
        <p:nvSpPr>
          <p:cNvPr id="24" name="Text 20"/>
          <p:cNvSpPr/>
          <p:nvPr/>
        </p:nvSpPr>
        <p:spPr>
          <a:xfrm>
            <a:off x="786384" y="5120640"/>
            <a:ext cx="10618927" cy="603504"/>
          </a:xfrm>
          <a:prstGeom prst="rect">
            <a:avLst/>
          </a:prstGeom>
          <a:noFill/>
          <a:ln/>
        </p:spPr>
        <p:txBody>
          <a:bodyPr wrap="square" lIns="0" tIns="0" rIns="0" bIns="0" rtlCol="0" anchor="ctr"/>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And Rajshahi pays the same tax in a smaller city: four unfinished flyovers, about 63 percent of traffic commercial, and motorised traffic growing roughly 8.5 percent a year.</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Value Proposition and Problem-Solution Fit</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Value Proposition Canvas</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One claim has to survive contact with a competitor: the fixed window.</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7</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2. Value Proposition and Problem-Solution Fit</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Value Proposition Canvas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Nine blocks, one claim</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8</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3602736" cy="1298448"/>
          </a:xfrm>
          <a:prstGeom prst="roundRect">
            <a:avLst>
              <a:gd name="adj" fmla="val 3521"/>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Text 6"/>
          <p:cNvSpPr/>
          <p:nvPr/>
        </p:nvSpPr>
        <p:spPr>
          <a:xfrm>
            <a:off x="713232" y="1380744"/>
            <a:ext cx="3310128" cy="274320"/>
          </a:xfrm>
          <a:prstGeom prst="rect">
            <a:avLst/>
          </a:prstGeom>
          <a:noFill/>
          <a:ln/>
        </p:spPr>
        <p:txBody>
          <a:bodyPr wrap="square" lIns="0" tIns="0" rIns="0" bIns="0" rtlCol="0" anchor="ctr"/>
          <a:lstStyle/>
          <a:p>
            <a:pPr indent="0" marL="0">
              <a:buNone/>
            </a:pPr>
            <a:r>
              <a:rPr lang="en-US" sz="1500" b="1" dirty="0">
                <a:solidFill>
                  <a:srgbClr val="334155"/>
                </a:solidFill>
                <a:latin typeface="Calibri" pitchFamily="34" charset="0"/>
                <a:ea typeface="Calibri" pitchFamily="34" charset="-122"/>
                <a:cs typeface="Calibri" pitchFamily="34" charset="-120"/>
              </a:rPr>
              <a:t>Customer jobs</a:t>
            </a:r>
            <a:endParaRPr lang="en-US" sz="1500" dirty="0"/>
          </a:p>
        </p:txBody>
      </p:sp>
      <p:sp>
        <p:nvSpPr>
          <p:cNvPr id="9" name="Text 7"/>
          <p:cNvSpPr/>
          <p:nvPr/>
        </p:nvSpPr>
        <p:spPr>
          <a:xfrm>
            <a:off x="713232" y="1682496"/>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Get hot food fast</a:t>
            </a:r>
            <a:endParaRPr lang="en-US" sz="1600" dirty="0"/>
          </a:p>
        </p:txBody>
      </p:sp>
      <p:sp>
        <p:nvSpPr>
          <p:cNvPr id="10" name="Text 8"/>
          <p:cNvSpPr/>
          <p:nvPr/>
        </p:nvSpPr>
        <p:spPr>
          <a:xfrm>
            <a:off x="713232" y="2029968"/>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Order arrives by a known time, without sitting in traffic</a:t>
            </a:r>
            <a:endParaRPr lang="en-US" sz="1400" dirty="0"/>
          </a:p>
        </p:txBody>
      </p:sp>
      <p:sp>
        <p:nvSpPr>
          <p:cNvPr id="11" name="Shape 9"/>
          <p:cNvSpPr/>
          <p:nvPr/>
        </p:nvSpPr>
        <p:spPr>
          <a:xfrm>
            <a:off x="566928" y="2688336"/>
            <a:ext cx="3602736" cy="1298448"/>
          </a:xfrm>
          <a:prstGeom prst="roundRect">
            <a:avLst>
              <a:gd name="adj" fmla="val 3521"/>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Text 10"/>
          <p:cNvSpPr/>
          <p:nvPr/>
        </p:nvSpPr>
        <p:spPr>
          <a:xfrm>
            <a:off x="713232" y="2770632"/>
            <a:ext cx="3310128" cy="274320"/>
          </a:xfrm>
          <a:prstGeom prst="rect">
            <a:avLst/>
          </a:prstGeom>
          <a:noFill/>
          <a:ln/>
        </p:spPr>
        <p:txBody>
          <a:bodyPr wrap="square" lIns="0" tIns="0" rIns="0" bIns="0" rtlCol="0" anchor="ctr"/>
          <a:lstStyle/>
          <a:p>
            <a:pPr indent="0" marL="0">
              <a:buNone/>
            </a:pPr>
            <a:r>
              <a:rPr lang="en-US" sz="1500" b="1" dirty="0">
                <a:solidFill>
                  <a:srgbClr val="334155"/>
                </a:solidFill>
                <a:latin typeface="Calibri" pitchFamily="34" charset="0"/>
                <a:ea typeface="Calibri" pitchFamily="34" charset="-122"/>
                <a:cs typeface="Calibri" pitchFamily="34" charset="-120"/>
              </a:rPr>
              <a:t>Pain</a:t>
            </a:r>
            <a:endParaRPr lang="en-US" sz="1500" dirty="0"/>
          </a:p>
        </p:txBody>
      </p:sp>
      <p:sp>
        <p:nvSpPr>
          <p:cNvPr id="13" name="Text 11"/>
          <p:cNvSpPr/>
          <p:nvPr/>
        </p:nvSpPr>
        <p:spPr>
          <a:xfrm>
            <a:off x="713232" y="3072384"/>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Traffic and uncertainty</a:t>
            </a:r>
            <a:endParaRPr lang="en-US" sz="1600" dirty="0"/>
          </a:p>
        </p:txBody>
      </p:sp>
      <p:sp>
        <p:nvSpPr>
          <p:cNvPr id="14" name="Text 12"/>
          <p:cNvSpPr/>
          <p:nvPr/>
        </p:nvSpPr>
        <p:spPr>
          <a:xfrm>
            <a:off x="713232" y="3419856"/>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Jams, a rider who may not show up, no arrival time</a:t>
            </a:r>
            <a:endParaRPr lang="en-US" sz="1400" dirty="0"/>
          </a:p>
        </p:txBody>
      </p:sp>
      <p:sp>
        <p:nvSpPr>
          <p:cNvPr id="15" name="Shape 13"/>
          <p:cNvSpPr/>
          <p:nvPr/>
        </p:nvSpPr>
        <p:spPr>
          <a:xfrm>
            <a:off x="566928" y="4078224"/>
            <a:ext cx="3602736" cy="1298448"/>
          </a:xfrm>
          <a:prstGeom prst="roundRect">
            <a:avLst>
              <a:gd name="adj" fmla="val 3521"/>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Text 14"/>
          <p:cNvSpPr/>
          <p:nvPr/>
        </p:nvSpPr>
        <p:spPr>
          <a:xfrm>
            <a:off x="713232" y="4160520"/>
            <a:ext cx="3310128" cy="274320"/>
          </a:xfrm>
          <a:prstGeom prst="rect">
            <a:avLst/>
          </a:prstGeom>
          <a:noFill/>
          <a:ln/>
        </p:spPr>
        <p:txBody>
          <a:bodyPr wrap="square" lIns="0" tIns="0" rIns="0" bIns="0" rtlCol="0" anchor="ctr"/>
          <a:lstStyle/>
          <a:p>
            <a:pPr indent="0" marL="0">
              <a:buNone/>
            </a:pPr>
            <a:r>
              <a:rPr lang="en-US" sz="1500" b="1" dirty="0">
                <a:solidFill>
                  <a:srgbClr val="334155"/>
                </a:solidFill>
                <a:latin typeface="Calibri" pitchFamily="34" charset="0"/>
                <a:ea typeface="Calibri" pitchFamily="34" charset="-122"/>
                <a:cs typeface="Calibri" pitchFamily="34" charset="-120"/>
              </a:rPr>
              <a:t>Gain</a:t>
            </a:r>
            <a:endParaRPr lang="en-US" sz="1500" dirty="0"/>
          </a:p>
        </p:txBody>
      </p:sp>
      <p:sp>
        <p:nvSpPr>
          <p:cNvPr id="17" name="Text 15"/>
          <p:cNvSpPr/>
          <p:nvPr/>
        </p:nvSpPr>
        <p:spPr>
          <a:xfrm>
            <a:off x="713232" y="4462272"/>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Time back in the day</a:t>
            </a:r>
            <a:endParaRPr lang="en-US" sz="1600" dirty="0"/>
          </a:p>
        </p:txBody>
      </p:sp>
      <p:sp>
        <p:nvSpPr>
          <p:cNvPr id="18" name="Text 16"/>
          <p:cNvSpPr/>
          <p:nvPr/>
        </p:nvSpPr>
        <p:spPr>
          <a:xfrm>
            <a:off x="713232" y="4809744"/>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predictable window instead of an open guess</a:t>
            </a:r>
            <a:endParaRPr lang="en-US" sz="1400" dirty="0"/>
          </a:p>
        </p:txBody>
      </p:sp>
      <p:sp>
        <p:nvSpPr>
          <p:cNvPr id="19" name="Shape 17"/>
          <p:cNvSpPr/>
          <p:nvPr/>
        </p:nvSpPr>
        <p:spPr>
          <a:xfrm>
            <a:off x="4361688" y="1298448"/>
            <a:ext cx="3602736" cy="1298448"/>
          </a:xfrm>
          <a:prstGeom prst="roundRect">
            <a:avLst>
              <a:gd name="adj" fmla="val 352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4507992" y="1380744"/>
            <a:ext cx="3310128" cy="274320"/>
          </a:xfrm>
          <a:prstGeom prst="rect">
            <a:avLst/>
          </a:prstGeom>
          <a:noFill/>
          <a:ln/>
        </p:spPr>
        <p:txBody>
          <a:bodyPr wrap="square" lIns="0" tIns="0" rIns="0" bIns="0" rtlCol="0" anchor="ctr"/>
          <a:lstStyle/>
          <a:p>
            <a:pPr indent="0" marL="0">
              <a:buNone/>
            </a:pPr>
            <a:r>
              <a:rPr lang="en-US" sz="1500" b="1" dirty="0">
                <a:solidFill>
                  <a:srgbClr val="800020"/>
                </a:solidFill>
                <a:latin typeface="Calibri" pitchFamily="34" charset="0"/>
                <a:ea typeface="Calibri" pitchFamily="34" charset="-122"/>
                <a:cs typeface="Calibri" pitchFamily="34" charset="-120"/>
              </a:rPr>
              <a:t>Products</a:t>
            </a:r>
            <a:endParaRPr lang="en-US" sz="1500" dirty="0"/>
          </a:p>
        </p:txBody>
      </p:sp>
      <p:sp>
        <p:nvSpPr>
          <p:cNvPr id="21" name="Text 19"/>
          <p:cNvSpPr/>
          <p:nvPr/>
        </p:nvSpPr>
        <p:spPr>
          <a:xfrm>
            <a:off x="4507992" y="1682496"/>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 corridor delivery</a:t>
            </a:r>
            <a:endParaRPr lang="en-US" sz="1600" dirty="0"/>
          </a:p>
        </p:txBody>
      </p:sp>
      <p:sp>
        <p:nvSpPr>
          <p:cNvPr id="22" name="Text 20"/>
          <p:cNvSpPr/>
          <p:nvPr/>
        </p:nvSpPr>
        <p:spPr>
          <a:xfrm>
            <a:off x="4507992" y="2029968"/>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 from hub to pad, and the landing pad itself</a:t>
            </a:r>
            <a:endParaRPr lang="en-US" sz="1400" dirty="0"/>
          </a:p>
        </p:txBody>
      </p:sp>
      <p:sp>
        <p:nvSpPr>
          <p:cNvPr id="23" name="Shape 21"/>
          <p:cNvSpPr/>
          <p:nvPr/>
        </p:nvSpPr>
        <p:spPr>
          <a:xfrm>
            <a:off x="4361688" y="2688336"/>
            <a:ext cx="3602736" cy="1298448"/>
          </a:xfrm>
          <a:prstGeom prst="roundRect">
            <a:avLst>
              <a:gd name="adj" fmla="val 352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4" name="Text 22"/>
          <p:cNvSpPr/>
          <p:nvPr/>
        </p:nvSpPr>
        <p:spPr>
          <a:xfrm>
            <a:off x="4507992" y="2770632"/>
            <a:ext cx="3310128" cy="274320"/>
          </a:xfrm>
          <a:prstGeom prst="rect">
            <a:avLst/>
          </a:prstGeom>
          <a:noFill/>
          <a:ln/>
        </p:spPr>
        <p:txBody>
          <a:bodyPr wrap="square" lIns="0" tIns="0" rIns="0" bIns="0" rtlCol="0" anchor="ctr"/>
          <a:lstStyle/>
          <a:p>
            <a:pPr indent="0" marL="0">
              <a:buNone/>
            </a:pPr>
            <a:r>
              <a:rPr lang="en-US" sz="1500" b="1" dirty="0">
                <a:solidFill>
                  <a:srgbClr val="800020"/>
                </a:solidFill>
                <a:latin typeface="Calibri" pitchFamily="34" charset="0"/>
                <a:ea typeface="Calibri" pitchFamily="34" charset="-122"/>
                <a:cs typeface="Calibri" pitchFamily="34" charset="-120"/>
              </a:rPr>
              <a:t>Services</a:t>
            </a:r>
            <a:endParaRPr lang="en-US" sz="1500" dirty="0"/>
          </a:p>
        </p:txBody>
      </p:sp>
      <p:sp>
        <p:nvSpPr>
          <p:cNvPr id="25" name="Text 23"/>
          <p:cNvSpPr/>
          <p:nvPr/>
        </p:nvSpPr>
        <p:spPr>
          <a:xfrm>
            <a:off x="4507992" y="3072384"/>
            <a:ext cx="331012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A promise, tracked</a:t>
            </a:r>
            <a:endParaRPr lang="en-US" sz="1600" dirty="0"/>
          </a:p>
        </p:txBody>
      </p:sp>
      <p:sp>
        <p:nvSpPr>
          <p:cNvPr id="26" name="Text 24"/>
          <p:cNvSpPr/>
          <p:nvPr/>
        </p:nvSpPr>
        <p:spPr>
          <a:xfrm>
            <a:off x="4507992" y="3419856"/>
            <a:ext cx="331012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Live order state, a fixed window, a named fallback</a:t>
            </a:r>
            <a:endParaRPr lang="en-US" sz="1400" dirty="0"/>
          </a:p>
        </p:txBody>
      </p:sp>
      <p:sp>
        <p:nvSpPr>
          <p:cNvPr id="27" name="Shape 25"/>
          <p:cNvSpPr/>
          <p:nvPr/>
        </p:nvSpPr>
        <p:spPr>
          <a:xfrm>
            <a:off x="8156448" y="1298448"/>
            <a:ext cx="3465576" cy="1298448"/>
          </a:xfrm>
          <a:prstGeom prst="roundRect">
            <a:avLst>
              <a:gd name="adj" fmla="val 3521"/>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8" name="Text 26"/>
          <p:cNvSpPr/>
          <p:nvPr/>
        </p:nvSpPr>
        <p:spPr>
          <a:xfrm>
            <a:off x="8302752" y="1380744"/>
            <a:ext cx="3172968" cy="274320"/>
          </a:xfrm>
          <a:prstGeom prst="rect">
            <a:avLst/>
          </a:prstGeom>
          <a:noFill/>
          <a:ln/>
        </p:spPr>
        <p:txBody>
          <a:bodyPr wrap="square" lIns="0" tIns="0" rIns="0" bIns="0" rtlCol="0" anchor="ctr"/>
          <a:lstStyle/>
          <a:p>
            <a:pPr indent="0" marL="0">
              <a:buNone/>
            </a:pPr>
            <a:r>
              <a:rPr lang="en-US" sz="1500" b="1" dirty="0">
                <a:solidFill>
                  <a:srgbClr val="166534"/>
                </a:solidFill>
                <a:latin typeface="Calibri" pitchFamily="34" charset="0"/>
                <a:ea typeface="Calibri" pitchFamily="34" charset="-122"/>
                <a:cs typeface="Calibri" pitchFamily="34" charset="-120"/>
              </a:rPr>
              <a:t>Pain relievers</a:t>
            </a:r>
            <a:endParaRPr lang="en-US" sz="1500" dirty="0"/>
          </a:p>
        </p:txBody>
      </p:sp>
      <p:sp>
        <p:nvSpPr>
          <p:cNvPr id="29" name="Text 27"/>
          <p:cNvSpPr/>
          <p:nvPr/>
        </p:nvSpPr>
        <p:spPr>
          <a:xfrm>
            <a:off x="8302752" y="1682496"/>
            <a:ext cx="31729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flying</a:t>
            </a:r>
            <a:endParaRPr lang="en-US" sz="1600" dirty="0"/>
          </a:p>
        </p:txBody>
      </p:sp>
      <p:sp>
        <p:nvSpPr>
          <p:cNvPr id="30" name="Text 28"/>
          <p:cNvSpPr/>
          <p:nvPr/>
        </p:nvSpPr>
        <p:spPr>
          <a:xfrm>
            <a:off x="8302752" y="2029968"/>
            <a:ext cx="317296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corridor is not a road, so congestion is irrelevant</a:t>
            </a:r>
            <a:endParaRPr lang="en-US" sz="1400" dirty="0"/>
          </a:p>
        </p:txBody>
      </p:sp>
      <p:sp>
        <p:nvSpPr>
          <p:cNvPr id="31" name="Shape 29"/>
          <p:cNvSpPr/>
          <p:nvPr/>
        </p:nvSpPr>
        <p:spPr>
          <a:xfrm>
            <a:off x="8156448" y="2688336"/>
            <a:ext cx="3465576" cy="1298448"/>
          </a:xfrm>
          <a:prstGeom prst="roundRect">
            <a:avLst>
              <a:gd name="adj" fmla="val 3521"/>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32" name="Text 30"/>
          <p:cNvSpPr/>
          <p:nvPr/>
        </p:nvSpPr>
        <p:spPr>
          <a:xfrm>
            <a:off x="8302752" y="2770632"/>
            <a:ext cx="3172968" cy="274320"/>
          </a:xfrm>
          <a:prstGeom prst="rect">
            <a:avLst/>
          </a:prstGeom>
          <a:noFill/>
          <a:ln/>
        </p:spPr>
        <p:txBody>
          <a:bodyPr wrap="square" lIns="0" tIns="0" rIns="0" bIns="0" rtlCol="0" anchor="ctr"/>
          <a:lstStyle/>
          <a:p>
            <a:pPr indent="0" marL="0">
              <a:buNone/>
            </a:pPr>
            <a:r>
              <a:rPr lang="en-US" sz="1500" b="1" dirty="0">
                <a:solidFill>
                  <a:srgbClr val="166534"/>
                </a:solidFill>
                <a:latin typeface="Calibri" pitchFamily="34" charset="0"/>
                <a:ea typeface="Calibri" pitchFamily="34" charset="-122"/>
                <a:cs typeface="Calibri" pitchFamily="34" charset="-120"/>
              </a:rPr>
              <a:t>Gain creators</a:t>
            </a:r>
            <a:endParaRPr lang="en-US" sz="1500" dirty="0"/>
          </a:p>
        </p:txBody>
      </p:sp>
      <p:sp>
        <p:nvSpPr>
          <p:cNvPr id="33" name="Text 31"/>
          <p:cNvSpPr/>
          <p:nvPr/>
        </p:nvSpPr>
        <p:spPr>
          <a:xfrm>
            <a:off x="8302752" y="3072384"/>
            <a:ext cx="31729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Predictable windows</a:t>
            </a:r>
            <a:endParaRPr lang="en-US" sz="1600" dirty="0"/>
          </a:p>
        </p:txBody>
      </p:sp>
      <p:sp>
        <p:nvSpPr>
          <p:cNvPr id="34" name="Text 32"/>
          <p:cNvSpPr/>
          <p:nvPr/>
        </p:nvSpPr>
        <p:spPr>
          <a:xfrm>
            <a:off x="8302752" y="3419856"/>
            <a:ext cx="317296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rider cannot beat a fixed window, and does not try</a:t>
            </a:r>
            <a:endParaRPr lang="en-US" sz="1400" dirty="0"/>
          </a:p>
        </p:txBody>
      </p:sp>
      <p:sp>
        <p:nvSpPr>
          <p:cNvPr id="35" name="Shape 33"/>
          <p:cNvSpPr/>
          <p:nvPr/>
        </p:nvSpPr>
        <p:spPr>
          <a:xfrm>
            <a:off x="8156448" y="4078224"/>
            <a:ext cx="3465576" cy="1298448"/>
          </a:xfrm>
          <a:prstGeom prst="roundRect">
            <a:avLst>
              <a:gd name="adj" fmla="val 3521"/>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36" name="Text 34"/>
          <p:cNvSpPr/>
          <p:nvPr/>
        </p:nvSpPr>
        <p:spPr>
          <a:xfrm>
            <a:off x="8302752" y="4160520"/>
            <a:ext cx="3172968" cy="274320"/>
          </a:xfrm>
          <a:prstGeom prst="rect">
            <a:avLst/>
          </a:prstGeom>
          <a:noFill/>
          <a:ln/>
        </p:spPr>
        <p:txBody>
          <a:bodyPr wrap="square" lIns="0" tIns="0" rIns="0" bIns="0" rtlCol="0" anchor="ctr"/>
          <a:lstStyle/>
          <a:p>
            <a:pPr indent="0" marL="0">
              <a:buNone/>
            </a:pPr>
            <a:r>
              <a:rPr lang="en-US" sz="1500" b="1" dirty="0">
                <a:solidFill>
                  <a:srgbClr val="166534"/>
                </a:solidFill>
                <a:latin typeface="Calibri" pitchFamily="34" charset="0"/>
                <a:ea typeface="Calibri" pitchFamily="34" charset="-122"/>
                <a:cs typeface="Calibri" pitchFamily="34" charset="-120"/>
              </a:rPr>
              <a:t>Competitors</a:t>
            </a:r>
            <a:endParaRPr lang="en-US" sz="1500" dirty="0"/>
          </a:p>
        </p:txBody>
      </p:sp>
      <p:sp>
        <p:nvSpPr>
          <p:cNvPr id="37" name="Text 35"/>
          <p:cNvSpPr/>
          <p:nvPr/>
        </p:nvSpPr>
        <p:spPr>
          <a:xfrm>
            <a:off x="8302752" y="4462272"/>
            <a:ext cx="31729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Pathao, foodpanda</a:t>
            </a:r>
            <a:endParaRPr lang="en-US" sz="1600" dirty="0"/>
          </a:p>
        </p:txBody>
      </p:sp>
      <p:sp>
        <p:nvSpPr>
          <p:cNvPr id="38" name="Text 36"/>
          <p:cNvSpPr/>
          <p:nvPr/>
        </p:nvSpPr>
        <p:spPr>
          <a:xfrm>
            <a:off x="8302752" y="4809744"/>
            <a:ext cx="3172968" cy="493776"/>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Strong on demand, weak on a guaranteed arrival time</a:t>
            </a:r>
            <a:endParaRPr lang="en-US" sz="1400" dirty="0"/>
          </a:p>
        </p:txBody>
      </p:sp>
      <p:sp>
        <p:nvSpPr>
          <p:cNvPr id="39" name="Shape 37"/>
          <p:cNvSpPr/>
          <p:nvPr/>
        </p:nvSpPr>
        <p:spPr>
          <a:xfrm>
            <a:off x="566928" y="5449824"/>
            <a:ext cx="11057839" cy="457200"/>
          </a:xfrm>
          <a:prstGeom prst="roundRect">
            <a:avLst>
              <a:gd name="adj" fmla="val 10000"/>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40" name="Text 38"/>
          <p:cNvSpPr/>
          <p:nvPr/>
        </p:nvSpPr>
        <p:spPr>
          <a:xfrm>
            <a:off x="749808" y="5449824"/>
            <a:ext cx="10692079" cy="457200"/>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The claim we must defend: a rider can be fast, but a rider cannot be fifteen minutes, every time, in rain, without a road.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2. Value Proposition and Problem-Solution Fit</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400" b="1" dirty="0">
                <a:solidFill>
                  <a:srgbClr val="0F172A"/>
                </a:solidFill>
                <a:latin typeface="Century Schoolbook" pitchFamily="34" charset="0"/>
                <a:ea typeface="Century Schoolbook" pitchFamily="34" charset="-122"/>
                <a:cs typeface="Century Schoolbook" pitchFamily="34" charset="-120"/>
              </a:rPr>
              <a:t>Problem Solution Fit is real, and it is not yet proven</a:t>
            </a:r>
            <a:endParaRPr lang="en-US" sz="24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The customer problem is solved. The operating context is not.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9</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286000" cy="420624"/>
          </a:xfrm>
          <a:prstGeom prst="rect">
            <a:avLst/>
          </a:prstGeom>
          <a:solidFill>
            <a:srgbClr val="0F172A"/>
          </a:solidFill>
          <a:ln w="12700">
            <a:solidFill>
              <a:srgbClr val="333333"/>
            </a:solidFill>
            <a:prstDash val="solid"/>
          </a:ln>
        </p:spPr>
      </p:sp>
      <p:sp>
        <p:nvSpPr>
          <p:cNvPr id="8" name="Text 6"/>
          <p:cNvSpPr/>
          <p:nvPr/>
        </p:nvSpPr>
        <p:spPr>
          <a:xfrm>
            <a:off x="713232" y="1298448"/>
            <a:ext cx="1993392" cy="42062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Dimension</a:t>
            </a:r>
            <a:endParaRPr lang="en-US" sz="1400" dirty="0"/>
          </a:p>
        </p:txBody>
      </p:sp>
      <p:sp>
        <p:nvSpPr>
          <p:cNvPr id="9" name="Shape 7"/>
          <p:cNvSpPr/>
          <p:nvPr/>
        </p:nvSpPr>
        <p:spPr>
          <a:xfrm>
            <a:off x="2852928" y="1298448"/>
            <a:ext cx="5120640" cy="420624"/>
          </a:xfrm>
          <a:prstGeom prst="rect">
            <a:avLst/>
          </a:prstGeom>
          <a:solidFill>
            <a:srgbClr val="0F172A"/>
          </a:solidFill>
          <a:ln w="12700">
            <a:solidFill>
              <a:srgbClr val="333333"/>
            </a:solidFill>
            <a:prstDash val="solid"/>
          </a:ln>
        </p:spPr>
      </p:sp>
      <p:sp>
        <p:nvSpPr>
          <p:cNvPr id="10" name="Text 8"/>
          <p:cNvSpPr/>
          <p:nvPr/>
        </p:nvSpPr>
        <p:spPr>
          <a:xfrm>
            <a:off x="2999232" y="1298448"/>
            <a:ext cx="4828032" cy="42062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we found</a:t>
            </a:r>
            <a:endParaRPr lang="en-US" sz="1400" dirty="0"/>
          </a:p>
        </p:txBody>
      </p:sp>
      <p:sp>
        <p:nvSpPr>
          <p:cNvPr id="11" name="Shape 9"/>
          <p:cNvSpPr/>
          <p:nvPr/>
        </p:nvSpPr>
        <p:spPr>
          <a:xfrm>
            <a:off x="7973568" y="1298448"/>
            <a:ext cx="2651760" cy="420624"/>
          </a:xfrm>
          <a:prstGeom prst="rect">
            <a:avLst/>
          </a:prstGeom>
          <a:solidFill>
            <a:srgbClr val="0F172A"/>
          </a:solidFill>
          <a:ln w="12700">
            <a:solidFill>
              <a:srgbClr val="333333"/>
            </a:solidFill>
            <a:prstDash val="solid"/>
          </a:ln>
        </p:spPr>
      </p:sp>
      <p:sp>
        <p:nvSpPr>
          <p:cNvPr id="12" name="Text 10"/>
          <p:cNvSpPr/>
          <p:nvPr/>
        </p:nvSpPr>
        <p:spPr>
          <a:xfrm>
            <a:off x="8119872" y="1298448"/>
            <a:ext cx="2359152" cy="420624"/>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Verdict</a:t>
            </a:r>
            <a:endParaRPr lang="en-US" sz="1400" dirty="0"/>
          </a:p>
        </p:txBody>
      </p:sp>
      <p:sp>
        <p:nvSpPr>
          <p:cNvPr id="13" name="Shape 11"/>
          <p:cNvSpPr/>
          <p:nvPr/>
        </p:nvSpPr>
        <p:spPr>
          <a:xfrm>
            <a:off x="566928" y="1719072"/>
            <a:ext cx="2286000" cy="566928"/>
          </a:xfrm>
          <a:prstGeom prst="rect">
            <a:avLst/>
          </a:prstGeom>
          <a:solidFill>
            <a:srgbClr val="FFFFFF"/>
          </a:solidFill>
          <a:ln w="12700">
            <a:solidFill>
              <a:srgbClr val="E2E8F0"/>
            </a:solidFill>
            <a:prstDash val="solid"/>
          </a:ln>
        </p:spPr>
      </p:sp>
      <p:sp>
        <p:nvSpPr>
          <p:cNvPr id="14" name="Text 12"/>
          <p:cNvSpPr/>
          <p:nvPr/>
        </p:nvSpPr>
        <p:spPr>
          <a:xfrm>
            <a:off x="713232" y="1719072"/>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problem</a:t>
            </a:r>
            <a:endParaRPr lang="en-US" sz="1400" dirty="0"/>
          </a:p>
        </p:txBody>
      </p:sp>
      <p:sp>
        <p:nvSpPr>
          <p:cNvPr id="15" name="Shape 13"/>
          <p:cNvSpPr/>
          <p:nvPr/>
        </p:nvSpPr>
        <p:spPr>
          <a:xfrm>
            <a:off x="2852928" y="1719072"/>
            <a:ext cx="5120640" cy="566928"/>
          </a:xfrm>
          <a:prstGeom prst="rect">
            <a:avLst/>
          </a:prstGeom>
          <a:solidFill>
            <a:srgbClr val="FFFFFF"/>
          </a:solidFill>
          <a:ln w="12700">
            <a:solidFill>
              <a:srgbClr val="E2E8F0"/>
            </a:solidFill>
            <a:prstDash val="solid"/>
          </a:ln>
        </p:spPr>
      </p:sp>
      <p:sp>
        <p:nvSpPr>
          <p:cNvPr id="16" name="Text 14"/>
          <p:cNvSpPr/>
          <p:nvPr/>
        </p:nvSpPr>
        <p:spPr>
          <a:xfrm>
            <a:off x="2999232" y="1719072"/>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Dhaka road journeys average about 74 minutes for trips a drone covers in 6</a:t>
            </a:r>
            <a:endParaRPr lang="en-US" sz="1400" dirty="0"/>
          </a:p>
        </p:txBody>
      </p:sp>
      <p:sp>
        <p:nvSpPr>
          <p:cNvPr id="17" name="Shape 15"/>
          <p:cNvSpPr/>
          <p:nvPr/>
        </p:nvSpPr>
        <p:spPr>
          <a:xfrm>
            <a:off x="7973568" y="1719072"/>
            <a:ext cx="2651760" cy="566928"/>
          </a:xfrm>
          <a:prstGeom prst="rect">
            <a:avLst/>
          </a:prstGeom>
          <a:solidFill>
            <a:srgbClr val="FFFFFF"/>
          </a:solidFill>
          <a:ln w="12700">
            <a:solidFill>
              <a:srgbClr val="E2E8F0"/>
            </a:solidFill>
            <a:prstDash val="solid"/>
          </a:ln>
        </p:spPr>
      </p:sp>
      <p:sp>
        <p:nvSpPr>
          <p:cNvPr id="18" name="Text 16"/>
          <p:cNvSpPr/>
          <p:nvPr/>
        </p:nvSpPr>
        <p:spPr>
          <a:xfrm>
            <a:off x="8119872" y="1719072"/>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Real and measured</a:t>
            </a:r>
            <a:endParaRPr lang="en-US" sz="1400" dirty="0"/>
          </a:p>
        </p:txBody>
      </p:sp>
      <p:sp>
        <p:nvSpPr>
          <p:cNvPr id="19" name="Shape 17"/>
          <p:cNvSpPr/>
          <p:nvPr/>
        </p:nvSpPr>
        <p:spPr>
          <a:xfrm>
            <a:off x="566928" y="1719072"/>
            <a:ext cx="73152" cy="566928"/>
          </a:xfrm>
          <a:prstGeom prst="rect">
            <a:avLst/>
          </a:prstGeom>
          <a:solidFill>
            <a:srgbClr val="166534"/>
          </a:solidFill>
          <a:ln w="12700">
            <a:solidFill>
              <a:srgbClr val="333333"/>
            </a:solidFill>
            <a:prstDash val="solid"/>
          </a:ln>
        </p:spPr>
      </p:sp>
      <p:sp>
        <p:nvSpPr>
          <p:cNvPr id="20" name="Shape 18"/>
          <p:cNvSpPr/>
          <p:nvPr/>
        </p:nvSpPr>
        <p:spPr>
          <a:xfrm>
            <a:off x="566928" y="2286000"/>
            <a:ext cx="2286000" cy="566928"/>
          </a:xfrm>
          <a:prstGeom prst="rect">
            <a:avLst/>
          </a:prstGeom>
          <a:solidFill>
            <a:srgbClr val="F8FAFC"/>
          </a:solidFill>
          <a:ln w="12700">
            <a:solidFill>
              <a:srgbClr val="E2E8F0"/>
            </a:solidFill>
            <a:prstDash val="solid"/>
          </a:ln>
        </p:spPr>
      </p:sp>
      <p:sp>
        <p:nvSpPr>
          <p:cNvPr id="21" name="Text 19"/>
          <p:cNvSpPr/>
          <p:nvPr/>
        </p:nvSpPr>
        <p:spPr>
          <a:xfrm>
            <a:off x="713232" y="2286000"/>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Our solution</a:t>
            </a:r>
            <a:endParaRPr lang="en-US" sz="1400" dirty="0"/>
          </a:p>
        </p:txBody>
      </p:sp>
      <p:sp>
        <p:nvSpPr>
          <p:cNvPr id="22" name="Shape 20"/>
          <p:cNvSpPr/>
          <p:nvPr/>
        </p:nvSpPr>
        <p:spPr>
          <a:xfrm>
            <a:off x="2852928" y="2286000"/>
            <a:ext cx="5120640" cy="566928"/>
          </a:xfrm>
          <a:prstGeom prst="rect">
            <a:avLst/>
          </a:prstGeom>
          <a:solidFill>
            <a:srgbClr val="F8FAFC"/>
          </a:solidFill>
          <a:ln w="12700">
            <a:solidFill>
              <a:srgbClr val="E2E8F0"/>
            </a:solidFill>
            <a:prstDash val="solid"/>
          </a:ln>
        </p:spPr>
      </p:sp>
      <p:sp>
        <p:nvSpPr>
          <p:cNvPr id="23" name="Text 21"/>
          <p:cNvSpPr/>
          <p:nvPr/>
        </p:nvSpPr>
        <p:spPr>
          <a:xfrm>
            <a:off x="2999232" y="2286000"/>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guided corridor flight with pad landing and a fixed delivery window</a:t>
            </a:r>
            <a:endParaRPr lang="en-US" sz="1400" dirty="0"/>
          </a:p>
        </p:txBody>
      </p:sp>
      <p:sp>
        <p:nvSpPr>
          <p:cNvPr id="24" name="Shape 22"/>
          <p:cNvSpPr/>
          <p:nvPr/>
        </p:nvSpPr>
        <p:spPr>
          <a:xfrm>
            <a:off x="7973568" y="2286000"/>
            <a:ext cx="2651760" cy="566928"/>
          </a:xfrm>
          <a:prstGeom prst="rect">
            <a:avLst/>
          </a:prstGeom>
          <a:solidFill>
            <a:srgbClr val="F8FAFC"/>
          </a:solidFill>
          <a:ln w="12700">
            <a:solidFill>
              <a:srgbClr val="E2E8F0"/>
            </a:solidFill>
            <a:prstDash val="solid"/>
          </a:ln>
        </p:spPr>
      </p:sp>
      <p:sp>
        <p:nvSpPr>
          <p:cNvPr id="25" name="Text 23"/>
          <p:cNvSpPr/>
          <p:nvPr/>
        </p:nvSpPr>
        <p:spPr>
          <a:xfrm>
            <a:off x="8119872" y="2286000"/>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Technically demonstrated elsewhere</a:t>
            </a:r>
            <a:endParaRPr lang="en-US" sz="1400" dirty="0"/>
          </a:p>
        </p:txBody>
      </p:sp>
      <p:sp>
        <p:nvSpPr>
          <p:cNvPr id="26" name="Shape 24"/>
          <p:cNvSpPr/>
          <p:nvPr/>
        </p:nvSpPr>
        <p:spPr>
          <a:xfrm>
            <a:off x="566928" y="2286000"/>
            <a:ext cx="73152" cy="566928"/>
          </a:xfrm>
          <a:prstGeom prst="rect">
            <a:avLst/>
          </a:prstGeom>
          <a:solidFill>
            <a:srgbClr val="166534"/>
          </a:solidFill>
          <a:ln w="12700">
            <a:solidFill>
              <a:srgbClr val="333333"/>
            </a:solidFill>
            <a:prstDash val="solid"/>
          </a:ln>
        </p:spPr>
      </p:sp>
      <p:sp>
        <p:nvSpPr>
          <p:cNvPr id="27" name="Shape 25"/>
          <p:cNvSpPr/>
          <p:nvPr/>
        </p:nvSpPr>
        <p:spPr>
          <a:xfrm>
            <a:off x="566928" y="2852928"/>
            <a:ext cx="2286000" cy="566928"/>
          </a:xfrm>
          <a:prstGeom prst="rect">
            <a:avLst/>
          </a:prstGeom>
          <a:solidFill>
            <a:srgbClr val="FFFFFF"/>
          </a:solidFill>
          <a:ln w="12700">
            <a:solidFill>
              <a:srgbClr val="E2E8F0"/>
            </a:solidFill>
            <a:prstDash val="solid"/>
          </a:ln>
        </p:spPr>
      </p:sp>
      <p:sp>
        <p:nvSpPr>
          <p:cNvPr id="28" name="Text 26"/>
          <p:cNvSpPr/>
          <p:nvPr/>
        </p:nvSpPr>
        <p:spPr>
          <a:xfrm>
            <a:off x="713232" y="2852928"/>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customer</a:t>
            </a:r>
            <a:endParaRPr lang="en-US" sz="1400" dirty="0"/>
          </a:p>
        </p:txBody>
      </p:sp>
      <p:sp>
        <p:nvSpPr>
          <p:cNvPr id="29" name="Shape 27"/>
          <p:cNvSpPr/>
          <p:nvPr/>
        </p:nvSpPr>
        <p:spPr>
          <a:xfrm>
            <a:off x="2852928" y="2852928"/>
            <a:ext cx="5120640" cy="566928"/>
          </a:xfrm>
          <a:prstGeom prst="rect">
            <a:avLst/>
          </a:prstGeom>
          <a:solidFill>
            <a:srgbClr val="FFFFFF"/>
          </a:solidFill>
          <a:ln w="12700">
            <a:solidFill>
              <a:srgbClr val="E2E8F0"/>
            </a:solidFill>
            <a:prstDash val="solid"/>
          </a:ln>
        </p:spPr>
      </p:sp>
      <p:sp>
        <p:nvSpPr>
          <p:cNvPr id="30" name="Text 28"/>
          <p:cNvSpPr/>
          <p:nvPr/>
        </p:nvSpPr>
        <p:spPr>
          <a:xfrm>
            <a:off x="2999232" y="2852928"/>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Urban households ordering three or more times a week</a:t>
            </a:r>
            <a:endParaRPr lang="en-US" sz="1400" dirty="0"/>
          </a:p>
        </p:txBody>
      </p:sp>
      <p:sp>
        <p:nvSpPr>
          <p:cNvPr id="31" name="Shape 29"/>
          <p:cNvSpPr/>
          <p:nvPr/>
        </p:nvSpPr>
        <p:spPr>
          <a:xfrm>
            <a:off x="7973568" y="2852928"/>
            <a:ext cx="2651760" cy="566928"/>
          </a:xfrm>
          <a:prstGeom prst="rect">
            <a:avLst/>
          </a:prstGeom>
          <a:solidFill>
            <a:srgbClr val="FFFFFF"/>
          </a:solidFill>
          <a:ln w="12700">
            <a:solidFill>
              <a:srgbClr val="E2E8F0"/>
            </a:solidFill>
            <a:prstDash val="solid"/>
          </a:ln>
        </p:spPr>
      </p:sp>
      <p:sp>
        <p:nvSpPr>
          <p:cNvPr id="32" name="Text 30"/>
          <p:cNvSpPr/>
          <p:nvPr/>
        </p:nvSpPr>
        <p:spPr>
          <a:xfrm>
            <a:off x="8119872" y="2852928"/>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Matches existing behaviour</a:t>
            </a:r>
            <a:endParaRPr lang="en-US" sz="1400" dirty="0"/>
          </a:p>
        </p:txBody>
      </p:sp>
      <p:sp>
        <p:nvSpPr>
          <p:cNvPr id="33" name="Shape 31"/>
          <p:cNvSpPr/>
          <p:nvPr/>
        </p:nvSpPr>
        <p:spPr>
          <a:xfrm>
            <a:off x="566928" y="2852928"/>
            <a:ext cx="73152" cy="566928"/>
          </a:xfrm>
          <a:prstGeom prst="rect">
            <a:avLst/>
          </a:prstGeom>
          <a:solidFill>
            <a:srgbClr val="166534"/>
          </a:solidFill>
          <a:ln w="12700">
            <a:solidFill>
              <a:srgbClr val="333333"/>
            </a:solidFill>
            <a:prstDash val="solid"/>
          </a:ln>
        </p:spPr>
      </p:sp>
      <p:sp>
        <p:nvSpPr>
          <p:cNvPr id="34" name="Shape 32"/>
          <p:cNvSpPr/>
          <p:nvPr/>
        </p:nvSpPr>
        <p:spPr>
          <a:xfrm>
            <a:off x="566928" y="3419856"/>
            <a:ext cx="2286000" cy="566928"/>
          </a:xfrm>
          <a:prstGeom prst="rect">
            <a:avLst/>
          </a:prstGeom>
          <a:solidFill>
            <a:srgbClr val="F8FAFC"/>
          </a:solidFill>
          <a:ln w="12700">
            <a:solidFill>
              <a:srgbClr val="E2E8F0"/>
            </a:solidFill>
            <a:prstDash val="solid"/>
          </a:ln>
        </p:spPr>
      </p:sp>
      <p:sp>
        <p:nvSpPr>
          <p:cNvPr id="35" name="Text 33"/>
          <p:cNvSpPr/>
          <p:nvPr/>
        </p:nvSpPr>
        <p:spPr>
          <a:xfrm>
            <a:off x="713232" y="3419856"/>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channel</a:t>
            </a:r>
            <a:endParaRPr lang="en-US" sz="1400" dirty="0"/>
          </a:p>
        </p:txBody>
      </p:sp>
      <p:sp>
        <p:nvSpPr>
          <p:cNvPr id="36" name="Shape 34"/>
          <p:cNvSpPr/>
          <p:nvPr/>
        </p:nvSpPr>
        <p:spPr>
          <a:xfrm>
            <a:off x="2852928" y="3419856"/>
            <a:ext cx="5120640" cy="566928"/>
          </a:xfrm>
          <a:prstGeom prst="rect">
            <a:avLst/>
          </a:prstGeom>
          <a:solidFill>
            <a:srgbClr val="F8FAFC"/>
          </a:solidFill>
          <a:ln w="12700">
            <a:solidFill>
              <a:srgbClr val="E2E8F0"/>
            </a:solidFill>
            <a:prstDash val="solid"/>
          </a:ln>
        </p:spPr>
      </p:sp>
      <p:sp>
        <p:nvSpPr>
          <p:cNvPr id="37" name="Text 35"/>
          <p:cNvSpPr/>
          <p:nvPr/>
        </p:nvSpPr>
        <p:spPr>
          <a:xfrm>
            <a:off x="2999232" y="3419856"/>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Kitchen apps, and a pad network we install ourselves</a:t>
            </a:r>
            <a:endParaRPr lang="en-US" sz="1400" dirty="0"/>
          </a:p>
        </p:txBody>
      </p:sp>
      <p:sp>
        <p:nvSpPr>
          <p:cNvPr id="38" name="Shape 36"/>
          <p:cNvSpPr/>
          <p:nvPr/>
        </p:nvSpPr>
        <p:spPr>
          <a:xfrm>
            <a:off x="7973568" y="3419856"/>
            <a:ext cx="2651760" cy="566928"/>
          </a:xfrm>
          <a:prstGeom prst="rect">
            <a:avLst/>
          </a:prstGeom>
          <a:solidFill>
            <a:srgbClr val="F8FAFC"/>
          </a:solidFill>
          <a:ln w="12700">
            <a:solidFill>
              <a:srgbClr val="E2E8F0"/>
            </a:solidFill>
            <a:prstDash val="solid"/>
          </a:ln>
        </p:spPr>
      </p:sp>
      <p:sp>
        <p:nvSpPr>
          <p:cNvPr id="39" name="Text 37"/>
          <p:cNvSpPr/>
          <p:nvPr/>
        </p:nvSpPr>
        <p:spPr>
          <a:xfrm>
            <a:off x="8119872" y="3419856"/>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pads are the barrier</a:t>
            </a:r>
            <a:endParaRPr lang="en-US" sz="1400" dirty="0"/>
          </a:p>
        </p:txBody>
      </p:sp>
      <p:sp>
        <p:nvSpPr>
          <p:cNvPr id="40" name="Shape 38"/>
          <p:cNvSpPr/>
          <p:nvPr/>
        </p:nvSpPr>
        <p:spPr>
          <a:xfrm>
            <a:off x="566928" y="3419856"/>
            <a:ext cx="73152" cy="566928"/>
          </a:xfrm>
          <a:prstGeom prst="rect">
            <a:avLst/>
          </a:prstGeom>
          <a:solidFill>
            <a:srgbClr val="B45309"/>
          </a:solidFill>
          <a:ln w="12700">
            <a:solidFill>
              <a:srgbClr val="333333"/>
            </a:solidFill>
            <a:prstDash val="solid"/>
          </a:ln>
        </p:spPr>
      </p:sp>
      <p:sp>
        <p:nvSpPr>
          <p:cNvPr id="41" name="Shape 39"/>
          <p:cNvSpPr/>
          <p:nvPr/>
        </p:nvSpPr>
        <p:spPr>
          <a:xfrm>
            <a:off x="566928" y="3986784"/>
            <a:ext cx="2286000" cy="566928"/>
          </a:xfrm>
          <a:prstGeom prst="rect">
            <a:avLst/>
          </a:prstGeom>
          <a:solidFill>
            <a:srgbClr val="FFFFFF"/>
          </a:solidFill>
          <a:ln w="12700">
            <a:solidFill>
              <a:srgbClr val="E2E8F0"/>
            </a:solidFill>
            <a:prstDash val="solid"/>
          </a:ln>
        </p:spPr>
      </p:sp>
      <p:sp>
        <p:nvSpPr>
          <p:cNvPr id="42" name="Text 40"/>
          <p:cNvSpPr/>
          <p:nvPr/>
        </p:nvSpPr>
        <p:spPr>
          <a:xfrm>
            <a:off x="713232" y="3986784"/>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Revenue</a:t>
            </a:r>
            <a:endParaRPr lang="en-US" sz="1400" dirty="0"/>
          </a:p>
        </p:txBody>
      </p:sp>
      <p:sp>
        <p:nvSpPr>
          <p:cNvPr id="43" name="Shape 41"/>
          <p:cNvSpPr/>
          <p:nvPr/>
        </p:nvSpPr>
        <p:spPr>
          <a:xfrm>
            <a:off x="2852928" y="3986784"/>
            <a:ext cx="5120640" cy="566928"/>
          </a:xfrm>
          <a:prstGeom prst="rect">
            <a:avLst/>
          </a:prstGeom>
          <a:solidFill>
            <a:srgbClr val="FFFFFF"/>
          </a:solidFill>
          <a:ln w="12700">
            <a:solidFill>
              <a:srgbClr val="E2E8F0"/>
            </a:solidFill>
            <a:prstDash val="solid"/>
          </a:ln>
        </p:spPr>
      </p:sp>
      <p:sp>
        <p:nvSpPr>
          <p:cNvPr id="44" name="Text 42"/>
          <p:cNvSpPr/>
          <p:nvPr/>
        </p:nvSpPr>
        <p:spPr>
          <a:xfrm>
            <a:off x="2999232" y="3986784"/>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Delivery fee, subscription and kitchen contracts</a:t>
            </a:r>
            <a:endParaRPr lang="en-US" sz="1400" dirty="0"/>
          </a:p>
        </p:txBody>
      </p:sp>
      <p:sp>
        <p:nvSpPr>
          <p:cNvPr id="45" name="Shape 43"/>
          <p:cNvSpPr/>
          <p:nvPr/>
        </p:nvSpPr>
        <p:spPr>
          <a:xfrm>
            <a:off x="7973568" y="3986784"/>
            <a:ext cx="2651760" cy="566928"/>
          </a:xfrm>
          <a:prstGeom prst="rect">
            <a:avLst/>
          </a:prstGeom>
          <a:solidFill>
            <a:srgbClr val="FFFFFF"/>
          </a:solidFill>
          <a:ln w="12700">
            <a:solidFill>
              <a:srgbClr val="E2E8F0"/>
            </a:solidFill>
            <a:prstDash val="solid"/>
          </a:ln>
        </p:spPr>
      </p:sp>
      <p:sp>
        <p:nvSpPr>
          <p:cNvPr id="46" name="Text 44"/>
          <p:cNvSpPr/>
          <p:nvPr/>
        </p:nvSpPr>
        <p:spPr>
          <a:xfrm>
            <a:off x="8119872" y="3986784"/>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Comparable economics</a:t>
            </a:r>
            <a:endParaRPr lang="en-US" sz="1400" dirty="0"/>
          </a:p>
        </p:txBody>
      </p:sp>
      <p:sp>
        <p:nvSpPr>
          <p:cNvPr id="47" name="Shape 45"/>
          <p:cNvSpPr/>
          <p:nvPr/>
        </p:nvSpPr>
        <p:spPr>
          <a:xfrm>
            <a:off x="566928" y="3986784"/>
            <a:ext cx="73152" cy="566928"/>
          </a:xfrm>
          <a:prstGeom prst="rect">
            <a:avLst/>
          </a:prstGeom>
          <a:solidFill>
            <a:srgbClr val="166534"/>
          </a:solidFill>
          <a:ln w="12700">
            <a:solidFill>
              <a:srgbClr val="333333"/>
            </a:solidFill>
            <a:prstDash val="solid"/>
          </a:ln>
        </p:spPr>
      </p:sp>
      <p:sp>
        <p:nvSpPr>
          <p:cNvPr id="48" name="Shape 46"/>
          <p:cNvSpPr/>
          <p:nvPr/>
        </p:nvSpPr>
        <p:spPr>
          <a:xfrm>
            <a:off x="566928" y="4553712"/>
            <a:ext cx="2286000" cy="566928"/>
          </a:xfrm>
          <a:prstGeom prst="rect">
            <a:avLst/>
          </a:prstGeom>
          <a:solidFill>
            <a:srgbClr val="F8FAFC"/>
          </a:solidFill>
          <a:ln w="12700">
            <a:solidFill>
              <a:srgbClr val="E2E8F0"/>
            </a:solidFill>
            <a:prstDash val="solid"/>
          </a:ln>
        </p:spPr>
      </p:sp>
      <p:sp>
        <p:nvSpPr>
          <p:cNvPr id="49" name="Text 47"/>
          <p:cNvSpPr/>
          <p:nvPr/>
        </p:nvSpPr>
        <p:spPr>
          <a:xfrm>
            <a:off x="713232" y="4553712"/>
            <a:ext cx="1993392" cy="566928"/>
          </a:xfrm>
          <a:prstGeom prst="rect">
            <a:avLst/>
          </a:prstGeom>
          <a:noFill/>
          <a:ln/>
        </p:spPr>
        <p:txBody>
          <a:bodyPr wrap="square" lIns="0" tIns="0" rIns="0" bIns="0" rtlCol="0" anchor="ctr"/>
          <a:lstStyle/>
          <a:p>
            <a:pPr indent="0" marL="0">
              <a:lnSpc>
                <a:spcPts val="1800"/>
              </a:lnSpc>
              <a:buNone/>
            </a:pPr>
            <a:r>
              <a:rPr lang="en-US" sz="1400" b="1" dirty="0">
                <a:solidFill>
                  <a:srgbClr val="0F172A"/>
                </a:solidFill>
                <a:latin typeface="Calibri" pitchFamily="34" charset="0"/>
                <a:ea typeface="Calibri" pitchFamily="34" charset="-122"/>
                <a:cs typeface="Calibri" pitchFamily="34" charset="-120"/>
              </a:rPr>
              <a:t>The context</a:t>
            </a:r>
            <a:endParaRPr lang="en-US" sz="1400" dirty="0"/>
          </a:p>
        </p:txBody>
      </p:sp>
      <p:sp>
        <p:nvSpPr>
          <p:cNvPr id="50" name="Shape 48"/>
          <p:cNvSpPr/>
          <p:nvPr/>
        </p:nvSpPr>
        <p:spPr>
          <a:xfrm>
            <a:off x="2852928" y="4553712"/>
            <a:ext cx="5120640" cy="566928"/>
          </a:xfrm>
          <a:prstGeom prst="rect">
            <a:avLst/>
          </a:prstGeom>
          <a:solidFill>
            <a:srgbClr val="F8FAFC"/>
          </a:solidFill>
          <a:ln w="12700">
            <a:solidFill>
              <a:srgbClr val="E2E8F0"/>
            </a:solidFill>
            <a:prstDash val="solid"/>
          </a:ln>
        </p:spPr>
      </p:sp>
      <p:sp>
        <p:nvSpPr>
          <p:cNvPr id="51" name="Text 49"/>
          <p:cNvSpPr/>
          <p:nvPr/>
        </p:nvSpPr>
        <p:spPr>
          <a:xfrm>
            <a:off x="2999232" y="4553712"/>
            <a:ext cx="482803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Airspace permission, monsoon season, and a regulator with no precedent</a:t>
            </a:r>
            <a:endParaRPr lang="en-US" sz="1400" dirty="0"/>
          </a:p>
        </p:txBody>
      </p:sp>
      <p:sp>
        <p:nvSpPr>
          <p:cNvPr id="52" name="Shape 50"/>
          <p:cNvSpPr/>
          <p:nvPr/>
        </p:nvSpPr>
        <p:spPr>
          <a:xfrm>
            <a:off x="7973568" y="4553712"/>
            <a:ext cx="2651760" cy="566928"/>
          </a:xfrm>
          <a:prstGeom prst="rect">
            <a:avLst/>
          </a:prstGeom>
          <a:solidFill>
            <a:srgbClr val="F8FAFC"/>
          </a:solidFill>
          <a:ln w="12700">
            <a:solidFill>
              <a:srgbClr val="E2E8F0"/>
            </a:solidFill>
            <a:prstDash val="solid"/>
          </a:ln>
        </p:spPr>
      </p:sp>
      <p:sp>
        <p:nvSpPr>
          <p:cNvPr id="53" name="Text 51"/>
          <p:cNvSpPr/>
          <p:nvPr/>
        </p:nvSpPr>
        <p:spPr>
          <a:xfrm>
            <a:off x="8119872" y="4553712"/>
            <a:ext cx="2359152" cy="566928"/>
          </a:xfrm>
          <a:prstGeom prst="rect">
            <a:avLst/>
          </a:prstGeom>
          <a:noFill/>
          <a:ln/>
        </p:spPr>
        <p:txBody>
          <a:bodyPr wrap="square" lIns="0" tIns="0" rIns="0" bIns="0" rtlCol="0" anchor="ctr"/>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Unproven in Bangladesh</a:t>
            </a:r>
            <a:endParaRPr lang="en-US" sz="1400" dirty="0"/>
          </a:p>
        </p:txBody>
      </p:sp>
      <p:sp>
        <p:nvSpPr>
          <p:cNvPr id="54" name="Shape 52"/>
          <p:cNvSpPr/>
          <p:nvPr/>
        </p:nvSpPr>
        <p:spPr>
          <a:xfrm>
            <a:off x="566928" y="4553712"/>
            <a:ext cx="73152" cy="566928"/>
          </a:xfrm>
          <a:prstGeom prst="rect">
            <a:avLst/>
          </a:prstGeom>
          <a:solidFill>
            <a:srgbClr val="800020"/>
          </a:solidFill>
          <a:ln w="12700">
            <a:solidFill>
              <a:srgbClr val="333333"/>
            </a:solidFill>
            <a:prstDash val="solid"/>
          </a:ln>
        </p:spPr>
      </p:sp>
      <p:sp>
        <p:nvSpPr>
          <p:cNvPr id="55" name="Text 53"/>
          <p:cNvSpPr/>
          <p:nvPr/>
        </p:nvSpPr>
        <p:spPr>
          <a:xfrm>
            <a:off x="566928" y="5230368"/>
            <a:ext cx="11057839" cy="45720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Customer problem solved: yes. Operating context solved: not yet. That is the honest answer, and it is why we start in Rajshahi.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Technology: Vision, Jev and GLM</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Architecture and Technology Selection</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Vision does the flying. The models are called only when a decision is hard.</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10</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Technology: Vision, Jev and GLM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escalation architecture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Vision flies. The models are called only when a decision is hard.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11</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926080" cy="2286000"/>
          </a:xfrm>
          <a:prstGeom prst="roundRect">
            <a:avLst>
              <a:gd name="adj" fmla="val 2000"/>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926080" cy="82296"/>
          </a:xfrm>
          <a:prstGeom prst="rect">
            <a:avLst/>
          </a:prstGeom>
          <a:solidFill>
            <a:srgbClr val="800020"/>
          </a:solidFill>
          <a:ln w="12700">
            <a:solidFill>
              <a:srgbClr val="333333"/>
            </a:solidFill>
            <a:prstDash val="solid"/>
          </a:ln>
        </p:spPr>
      </p:sp>
      <p:sp>
        <p:nvSpPr>
          <p:cNvPr id="9" name="Text 7"/>
          <p:cNvSpPr/>
          <p:nvPr/>
        </p:nvSpPr>
        <p:spPr>
          <a:xfrm>
            <a:off x="749808" y="1499616"/>
            <a:ext cx="2560320" cy="365760"/>
          </a:xfrm>
          <a:prstGeom prst="rect">
            <a:avLst/>
          </a:prstGeom>
          <a:noFill/>
          <a:ln/>
        </p:spPr>
        <p:txBody>
          <a:bodyPr wrap="square" lIns="0" tIns="0" rIns="0" bIns="0" rtlCol="0" anchor="ctr"/>
          <a:lstStyle/>
          <a:p>
            <a:pPr indent="0" marL="0">
              <a:buNone/>
            </a:pPr>
            <a:r>
              <a:rPr lang="en-US" sz="2100" b="1" dirty="0">
                <a:solidFill>
                  <a:srgbClr val="800020"/>
                </a:solidFill>
                <a:latin typeface="Century Schoolbook" pitchFamily="34" charset="0"/>
                <a:ea typeface="Century Schoolbook" pitchFamily="34" charset="-122"/>
                <a:cs typeface="Century Schoolbook" pitchFamily="34" charset="-120"/>
              </a:rPr>
              <a:t>Vision</a:t>
            </a:r>
            <a:endParaRPr lang="en-US" sz="2100" dirty="0"/>
          </a:p>
        </p:txBody>
      </p:sp>
      <p:sp>
        <p:nvSpPr>
          <p:cNvPr id="10" name="Text 8"/>
          <p:cNvSpPr/>
          <p:nvPr/>
        </p:nvSpPr>
        <p:spPr>
          <a:xfrm>
            <a:off x="749808" y="1883664"/>
            <a:ext cx="2560320" cy="219456"/>
          </a:xfrm>
          <a:prstGeom prst="rect">
            <a:avLst/>
          </a:prstGeom>
          <a:noFill/>
          <a:ln/>
        </p:spPr>
        <p:txBody>
          <a:bodyPr wrap="square" lIns="0" tIns="0" rIns="0" bIns="0" rtlCol="0" anchor="ctr"/>
          <a:lstStyle/>
          <a:p>
            <a:pPr indent="0" marL="0">
              <a:buNone/>
            </a:pPr>
            <a:r>
              <a:rPr lang="en-US" sz="1200" b="1" spc="100" kern="0" dirty="0">
                <a:solidFill>
                  <a:srgbClr val="64748B"/>
                </a:solidFill>
                <a:latin typeface="Calibri" pitchFamily="34" charset="0"/>
                <a:ea typeface="Calibri" pitchFamily="34" charset="-122"/>
                <a:cs typeface="Calibri" pitchFamily="34" charset="-120"/>
              </a:rPr>
              <a:t>ON THE AIRCRAFT, ALWAYS</a:t>
            </a:r>
            <a:endParaRPr lang="en-US" sz="1200" dirty="0"/>
          </a:p>
        </p:txBody>
      </p:sp>
      <p:sp>
        <p:nvSpPr>
          <p:cNvPr id="11" name="Text 9"/>
          <p:cNvSpPr/>
          <p:nvPr/>
        </p:nvSpPr>
        <p:spPr>
          <a:xfrm>
            <a:off x="749808" y="2176272"/>
            <a:ext cx="2560320"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Navigation, obstacle detection, corridor following, pad landing</a:t>
            </a:r>
            <a:endParaRPr lang="en-US" sz="1400" dirty="0"/>
          </a:p>
        </p:txBody>
      </p:sp>
      <p:sp>
        <p:nvSpPr>
          <p:cNvPr id="12" name="Shape 10"/>
          <p:cNvSpPr/>
          <p:nvPr/>
        </p:nvSpPr>
        <p:spPr>
          <a:xfrm>
            <a:off x="749808" y="3035808"/>
            <a:ext cx="2560320" cy="365760"/>
          </a:xfrm>
          <a:prstGeom prst="roundRect">
            <a:avLst>
              <a:gd name="adj" fmla="val 25000"/>
            </a:avLst>
          </a:prstGeom>
          <a:solidFill>
            <a:srgbClr val="800020"/>
          </a:solidFill>
          <a:ln w="12700">
            <a:solidFill>
              <a:srgbClr val="333333"/>
            </a:solidFill>
            <a:prstDash val="solid"/>
          </a:ln>
        </p:spPr>
      </p:sp>
      <p:sp>
        <p:nvSpPr>
          <p:cNvPr id="13" name="Text 11"/>
          <p:cNvSpPr/>
          <p:nvPr/>
        </p:nvSpPr>
        <p:spPr>
          <a:xfrm>
            <a:off x="749808" y="3035808"/>
            <a:ext cx="25603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Runs on every single flight</a:t>
            </a:r>
            <a:endParaRPr lang="en-US" sz="1400" dirty="0"/>
          </a:p>
        </p:txBody>
      </p:sp>
      <p:sp>
        <p:nvSpPr>
          <p:cNvPr id="14" name="Text 12"/>
          <p:cNvSpPr/>
          <p:nvPr/>
        </p:nvSpPr>
        <p:spPr>
          <a:xfrm>
            <a:off x="3566160" y="1901952"/>
            <a:ext cx="993496" cy="512064"/>
          </a:xfrm>
          <a:prstGeom prst="rect">
            <a:avLst/>
          </a:prstGeom>
          <a:noFill/>
          <a:ln/>
        </p:spPr>
        <p:txBody>
          <a:bodyPr wrap="square" lIns="0" tIns="0" rIns="0" bIns="0" rtlCol="0" anchor="ctr"/>
          <a:lstStyle/>
          <a:p>
            <a:pPr algn="ctr" indent="0" marL="0">
              <a:lnSpc>
                <a:spcPts val="1400"/>
              </a:lnSpc>
              <a:buNone/>
            </a:pPr>
            <a:r>
              <a:rPr lang="en-US" sz="1200" b="1" dirty="0">
                <a:solidFill>
                  <a:srgbClr val="334155"/>
                </a:solidFill>
                <a:latin typeface="Calibri" pitchFamily="34" charset="0"/>
                <a:ea typeface="Calibri" pitchFamily="34" charset="-122"/>
                <a:cs typeface="Calibri" pitchFamily="34" charset="-120"/>
              </a:rPr>
              <a:t>LOW CONFIDENCE</a:t>
            </a:r>
            <a:endParaRPr lang="en-US" sz="1200" dirty="0"/>
          </a:p>
        </p:txBody>
      </p:sp>
      <p:sp>
        <p:nvSpPr>
          <p:cNvPr id="15" name="Shape 13"/>
          <p:cNvSpPr/>
          <p:nvPr/>
        </p:nvSpPr>
        <p:spPr>
          <a:xfrm>
            <a:off x="3566160" y="2487168"/>
            <a:ext cx="993496" cy="274320"/>
          </a:xfrm>
          <a:prstGeom prst="rightArrow">
            <a:avLst/>
          </a:prstGeom>
          <a:solidFill>
            <a:srgbClr val="CBD5E1"/>
          </a:solidFill>
          <a:ln w="12700">
            <a:solidFill>
              <a:srgbClr val="333333"/>
            </a:solidFill>
            <a:prstDash val="solid"/>
          </a:ln>
        </p:spPr>
      </p:sp>
      <p:sp>
        <p:nvSpPr>
          <p:cNvPr id="16" name="Shape 14"/>
          <p:cNvSpPr/>
          <p:nvPr/>
        </p:nvSpPr>
        <p:spPr>
          <a:xfrm>
            <a:off x="1920240" y="3657600"/>
            <a:ext cx="219456" cy="365760"/>
          </a:xfrm>
          <a:prstGeom prst="downArrow">
            <a:avLst/>
          </a:prstGeom>
          <a:solidFill>
            <a:srgbClr val="166534"/>
          </a:solidFill>
          <a:ln w="12700">
            <a:solidFill>
              <a:srgbClr val="333333"/>
            </a:solidFill>
            <a:prstDash val="solid"/>
          </a:ln>
        </p:spPr>
      </p:sp>
      <p:sp>
        <p:nvSpPr>
          <p:cNvPr id="17" name="Shape 15"/>
          <p:cNvSpPr/>
          <p:nvPr/>
        </p:nvSpPr>
        <p:spPr>
          <a:xfrm>
            <a:off x="4632808" y="1298448"/>
            <a:ext cx="2926080" cy="2286000"/>
          </a:xfrm>
          <a:prstGeom prst="roundRect">
            <a:avLst>
              <a:gd name="adj" fmla="val 200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4632808" y="1298448"/>
            <a:ext cx="2926080" cy="82296"/>
          </a:xfrm>
          <a:prstGeom prst="rect">
            <a:avLst/>
          </a:prstGeom>
          <a:solidFill>
            <a:srgbClr val="B45309"/>
          </a:solidFill>
          <a:ln w="12700">
            <a:solidFill>
              <a:srgbClr val="333333"/>
            </a:solidFill>
            <a:prstDash val="solid"/>
          </a:ln>
        </p:spPr>
      </p:sp>
      <p:sp>
        <p:nvSpPr>
          <p:cNvPr id="19" name="Text 17"/>
          <p:cNvSpPr/>
          <p:nvPr/>
        </p:nvSpPr>
        <p:spPr>
          <a:xfrm>
            <a:off x="4815688" y="1499616"/>
            <a:ext cx="2560320" cy="365760"/>
          </a:xfrm>
          <a:prstGeom prst="rect">
            <a:avLst/>
          </a:prstGeom>
          <a:noFill/>
          <a:ln/>
        </p:spPr>
        <p:txBody>
          <a:bodyPr wrap="square" lIns="0" tIns="0" rIns="0" bIns="0" rtlCol="0" anchor="ctr"/>
          <a:lstStyle/>
          <a:p>
            <a:pPr indent="0" marL="0">
              <a:buNone/>
            </a:pPr>
            <a:r>
              <a:rPr lang="en-US" sz="2100" b="1" dirty="0">
                <a:solidFill>
                  <a:srgbClr val="B45309"/>
                </a:solidFill>
                <a:latin typeface="Century Schoolbook" pitchFamily="34" charset="0"/>
                <a:ea typeface="Century Schoolbook" pitchFamily="34" charset="-122"/>
                <a:cs typeface="Century Schoolbook" pitchFamily="34" charset="-120"/>
              </a:rPr>
              <a:t>Jev</a:t>
            </a:r>
            <a:endParaRPr lang="en-US" sz="2100" dirty="0"/>
          </a:p>
        </p:txBody>
      </p:sp>
      <p:sp>
        <p:nvSpPr>
          <p:cNvPr id="20" name="Text 18"/>
          <p:cNvSpPr/>
          <p:nvPr/>
        </p:nvSpPr>
        <p:spPr>
          <a:xfrm>
            <a:off x="4815688" y="1883664"/>
            <a:ext cx="2560320" cy="219456"/>
          </a:xfrm>
          <a:prstGeom prst="rect">
            <a:avLst/>
          </a:prstGeom>
          <a:noFill/>
          <a:ln/>
        </p:spPr>
        <p:txBody>
          <a:bodyPr wrap="square" lIns="0" tIns="0" rIns="0" bIns="0" rtlCol="0" anchor="ctr"/>
          <a:lstStyle/>
          <a:p>
            <a:pPr indent="0" marL="0">
              <a:buNone/>
            </a:pPr>
            <a:r>
              <a:rPr lang="en-US" sz="1200" b="1" spc="100" kern="0" dirty="0">
                <a:solidFill>
                  <a:srgbClr val="64748B"/>
                </a:solidFill>
                <a:latin typeface="Calibri" pitchFamily="34" charset="0"/>
                <a:ea typeface="Calibri" pitchFamily="34" charset="-122"/>
                <a:cs typeface="Calibri" pitchFamily="34" charset="-120"/>
              </a:rPr>
              <a:t>IN THE HUB, ON DEMAND</a:t>
            </a:r>
            <a:endParaRPr lang="en-US" sz="1200" dirty="0"/>
          </a:p>
        </p:txBody>
      </p:sp>
      <p:sp>
        <p:nvSpPr>
          <p:cNvPr id="21" name="Text 19"/>
          <p:cNvSpPr/>
          <p:nvPr/>
        </p:nvSpPr>
        <p:spPr>
          <a:xfrm>
            <a:off x="4815688" y="2176272"/>
            <a:ext cx="2560320"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Reads flight state, returns a typed action and a probability</a:t>
            </a:r>
            <a:endParaRPr lang="en-US" sz="1400" dirty="0"/>
          </a:p>
        </p:txBody>
      </p:sp>
      <p:sp>
        <p:nvSpPr>
          <p:cNvPr id="22" name="Shape 20"/>
          <p:cNvSpPr/>
          <p:nvPr/>
        </p:nvSpPr>
        <p:spPr>
          <a:xfrm>
            <a:off x="4815688" y="3035808"/>
            <a:ext cx="2560320" cy="365760"/>
          </a:xfrm>
          <a:prstGeom prst="roundRect">
            <a:avLst>
              <a:gd name="adj" fmla="val 25000"/>
            </a:avLst>
          </a:prstGeom>
          <a:solidFill>
            <a:srgbClr val="B45309"/>
          </a:solidFill>
          <a:ln w="12700">
            <a:solidFill>
              <a:srgbClr val="333333"/>
            </a:solidFill>
            <a:prstDash val="solid"/>
          </a:ln>
        </p:spPr>
      </p:sp>
      <p:sp>
        <p:nvSpPr>
          <p:cNvPr id="23" name="Text 21"/>
          <p:cNvSpPr/>
          <p:nvPr/>
        </p:nvSpPr>
        <p:spPr>
          <a:xfrm>
            <a:off x="4815688" y="3035808"/>
            <a:ext cx="25603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Called on most decisions</a:t>
            </a:r>
            <a:endParaRPr lang="en-US" sz="1400" dirty="0"/>
          </a:p>
        </p:txBody>
      </p:sp>
      <p:sp>
        <p:nvSpPr>
          <p:cNvPr id="24" name="Text 22"/>
          <p:cNvSpPr/>
          <p:nvPr/>
        </p:nvSpPr>
        <p:spPr>
          <a:xfrm>
            <a:off x="7632040" y="1901952"/>
            <a:ext cx="993496" cy="512064"/>
          </a:xfrm>
          <a:prstGeom prst="rect">
            <a:avLst/>
          </a:prstGeom>
          <a:noFill/>
          <a:ln/>
        </p:spPr>
        <p:txBody>
          <a:bodyPr wrap="square" lIns="0" tIns="0" rIns="0" bIns="0" rtlCol="0" anchor="ctr"/>
          <a:lstStyle/>
          <a:p>
            <a:pPr algn="ctr" indent="0" marL="0">
              <a:lnSpc>
                <a:spcPts val="1400"/>
              </a:lnSpc>
              <a:buNone/>
            </a:pPr>
            <a:r>
              <a:rPr lang="en-US" sz="1200" b="1" dirty="0">
                <a:solidFill>
                  <a:srgbClr val="334155"/>
                </a:solidFill>
                <a:latin typeface="Calibri" pitchFamily="34" charset="0"/>
                <a:ea typeface="Calibri" pitchFamily="34" charset="-122"/>
                <a:cs typeface="Calibri" pitchFamily="34" charset="-120"/>
              </a:rPr>
              <a:t>AMBIGUOUS CASE</a:t>
            </a:r>
            <a:endParaRPr lang="en-US" sz="1200" dirty="0"/>
          </a:p>
        </p:txBody>
      </p:sp>
      <p:sp>
        <p:nvSpPr>
          <p:cNvPr id="25" name="Shape 23"/>
          <p:cNvSpPr/>
          <p:nvPr/>
        </p:nvSpPr>
        <p:spPr>
          <a:xfrm>
            <a:off x="7632040" y="2487168"/>
            <a:ext cx="993496" cy="274320"/>
          </a:xfrm>
          <a:prstGeom prst="rightArrow">
            <a:avLst/>
          </a:prstGeom>
          <a:solidFill>
            <a:srgbClr val="CBD5E1"/>
          </a:solidFill>
          <a:ln w="12700">
            <a:solidFill>
              <a:srgbClr val="333333"/>
            </a:solidFill>
            <a:prstDash val="solid"/>
          </a:ln>
        </p:spPr>
      </p:sp>
      <p:sp>
        <p:nvSpPr>
          <p:cNvPr id="26" name="Shape 24"/>
          <p:cNvSpPr/>
          <p:nvPr/>
        </p:nvSpPr>
        <p:spPr>
          <a:xfrm>
            <a:off x="5986120" y="3657600"/>
            <a:ext cx="219456" cy="365760"/>
          </a:xfrm>
          <a:prstGeom prst="downArrow">
            <a:avLst/>
          </a:prstGeom>
          <a:solidFill>
            <a:srgbClr val="166534"/>
          </a:solidFill>
          <a:ln w="12700">
            <a:solidFill>
              <a:srgbClr val="333333"/>
            </a:solidFill>
            <a:prstDash val="solid"/>
          </a:ln>
        </p:spPr>
      </p:sp>
      <p:sp>
        <p:nvSpPr>
          <p:cNvPr id="27" name="Shape 25"/>
          <p:cNvSpPr/>
          <p:nvPr/>
        </p:nvSpPr>
        <p:spPr>
          <a:xfrm>
            <a:off x="8698687" y="1298448"/>
            <a:ext cx="2926080" cy="2286000"/>
          </a:xfrm>
          <a:prstGeom prst="roundRect">
            <a:avLst>
              <a:gd name="adj" fmla="val 200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8698687" y="1298448"/>
            <a:ext cx="2926080" cy="82296"/>
          </a:xfrm>
          <a:prstGeom prst="rect">
            <a:avLst/>
          </a:prstGeom>
          <a:solidFill>
            <a:srgbClr val="1E293B"/>
          </a:solidFill>
          <a:ln w="12700">
            <a:solidFill>
              <a:srgbClr val="333333"/>
            </a:solidFill>
            <a:prstDash val="solid"/>
          </a:ln>
        </p:spPr>
      </p:sp>
      <p:sp>
        <p:nvSpPr>
          <p:cNvPr id="29" name="Text 27"/>
          <p:cNvSpPr/>
          <p:nvPr/>
        </p:nvSpPr>
        <p:spPr>
          <a:xfrm>
            <a:off x="8881567" y="1499616"/>
            <a:ext cx="2560320" cy="365760"/>
          </a:xfrm>
          <a:prstGeom prst="rect">
            <a:avLst/>
          </a:prstGeom>
          <a:noFill/>
          <a:ln/>
        </p:spPr>
        <p:txBody>
          <a:bodyPr wrap="square" lIns="0" tIns="0" rIns="0" bIns="0" rtlCol="0" anchor="ctr"/>
          <a:lstStyle/>
          <a:p>
            <a:pPr indent="0" marL="0">
              <a:buNone/>
            </a:pPr>
            <a:r>
              <a:rPr lang="en-US" sz="2100" b="1" dirty="0">
                <a:solidFill>
                  <a:srgbClr val="1E293B"/>
                </a:solidFill>
                <a:latin typeface="Century Schoolbook" pitchFamily="34" charset="0"/>
                <a:ea typeface="Century Schoolbook" pitchFamily="34" charset="-122"/>
                <a:cs typeface="Century Schoolbook" pitchFamily="34" charset="-120"/>
              </a:rPr>
              <a:t>GLM-5.3-Flash</a:t>
            </a:r>
            <a:endParaRPr lang="en-US" sz="2100" dirty="0"/>
          </a:p>
        </p:txBody>
      </p:sp>
      <p:sp>
        <p:nvSpPr>
          <p:cNvPr id="30" name="Text 28"/>
          <p:cNvSpPr/>
          <p:nvPr/>
        </p:nvSpPr>
        <p:spPr>
          <a:xfrm>
            <a:off x="8881567" y="1883664"/>
            <a:ext cx="2560320" cy="219456"/>
          </a:xfrm>
          <a:prstGeom prst="rect">
            <a:avLst/>
          </a:prstGeom>
          <a:noFill/>
          <a:ln/>
        </p:spPr>
        <p:txBody>
          <a:bodyPr wrap="square" lIns="0" tIns="0" rIns="0" bIns="0" rtlCol="0" anchor="ctr"/>
          <a:lstStyle/>
          <a:p>
            <a:pPr indent="0" marL="0">
              <a:buNone/>
            </a:pPr>
            <a:r>
              <a:rPr lang="en-US" sz="1200" b="1" spc="100" kern="0" dirty="0">
                <a:solidFill>
                  <a:srgbClr val="64748B"/>
                </a:solidFill>
                <a:latin typeface="Calibri" pitchFamily="34" charset="0"/>
                <a:ea typeface="Calibri" pitchFamily="34" charset="-122"/>
                <a:cs typeface="Calibri" pitchFamily="34" charset="-120"/>
              </a:rPr>
              <a:t>IN THE HUB, RARELY</a:t>
            </a:r>
            <a:endParaRPr lang="en-US" sz="1200" dirty="0"/>
          </a:p>
        </p:txBody>
      </p:sp>
      <p:sp>
        <p:nvSpPr>
          <p:cNvPr id="31" name="Text 29"/>
          <p:cNvSpPr/>
          <p:nvPr/>
        </p:nvSpPr>
        <p:spPr>
          <a:xfrm>
            <a:off x="8881567" y="2176272"/>
            <a:ext cx="2560320"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Multimodal reasoning for the ambiguous and the unusual</a:t>
            </a:r>
            <a:endParaRPr lang="en-US" sz="1400" dirty="0"/>
          </a:p>
        </p:txBody>
      </p:sp>
      <p:sp>
        <p:nvSpPr>
          <p:cNvPr id="32" name="Shape 30"/>
          <p:cNvSpPr/>
          <p:nvPr/>
        </p:nvSpPr>
        <p:spPr>
          <a:xfrm>
            <a:off x="8881567" y="3035808"/>
            <a:ext cx="2560320" cy="365760"/>
          </a:xfrm>
          <a:prstGeom prst="roundRect">
            <a:avLst>
              <a:gd name="adj" fmla="val 25000"/>
            </a:avLst>
          </a:prstGeom>
          <a:solidFill>
            <a:srgbClr val="1E293B"/>
          </a:solidFill>
          <a:ln w="12700">
            <a:solidFill>
              <a:srgbClr val="333333"/>
            </a:solidFill>
            <a:prstDash val="solid"/>
          </a:ln>
        </p:spPr>
      </p:sp>
      <p:sp>
        <p:nvSpPr>
          <p:cNvPr id="33" name="Text 31"/>
          <p:cNvSpPr/>
          <p:nvPr/>
        </p:nvSpPr>
        <p:spPr>
          <a:xfrm>
            <a:off x="8881567" y="3035808"/>
            <a:ext cx="25603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Called on a small minority</a:t>
            </a:r>
            <a:endParaRPr lang="en-US" sz="1400" dirty="0"/>
          </a:p>
        </p:txBody>
      </p:sp>
      <p:sp>
        <p:nvSpPr>
          <p:cNvPr id="34" name="Shape 32"/>
          <p:cNvSpPr/>
          <p:nvPr/>
        </p:nvSpPr>
        <p:spPr>
          <a:xfrm>
            <a:off x="10051999" y="3657600"/>
            <a:ext cx="219456" cy="365760"/>
          </a:xfrm>
          <a:prstGeom prst="downArrow">
            <a:avLst/>
          </a:prstGeom>
          <a:solidFill>
            <a:srgbClr val="166534"/>
          </a:solidFill>
          <a:ln w="12700">
            <a:solidFill>
              <a:srgbClr val="333333"/>
            </a:solidFill>
            <a:prstDash val="solid"/>
          </a:ln>
        </p:spPr>
      </p:sp>
      <p:sp>
        <p:nvSpPr>
          <p:cNvPr id="35" name="Shape 33"/>
          <p:cNvSpPr/>
          <p:nvPr/>
        </p:nvSpPr>
        <p:spPr>
          <a:xfrm>
            <a:off x="566928" y="4096512"/>
            <a:ext cx="11057839" cy="1024128"/>
          </a:xfrm>
          <a:prstGeom prst="roundRect">
            <a:avLst>
              <a:gd name="adj" fmla="val 4464"/>
            </a:avLst>
          </a:prstGeom>
          <a:solidFill>
            <a:srgbClr val="F0FDF4"/>
          </a:solidFill>
          <a:ln w="12700">
            <a:solidFill>
              <a:srgbClr val="CBD5E1"/>
            </a:solidFill>
            <a:prstDash val="solid"/>
          </a:ln>
        </p:spPr>
      </p:sp>
      <p:sp>
        <p:nvSpPr>
          <p:cNvPr id="36" name="Shape 34"/>
          <p:cNvSpPr/>
          <p:nvPr/>
        </p:nvSpPr>
        <p:spPr>
          <a:xfrm>
            <a:off x="566928" y="4096512"/>
            <a:ext cx="82296" cy="1024128"/>
          </a:xfrm>
          <a:prstGeom prst="rect">
            <a:avLst/>
          </a:prstGeom>
          <a:solidFill>
            <a:srgbClr val="166534"/>
          </a:solidFill>
          <a:ln w="12700">
            <a:solidFill>
              <a:srgbClr val="333333"/>
            </a:solidFill>
            <a:prstDash val="solid"/>
          </a:ln>
        </p:spPr>
      </p:sp>
      <p:sp>
        <p:nvSpPr>
          <p:cNvPr id="37" name="Text 35"/>
          <p:cNvSpPr/>
          <p:nvPr/>
        </p:nvSpPr>
        <p:spPr>
          <a:xfrm>
            <a:off x="841248" y="4187952"/>
            <a:ext cx="10509199" cy="256032"/>
          </a:xfrm>
          <a:prstGeom prst="rect">
            <a:avLst/>
          </a:prstGeom>
          <a:noFill/>
          <a:ln/>
        </p:spPr>
        <p:txBody>
          <a:bodyPr wrap="square" lIns="0" tIns="0" rIns="0" bIns="0" rtlCol="0" anchor="ctr"/>
          <a:lstStyle/>
          <a:p>
            <a:pPr indent="0" marL="0">
              <a:buNone/>
            </a:pPr>
            <a:r>
              <a:rPr lang="en-US" sz="1200" b="1" spc="100" kern="0" dirty="0">
                <a:solidFill>
                  <a:srgbClr val="166534"/>
                </a:solidFill>
                <a:latin typeface="Calibri" pitchFamily="34" charset="0"/>
                <a:ea typeface="Calibri" pitchFamily="34" charset="-122"/>
                <a:cs typeface="Calibri" pitchFamily="34" charset="-120"/>
              </a:rPr>
              <a:t>THE SAFETY PATH RUNS UNDER ALL THREE TIERS AND NEVER CALLS ANYTHING UP</a:t>
            </a:r>
            <a:endParaRPr lang="en-US" sz="1200" dirty="0"/>
          </a:p>
        </p:txBody>
      </p:sp>
      <p:sp>
        <p:nvSpPr>
          <p:cNvPr id="38" name="Text 36"/>
          <p:cNvSpPr/>
          <p:nvPr/>
        </p:nvSpPr>
        <p:spPr>
          <a:xfrm>
            <a:off x="841248" y="4462272"/>
            <a:ext cx="10509199" cy="548640"/>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Hard safety rules, state estimation, path planning and flight control are local and deterministic. If the link drops mid flight the aircraft finishes vision only and lands. A network outage is a slower delivery, never an unsafe one.</a:t>
            </a:r>
            <a:endParaRPr lang="en-US" sz="1400" dirty="0"/>
          </a:p>
        </p:txBody>
      </p:sp>
      <p:sp>
        <p:nvSpPr>
          <p:cNvPr id="39" name="Text 37"/>
          <p:cNvSpPr/>
          <p:nvPr/>
        </p:nvSpPr>
        <p:spPr>
          <a:xfrm>
            <a:off x="566928" y="5468112"/>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The expensive model is the exception, not the rule. That is the whole design.</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Technology: Vision, Jev and GLM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Four architectures, plotted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Our choice is the only point in the cheap corner that still covers the hard case</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12</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1435608" y="1499616"/>
            <a:ext cx="10006279" cy="3246120"/>
          </a:xfrm>
          <a:prstGeom prst="rect">
            <a:avLst/>
          </a:prstGeom>
          <a:solidFill>
            <a:srgbClr val="F8FAFC"/>
          </a:solidFill>
          <a:ln w="12700">
            <a:solidFill>
              <a:srgbClr val="E2E8F0"/>
            </a:solidFill>
            <a:prstDash val="solid"/>
          </a:ln>
        </p:spPr>
      </p:sp>
      <p:sp>
        <p:nvSpPr>
          <p:cNvPr id="8" name="Shape 6"/>
          <p:cNvSpPr/>
          <p:nvPr/>
        </p:nvSpPr>
        <p:spPr>
          <a:xfrm>
            <a:off x="1435608" y="1499616"/>
            <a:ext cx="5003140" cy="1623060"/>
          </a:xfrm>
          <a:prstGeom prst="rect">
            <a:avLst/>
          </a:prstGeom>
          <a:solidFill>
            <a:srgbClr val="FFFFFF"/>
          </a:solidFill>
          <a:ln w="12700">
            <a:solidFill>
              <a:srgbClr val="E2E8F0"/>
            </a:solidFill>
            <a:prstDash val="solid"/>
          </a:ln>
        </p:spPr>
      </p:sp>
      <p:sp>
        <p:nvSpPr>
          <p:cNvPr id="9" name="Shape 7"/>
          <p:cNvSpPr/>
          <p:nvPr/>
        </p:nvSpPr>
        <p:spPr>
          <a:xfrm>
            <a:off x="1435608" y="3122676"/>
            <a:ext cx="10006279" cy="0"/>
          </a:xfrm>
          <a:prstGeom prst="line">
            <a:avLst/>
          </a:prstGeom>
          <a:noFill/>
          <a:ln w="12700">
            <a:solidFill>
              <a:srgbClr val="CBD5E1"/>
            </a:solidFill>
            <a:prstDash val="solid"/>
          </a:ln>
        </p:spPr>
      </p:sp>
      <p:sp>
        <p:nvSpPr>
          <p:cNvPr id="10" name="Shape 8"/>
          <p:cNvSpPr/>
          <p:nvPr/>
        </p:nvSpPr>
        <p:spPr>
          <a:xfrm>
            <a:off x="6438748" y="1499616"/>
            <a:ext cx="0" cy="3246120"/>
          </a:xfrm>
          <a:prstGeom prst="line">
            <a:avLst/>
          </a:prstGeom>
          <a:noFill/>
          <a:ln w="12700">
            <a:solidFill>
              <a:srgbClr val="CBD5E1"/>
            </a:solidFill>
            <a:prstDash val="solid"/>
          </a:ln>
        </p:spPr>
      </p:sp>
      <p:sp>
        <p:nvSpPr>
          <p:cNvPr id="11" name="Text 9"/>
          <p:cNvSpPr/>
          <p:nvPr/>
        </p:nvSpPr>
        <p:spPr>
          <a:xfrm>
            <a:off x="1435608" y="1225296"/>
            <a:ext cx="10006279" cy="237744"/>
          </a:xfrm>
          <a:prstGeom prst="rect">
            <a:avLst/>
          </a:prstGeom>
          <a:noFill/>
          <a:ln/>
        </p:spPr>
        <p:txBody>
          <a:bodyPr wrap="square" lIns="0" tIns="0" rIns="0" bIns="0" rtlCol="0" anchor="ctr"/>
          <a:lstStyle/>
          <a:p>
            <a:pPr algn="ctr" indent="0" marL="0">
              <a:buNone/>
            </a:pPr>
            <a:r>
              <a:rPr lang="en-US" sz="1200" b="1" spc="100" kern="0" dirty="0">
                <a:solidFill>
                  <a:srgbClr val="64748B"/>
                </a:solidFill>
                <a:latin typeface="Calibri" pitchFamily="34" charset="0"/>
                <a:ea typeface="Calibri" pitchFamily="34" charset="-122"/>
                <a:cs typeface="Calibri" pitchFamily="34" charset="-120"/>
              </a:rPr>
              <a:t>HANDLES THE HARD CASE</a:t>
            </a:r>
            <a:endParaRPr lang="en-US" sz="1200" dirty="0"/>
          </a:p>
        </p:txBody>
      </p:sp>
      <p:sp>
        <p:nvSpPr>
          <p:cNvPr id="12" name="Text 10"/>
          <p:cNvSpPr/>
          <p:nvPr/>
        </p:nvSpPr>
        <p:spPr>
          <a:xfrm>
            <a:off x="1435608" y="4800600"/>
            <a:ext cx="10006279" cy="237744"/>
          </a:xfrm>
          <a:prstGeom prst="rect">
            <a:avLst/>
          </a:prstGeom>
          <a:noFill/>
          <a:ln/>
        </p:spPr>
        <p:txBody>
          <a:bodyPr wrap="square" lIns="0" tIns="0" rIns="0" bIns="0" rtlCol="0" anchor="ctr"/>
          <a:lstStyle/>
          <a:p>
            <a:pPr algn="ctr" indent="0" marL="0">
              <a:buNone/>
            </a:pPr>
            <a:r>
              <a:rPr lang="en-US" sz="1200" b="1" spc="100" kern="0" dirty="0">
                <a:solidFill>
                  <a:srgbClr val="64748B"/>
                </a:solidFill>
                <a:latin typeface="Calibri" pitchFamily="34" charset="0"/>
                <a:ea typeface="Calibri" pitchFamily="34" charset="-122"/>
                <a:cs typeface="Calibri" pitchFamily="34" charset="-120"/>
              </a:rPr>
              <a:t>RESPONSE LATENCY  →</a:t>
            </a:r>
            <a:endParaRPr lang="en-US" sz="1200" dirty="0"/>
          </a:p>
        </p:txBody>
      </p:sp>
      <p:sp>
        <p:nvSpPr>
          <p:cNvPr id="13" name="Text 11"/>
          <p:cNvSpPr/>
          <p:nvPr/>
        </p:nvSpPr>
        <p:spPr>
          <a:xfrm>
            <a:off x="1508760" y="4453128"/>
            <a:ext cx="548640" cy="219456"/>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no</a:t>
            </a:r>
            <a:endParaRPr lang="en-US" sz="1200" dirty="0"/>
          </a:p>
        </p:txBody>
      </p:sp>
      <p:sp>
        <p:nvSpPr>
          <p:cNvPr id="14" name="Text 12"/>
          <p:cNvSpPr/>
          <p:nvPr/>
        </p:nvSpPr>
        <p:spPr>
          <a:xfrm>
            <a:off x="1508760" y="1572768"/>
            <a:ext cx="548640" cy="219456"/>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yes</a:t>
            </a:r>
            <a:endParaRPr lang="en-US" sz="1200" dirty="0"/>
          </a:p>
        </p:txBody>
      </p:sp>
      <p:sp>
        <p:nvSpPr>
          <p:cNvPr id="15" name="Shape 13"/>
          <p:cNvSpPr/>
          <p:nvPr/>
        </p:nvSpPr>
        <p:spPr>
          <a:xfrm>
            <a:off x="2239000" y="3833165"/>
            <a:ext cx="2395728" cy="786384"/>
          </a:xfrm>
          <a:prstGeom prst="roundRect">
            <a:avLst>
              <a:gd name="adj" fmla="val 581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6" name="Text 14"/>
          <p:cNvSpPr/>
          <p:nvPr/>
        </p:nvSpPr>
        <p:spPr>
          <a:xfrm>
            <a:off x="2348728" y="3906317"/>
            <a:ext cx="217627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only</a:t>
            </a:r>
            <a:endParaRPr lang="en-US" sz="1600" dirty="0"/>
          </a:p>
        </p:txBody>
      </p:sp>
      <p:sp>
        <p:nvSpPr>
          <p:cNvPr id="17" name="Text 15"/>
          <p:cNvSpPr/>
          <p:nvPr/>
        </p:nvSpPr>
        <p:spPr>
          <a:xfrm>
            <a:off x="2348728" y="4217213"/>
            <a:ext cx="2176272" cy="329184"/>
          </a:xfrm>
          <a:prstGeom prst="rect">
            <a:avLst/>
          </a:prstGeom>
          <a:noFill/>
          <a:ln/>
        </p:spPr>
        <p:txBody>
          <a:bodyPr wrap="square" lIns="0" tIns="0" rIns="0" bIns="0" rtlCol="0" anchor="t"/>
          <a:lstStyle/>
          <a:p>
            <a:pPr indent="0" marL="0">
              <a:lnSpc>
                <a:spcPts val="1500"/>
              </a:lnSpc>
              <a:buNone/>
            </a:pPr>
            <a:r>
              <a:rPr lang="en-US" sz="1200" dirty="0">
                <a:solidFill>
                  <a:srgbClr val="64748B"/>
                </a:solidFill>
                <a:latin typeface="Calibri" pitchFamily="34" charset="0"/>
                <a:ea typeface="Calibri" pitchFamily="34" charset="-122"/>
                <a:cs typeface="Calibri" pitchFamily="34" charset="-120"/>
              </a:rPr>
              <a:t>Leaves the hard case unsolved</a:t>
            </a:r>
            <a:endParaRPr lang="en-US" sz="1200" dirty="0"/>
          </a:p>
        </p:txBody>
      </p:sp>
      <p:sp>
        <p:nvSpPr>
          <p:cNvPr id="18" name="Shape 16"/>
          <p:cNvSpPr/>
          <p:nvPr/>
        </p:nvSpPr>
        <p:spPr>
          <a:xfrm>
            <a:off x="8142705" y="1755648"/>
            <a:ext cx="2395728" cy="786384"/>
          </a:xfrm>
          <a:prstGeom prst="roundRect">
            <a:avLst>
              <a:gd name="adj" fmla="val 581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9" name="Text 17"/>
          <p:cNvSpPr/>
          <p:nvPr/>
        </p:nvSpPr>
        <p:spPr>
          <a:xfrm>
            <a:off x="8252433" y="1828800"/>
            <a:ext cx="217627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and GLM</a:t>
            </a:r>
            <a:endParaRPr lang="en-US" sz="1600" dirty="0"/>
          </a:p>
        </p:txBody>
      </p:sp>
      <p:sp>
        <p:nvSpPr>
          <p:cNvPr id="20" name="Text 18"/>
          <p:cNvSpPr/>
          <p:nvPr/>
        </p:nvSpPr>
        <p:spPr>
          <a:xfrm>
            <a:off x="8252433" y="2139696"/>
            <a:ext cx="2176272" cy="329184"/>
          </a:xfrm>
          <a:prstGeom prst="rect">
            <a:avLst/>
          </a:prstGeom>
          <a:noFill/>
          <a:ln/>
        </p:spPr>
        <p:txBody>
          <a:bodyPr wrap="square" lIns="0" tIns="0" rIns="0" bIns="0" rtlCol="0" anchor="t"/>
          <a:lstStyle/>
          <a:p>
            <a:pPr indent="0" marL="0">
              <a:lnSpc>
                <a:spcPts val="1500"/>
              </a:lnSpc>
              <a:buNone/>
            </a:pPr>
            <a:r>
              <a:rPr lang="en-US" sz="1200" dirty="0">
                <a:solidFill>
                  <a:srgbClr val="64748B"/>
                </a:solidFill>
                <a:latin typeface="Calibri" pitchFamily="34" charset="0"/>
                <a:ea typeface="Calibri" pitchFamily="34" charset="-122"/>
                <a:cs typeface="Calibri" pitchFamily="34" charset="-120"/>
              </a:rPr>
              <a:t>Covers it, but slow and pricey</a:t>
            </a:r>
            <a:endParaRPr lang="en-US" sz="1200" dirty="0"/>
          </a:p>
        </p:txBody>
      </p:sp>
      <p:sp>
        <p:nvSpPr>
          <p:cNvPr id="21" name="Shape 19"/>
          <p:cNvSpPr/>
          <p:nvPr/>
        </p:nvSpPr>
        <p:spPr>
          <a:xfrm>
            <a:off x="2839377" y="2729484"/>
            <a:ext cx="2395728" cy="786384"/>
          </a:xfrm>
          <a:prstGeom prst="roundRect">
            <a:avLst>
              <a:gd name="adj" fmla="val 581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2" name="Text 20"/>
          <p:cNvSpPr/>
          <p:nvPr/>
        </p:nvSpPr>
        <p:spPr>
          <a:xfrm>
            <a:off x="2949105" y="2802636"/>
            <a:ext cx="217627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and Jev</a:t>
            </a:r>
            <a:endParaRPr lang="en-US" sz="1600" dirty="0"/>
          </a:p>
        </p:txBody>
      </p:sp>
      <p:sp>
        <p:nvSpPr>
          <p:cNvPr id="23" name="Text 21"/>
          <p:cNvSpPr/>
          <p:nvPr/>
        </p:nvSpPr>
        <p:spPr>
          <a:xfrm>
            <a:off x="2949105" y="3113532"/>
            <a:ext cx="2176272" cy="329184"/>
          </a:xfrm>
          <a:prstGeom prst="rect">
            <a:avLst/>
          </a:prstGeom>
          <a:noFill/>
          <a:ln/>
        </p:spPr>
        <p:txBody>
          <a:bodyPr wrap="square" lIns="0" tIns="0" rIns="0" bIns="0" rtlCol="0" anchor="t"/>
          <a:lstStyle/>
          <a:p>
            <a:pPr indent="0" marL="0">
              <a:lnSpc>
                <a:spcPts val="1500"/>
              </a:lnSpc>
              <a:buNone/>
            </a:pPr>
            <a:r>
              <a:rPr lang="en-US" sz="1200" dirty="0">
                <a:solidFill>
                  <a:srgbClr val="64748B"/>
                </a:solidFill>
                <a:latin typeface="Calibri" pitchFamily="34" charset="0"/>
                <a:ea typeface="Calibri" pitchFamily="34" charset="-122"/>
                <a:cs typeface="Calibri" pitchFamily="34" charset="-120"/>
              </a:rPr>
              <a:t>Fast, but no fallback when odd</a:t>
            </a:r>
            <a:endParaRPr lang="en-US" sz="1200" dirty="0"/>
          </a:p>
        </p:txBody>
      </p:sp>
      <p:sp>
        <p:nvSpPr>
          <p:cNvPr id="24" name="Shape 22"/>
          <p:cNvSpPr/>
          <p:nvPr/>
        </p:nvSpPr>
        <p:spPr>
          <a:xfrm>
            <a:off x="3639879" y="1593342"/>
            <a:ext cx="2395728" cy="786384"/>
          </a:xfrm>
          <a:prstGeom prst="roundRect">
            <a:avLst>
              <a:gd name="adj" fmla="val 5814"/>
            </a:avLst>
          </a:prstGeom>
          <a:solidFill>
            <a:srgbClr val="800020"/>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25" name="Text 23"/>
          <p:cNvSpPr/>
          <p:nvPr/>
        </p:nvSpPr>
        <p:spPr>
          <a:xfrm>
            <a:off x="3749607" y="1666494"/>
            <a:ext cx="2176272" cy="292608"/>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Vision, Jev and GLM</a:t>
            </a:r>
            <a:endParaRPr lang="en-US" sz="1600" dirty="0"/>
          </a:p>
        </p:txBody>
      </p:sp>
      <p:sp>
        <p:nvSpPr>
          <p:cNvPr id="26" name="Text 24"/>
          <p:cNvSpPr/>
          <p:nvPr/>
        </p:nvSpPr>
        <p:spPr>
          <a:xfrm>
            <a:off x="3749607" y="1977390"/>
            <a:ext cx="2176272" cy="329184"/>
          </a:xfrm>
          <a:prstGeom prst="rect">
            <a:avLst/>
          </a:prstGeom>
          <a:noFill/>
          <a:ln/>
        </p:spPr>
        <p:txBody>
          <a:bodyPr wrap="square" lIns="0" tIns="0" rIns="0" bIns="0" rtlCol="0" anchor="t"/>
          <a:lstStyle/>
          <a:p>
            <a:pPr indent="0" marL="0">
              <a:lnSpc>
                <a:spcPts val="1500"/>
              </a:lnSpc>
              <a:buNone/>
            </a:pPr>
            <a:r>
              <a:rPr lang="en-US" sz="1200" dirty="0">
                <a:solidFill>
                  <a:srgbClr val="FDE8EA"/>
                </a:solidFill>
                <a:latin typeface="Calibri" pitchFamily="34" charset="0"/>
                <a:ea typeface="Calibri" pitchFamily="34" charset="-122"/>
                <a:cs typeface="Calibri" pitchFamily="34" charset="-120"/>
              </a:rPr>
              <a:t>Escalation only, so GLM is rare</a:t>
            </a:r>
            <a:endParaRPr lang="en-US" sz="1200" dirty="0"/>
          </a:p>
        </p:txBody>
      </p:sp>
      <p:sp>
        <p:nvSpPr>
          <p:cNvPr id="27" name="Text 25"/>
          <p:cNvSpPr/>
          <p:nvPr/>
        </p:nvSpPr>
        <p:spPr>
          <a:xfrm>
            <a:off x="566928" y="5468112"/>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Only one point sits high on coverage and low on latency at the same time. That is the architecture we build.</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3. Technology: Vision, Jev and GLM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GLM-5.3-Flash and Jev, chosen on licence and cost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One vendor we own, one vendor we rent, and escalation in between</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Z.ai model documentation and release announcement, Hugging Face model card, TypeSafe AI Jev documentation, Artificial Analysis, JevBench. Release dates and prices as at October 2026</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13</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8" name="Shape 6"/>
          <p:cNvSpPr/>
          <p:nvPr/>
        </p:nvSpPr>
        <p:spPr>
          <a:xfrm>
            <a:off x="566928" y="1298448"/>
            <a:ext cx="5577840" cy="2907792"/>
          </a:xfrm>
          <a:prstGeom prst="roundRect">
            <a:avLst>
              <a:gd name="adj" fmla="val 1572"/>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9" name="Text 7"/>
          <p:cNvSpPr/>
          <p:nvPr/>
        </p:nvSpPr>
        <p:spPr>
          <a:xfrm>
            <a:off x="749808" y="1426464"/>
            <a:ext cx="5212080" cy="347472"/>
          </a:xfrm>
          <a:prstGeom prst="rect">
            <a:avLst/>
          </a:prstGeom>
          <a:noFill/>
          <a:ln/>
        </p:spPr>
        <p:txBody>
          <a:bodyPr wrap="square" lIns="0" tIns="0" rIns="0" bIns="0" rtlCol="0" anchor="ctr"/>
          <a:lstStyle/>
          <a:p>
            <a:pPr indent="0" marL="0">
              <a:buNone/>
            </a:pPr>
            <a:r>
              <a:rPr lang="en-US" sz="1900" b="1" dirty="0">
                <a:solidFill>
                  <a:srgbClr val="800020"/>
                </a:solidFill>
                <a:latin typeface="Century Schoolbook" pitchFamily="34" charset="0"/>
                <a:ea typeface="Century Schoolbook" pitchFamily="34" charset="-122"/>
                <a:cs typeface="Century Schoolbook" pitchFamily="34" charset="-120"/>
              </a:rPr>
              <a:t>GLM-5.3-Flash, Z.ai</a:t>
            </a:r>
            <a:endParaRPr lang="en-US" sz="1900" dirty="0"/>
          </a:p>
        </p:txBody>
      </p:sp>
      <p:sp>
        <p:nvSpPr>
          <p:cNvPr id="10" name="Shape 8"/>
          <p:cNvSpPr/>
          <p:nvPr/>
        </p:nvSpPr>
        <p:spPr>
          <a:xfrm>
            <a:off x="749808" y="1810512"/>
            <a:ext cx="5212080" cy="27432"/>
          </a:xfrm>
          <a:prstGeom prst="rect">
            <a:avLst/>
          </a:prstGeom>
          <a:solidFill>
            <a:srgbClr val="CBD5E1"/>
          </a:solidFill>
          <a:ln w="12700">
            <a:solidFill>
              <a:srgbClr val="333333"/>
            </a:solidFill>
            <a:prstDash val="solid"/>
          </a:ln>
        </p:spPr>
      </p:sp>
      <p:sp>
        <p:nvSpPr>
          <p:cNvPr id="11" name="Text 9"/>
          <p:cNvSpPr/>
          <p:nvPr/>
        </p:nvSpPr>
        <p:spPr>
          <a:xfrm>
            <a:off x="749808" y="1901952"/>
            <a:ext cx="5212080"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Licence and access</a:t>
            </a:r>
            <a:endParaRPr lang="en-US" sz="1200" dirty="0"/>
          </a:p>
        </p:txBody>
      </p:sp>
      <p:sp>
        <p:nvSpPr>
          <p:cNvPr id="12" name="Text 10"/>
          <p:cNvSpPr/>
          <p:nvPr/>
        </p:nvSpPr>
        <p:spPr>
          <a:xfrm>
            <a:off x="749808" y="2112264"/>
            <a:ext cx="5212080"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MIT licence, weights ungated on Hugging Face, commercial use permitted</a:t>
            </a:r>
            <a:endParaRPr lang="en-US" sz="1400" dirty="0"/>
          </a:p>
        </p:txBody>
      </p:sp>
      <p:sp>
        <p:nvSpPr>
          <p:cNvPr id="13" name="Text 11"/>
          <p:cNvSpPr/>
          <p:nvPr/>
        </p:nvSpPr>
        <p:spPr>
          <a:xfrm>
            <a:off x="749808" y="2468880"/>
            <a:ext cx="5212080"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Cost to us</a:t>
            </a:r>
            <a:endParaRPr lang="en-US" sz="1200" dirty="0"/>
          </a:p>
        </p:txBody>
      </p:sp>
      <p:sp>
        <p:nvSpPr>
          <p:cNvPr id="14" name="Text 12"/>
          <p:cNvSpPr/>
          <p:nvPr/>
        </p:nvSpPr>
        <p:spPr>
          <a:xfrm>
            <a:off x="749808" y="2679192"/>
            <a:ext cx="5212080"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About $0.075 per million input and $0.25 per million output tokens</a:t>
            </a:r>
            <a:endParaRPr lang="en-US" sz="1400" dirty="0"/>
          </a:p>
        </p:txBody>
      </p:sp>
      <p:sp>
        <p:nvSpPr>
          <p:cNvPr id="15" name="Text 13"/>
          <p:cNvSpPr/>
          <p:nvPr/>
        </p:nvSpPr>
        <p:spPr>
          <a:xfrm>
            <a:off x="749808" y="3035808"/>
            <a:ext cx="5212080"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Why this model</a:t>
            </a:r>
            <a:endParaRPr lang="en-US" sz="1200" dirty="0"/>
          </a:p>
        </p:txBody>
      </p:sp>
      <p:sp>
        <p:nvSpPr>
          <p:cNvPr id="16" name="Text 14"/>
          <p:cNvSpPr/>
          <p:nvPr/>
        </p:nvSpPr>
        <p:spPr>
          <a:xfrm>
            <a:off x="749808" y="3246120"/>
            <a:ext cx="5212080"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Intelligence index 57, against a median near 27 for open weight peers</a:t>
            </a:r>
            <a:endParaRPr lang="en-US" sz="1400" dirty="0"/>
          </a:p>
        </p:txBody>
      </p:sp>
      <p:sp>
        <p:nvSpPr>
          <p:cNvPr id="17" name="Text 15"/>
          <p:cNvSpPr/>
          <p:nvPr/>
        </p:nvSpPr>
        <p:spPr>
          <a:xfrm>
            <a:off x="749808" y="3602736"/>
            <a:ext cx="5212080"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Control we keep</a:t>
            </a:r>
            <a:endParaRPr lang="en-US" sz="1200" dirty="0"/>
          </a:p>
        </p:txBody>
      </p:sp>
      <p:sp>
        <p:nvSpPr>
          <p:cNvPr id="18" name="Text 16"/>
          <p:cNvSpPr/>
          <p:nvPr/>
        </p:nvSpPr>
        <p:spPr>
          <a:xfrm>
            <a:off x="749808" y="3813048"/>
            <a:ext cx="5212080"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Reasoning effort is capped, so a hard flight cannot bill without limit</a:t>
            </a:r>
            <a:endParaRPr lang="en-US" sz="1400" dirty="0"/>
          </a:p>
        </p:txBody>
      </p:sp>
      <p:sp>
        <p:nvSpPr>
          <p:cNvPr id="19" name="Shape 17"/>
          <p:cNvSpPr/>
          <p:nvPr/>
        </p:nvSpPr>
        <p:spPr>
          <a:xfrm>
            <a:off x="6419088" y="1298448"/>
            <a:ext cx="5202936" cy="2907792"/>
          </a:xfrm>
          <a:prstGeom prst="roundRect">
            <a:avLst>
              <a:gd name="adj" fmla="val 1572"/>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6601968" y="1426464"/>
            <a:ext cx="4837176" cy="347472"/>
          </a:xfrm>
          <a:prstGeom prst="rect">
            <a:avLst/>
          </a:prstGeom>
          <a:noFill/>
          <a:ln/>
        </p:spPr>
        <p:txBody>
          <a:bodyPr wrap="square" lIns="0" tIns="0" rIns="0" bIns="0" rtlCol="0" anchor="ctr"/>
          <a:lstStyle/>
          <a:p>
            <a:pPr indent="0" marL="0">
              <a:buNone/>
            </a:pPr>
            <a:r>
              <a:rPr lang="en-US" sz="1900" b="1" dirty="0">
                <a:solidFill>
                  <a:srgbClr val="B45309"/>
                </a:solidFill>
                <a:latin typeface="Century Schoolbook" pitchFamily="34" charset="0"/>
                <a:ea typeface="Century Schoolbook" pitchFamily="34" charset="-122"/>
                <a:cs typeface="Century Schoolbook" pitchFamily="34" charset="-120"/>
              </a:rPr>
              <a:t>Jev, TypeSafe AI</a:t>
            </a:r>
            <a:endParaRPr lang="en-US" sz="1900" dirty="0"/>
          </a:p>
        </p:txBody>
      </p:sp>
      <p:sp>
        <p:nvSpPr>
          <p:cNvPr id="21" name="Shape 19"/>
          <p:cNvSpPr/>
          <p:nvPr/>
        </p:nvSpPr>
        <p:spPr>
          <a:xfrm>
            <a:off x="6601968" y="1810512"/>
            <a:ext cx="4837176" cy="27432"/>
          </a:xfrm>
          <a:prstGeom prst="rect">
            <a:avLst/>
          </a:prstGeom>
          <a:solidFill>
            <a:srgbClr val="CBD5E1"/>
          </a:solidFill>
          <a:ln w="12700">
            <a:solidFill>
              <a:srgbClr val="333333"/>
            </a:solidFill>
            <a:prstDash val="solid"/>
          </a:ln>
        </p:spPr>
      </p:sp>
      <p:sp>
        <p:nvSpPr>
          <p:cNvPr id="22" name="Text 20"/>
          <p:cNvSpPr/>
          <p:nvPr/>
        </p:nvSpPr>
        <p:spPr>
          <a:xfrm>
            <a:off x="6601968" y="1901952"/>
            <a:ext cx="4837176"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Licence and access</a:t>
            </a:r>
            <a:endParaRPr lang="en-US" sz="1200" dirty="0"/>
          </a:p>
        </p:txBody>
      </p:sp>
      <p:sp>
        <p:nvSpPr>
          <p:cNvPr id="23" name="Text 21"/>
          <p:cNvSpPr/>
          <p:nvPr/>
        </p:nvSpPr>
        <p:spPr>
          <a:xfrm>
            <a:off x="6601968" y="2112264"/>
            <a:ext cx="4837176"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Proprietary and hosted. No public weights, so no self hosting</a:t>
            </a:r>
            <a:endParaRPr lang="en-US" sz="1400" dirty="0"/>
          </a:p>
        </p:txBody>
      </p:sp>
      <p:sp>
        <p:nvSpPr>
          <p:cNvPr id="24" name="Text 22"/>
          <p:cNvSpPr/>
          <p:nvPr/>
        </p:nvSpPr>
        <p:spPr>
          <a:xfrm>
            <a:off x="6601968" y="2468880"/>
            <a:ext cx="4837176"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Cost to us</a:t>
            </a:r>
            <a:endParaRPr lang="en-US" sz="1200" dirty="0"/>
          </a:p>
        </p:txBody>
      </p:sp>
      <p:sp>
        <p:nvSpPr>
          <p:cNvPr id="25" name="Text 23"/>
          <p:cNvSpPr/>
          <p:nvPr/>
        </p:nvSpPr>
        <p:spPr>
          <a:xfrm>
            <a:off x="6601968" y="2679192"/>
            <a:ext cx="4837176"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About $0.0029 per thousand decisions on the vendor's own estimate</a:t>
            </a:r>
            <a:endParaRPr lang="en-US" sz="1400" dirty="0"/>
          </a:p>
        </p:txBody>
      </p:sp>
      <p:sp>
        <p:nvSpPr>
          <p:cNvPr id="26" name="Text 24"/>
          <p:cNvSpPr/>
          <p:nvPr/>
        </p:nvSpPr>
        <p:spPr>
          <a:xfrm>
            <a:off x="6601968" y="3035808"/>
            <a:ext cx="4837176"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Why this model</a:t>
            </a:r>
            <a:endParaRPr lang="en-US" sz="1200" dirty="0"/>
          </a:p>
        </p:txBody>
      </p:sp>
      <p:sp>
        <p:nvSpPr>
          <p:cNvPr id="27" name="Text 25"/>
          <p:cNvSpPr/>
          <p:nvPr/>
        </p:nvSpPr>
        <p:spPr>
          <a:xfrm>
            <a:off x="6601968" y="3246120"/>
            <a:ext cx="4837176"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Returns a typed action with a probability, so a flight path can act on it</a:t>
            </a:r>
            <a:endParaRPr lang="en-US" sz="1400" dirty="0"/>
          </a:p>
        </p:txBody>
      </p:sp>
      <p:sp>
        <p:nvSpPr>
          <p:cNvPr id="28" name="Text 26"/>
          <p:cNvSpPr/>
          <p:nvPr/>
        </p:nvSpPr>
        <p:spPr>
          <a:xfrm>
            <a:off x="6601968" y="3602736"/>
            <a:ext cx="4837176" cy="219456"/>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Dependency we accept</a:t>
            </a:r>
            <a:endParaRPr lang="en-US" sz="1200" dirty="0"/>
          </a:p>
        </p:txBody>
      </p:sp>
      <p:sp>
        <p:nvSpPr>
          <p:cNvPr id="29" name="Text 27"/>
          <p:cNvSpPr/>
          <p:nvPr/>
        </p:nvSpPr>
        <p:spPr>
          <a:xfrm>
            <a:off x="6601968" y="3813048"/>
            <a:ext cx="4837176" cy="365760"/>
          </a:xfrm>
          <a:prstGeom prst="rect">
            <a:avLst/>
          </a:prstGeom>
          <a:noFill/>
          <a:ln/>
        </p:spPr>
        <p:txBody>
          <a:bodyPr wrap="square" lIns="0" tIns="0" rIns="0" bIns="0" rtlCol="0" anchor="t"/>
          <a:lstStyle/>
          <a:p>
            <a:pPr indent="0" marL="0">
              <a:lnSpc>
                <a:spcPts val="1600"/>
              </a:lnSpc>
              <a:buNone/>
            </a:pPr>
            <a:r>
              <a:rPr lang="en-US" sz="1400" dirty="0">
                <a:solidFill>
                  <a:srgbClr val="334155"/>
                </a:solidFill>
                <a:latin typeface="Calibri" pitchFamily="34" charset="0"/>
                <a:ea typeface="Calibri" pitchFamily="34" charset="-122"/>
                <a:cs typeface="Calibri" pitchFamily="34" charset="-120"/>
              </a:rPr>
              <a:t>Vendor lock in on the fastest tier. A licence change would force a rebuild</a:t>
            </a:r>
            <a:endParaRPr lang="en-US" sz="1400" dirty="0"/>
          </a:p>
        </p:txBody>
      </p:sp>
      <p:sp>
        <p:nvSpPr>
          <p:cNvPr id="30" name="Text 28"/>
          <p:cNvSpPr/>
          <p:nvPr/>
        </p:nvSpPr>
        <p:spPr>
          <a:xfrm>
            <a:off x="566928" y="4334256"/>
            <a:ext cx="11057839" cy="2743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What the intelligence costs, as a share of one hub</a:t>
            </a:r>
            <a:endParaRPr lang="en-US" sz="1600" dirty="0"/>
          </a:p>
        </p:txBody>
      </p:sp>
      <p:sp>
        <p:nvSpPr>
          <p:cNvPr id="31" name="Shape 29"/>
          <p:cNvSpPr/>
          <p:nvPr/>
        </p:nvSpPr>
        <p:spPr>
          <a:xfrm>
            <a:off x="566928" y="4681728"/>
            <a:ext cx="11057839" cy="310896"/>
          </a:xfrm>
          <a:prstGeom prst="rect">
            <a:avLst/>
          </a:prstGeom>
          <a:solidFill>
            <a:srgbClr val="E2E8F0"/>
          </a:solidFill>
          <a:ln w="12700">
            <a:solidFill>
              <a:srgbClr val="333333"/>
            </a:solidFill>
            <a:prstDash val="solid"/>
          </a:ln>
        </p:spPr>
      </p:sp>
      <p:sp>
        <p:nvSpPr>
          <p:cNvPr id="32" name="Shape 30"/>
          <p:cNvSpPr/>
          <p:nvPr/>
        </p:nvSpPr>
        <p:spPr>
          <a:xfrm>
            <a:off x="566928" y="4681728"/>
            <a:ext cx="227791" cy="310896"/>
          </a:xfrm>
          <a:prstGeom prst="rect">
            <a:avLst/>
          </a:prstGeom>
          <a:solidFill>
            <a:srgbClr val="800020"/>
          </a:solidFill>
          <a:ln w="12700">
            <a:solidFill>
              <a:srgbClr val="333333"/>
            </a:solidFill>
            <a:prstDash val="solid"/>
          </a:ln>
        </p:spPr>
      </p:sp>
      <p:sp>
        <p:nvSpPr>
          <p:cNvPr id="33" name="Text 31"/>
          <p:cNvSpPr/>
          <p:nvPr/>
        </p:nvSpPr>
        <p:spPr>
          <a:xfrm>
            <a:off x="566928" y="5065776"/>
            <a:ext cx="4206240" cy="274320"/>
          </a:xfrm>
          <a:prstGeom prst="rect">
            <a:avLst/>
          </a:prstGeom>
          <a:noFill/>
          <a:ln/>
        </p:spPr>
        <p:txBody>
          <a:bodyPr wrap="square" lIns="0" tIns="0" rIns="0" bIns="0" rtlCol="0" anchor="ctr"/>
          <a:lstStyle/>
          <a:p>
            <a:pPr indent="0" marL="0">
              <a:buNone/>
            </a:pPr>
            <a:r>
              <a:rPr lang="en-US" sz="1200" b="1" dirty="0">
                <a:solidFill>
                  <a:srgbClr val="800020"/>
                </a:solidFill>
                <a:latin typeface="Calibri" pitchFamily="34" charset="0"/>
                <a:ea typeface="Calibri" pitchFamily="34" charset="-122"/>
                <a:cs typeface="Calibri" pitchFamily="34" charset="-120"/>
              </a:rPr>
              <a:t>AI inference, Tk 18,000 a month</a:t>
            </a:r>
            <a:endParaRPr lang="en-US" sz="1200" dirty="0"/>
          </a:p>
        </p:txBody>
      </p:sp>
      <p:sp>
        <p:nvSpPr>
          <p:cNvPr id="34" name="Text 32"/>
          <p:cNvSpPr/>
          <p:nvPr/>
        </p:nvSpPr>
        <p:spPr>
          <a:xfrm>
            <a:off x="4773168" y="5065776"/>
            <a:ext cx="6858000" cy="274320"/>
          </a:xfrm>
          <a:prstGeom prst="rect">
            <a:avLst/>
          </a:prstGeom>
          <a:noFill/>
          <a:ln/>
        </p:spPr>
        <p:txBody>
          <a:bodyPr wrap="square" lIns="0" tIns="0" rIns="0" bIns="0" rtlCol="0" anchor="ctr"/>
          <a:lstStyle/>
          <a:p>
            <a:pPr algn="r" indent="0" marL="0">
              <a:buNone/>
            </a:pPr>
            <a:r>
              <a:rPr lang="en-US" sz="1200" dirty="0">
                <a:solidFill>
                  <a:srgbClr val="64748B"/>
                </a:solidFill>
                <a:latin typeface="Calibri" pitchFamily="34" charset="0"/>
                <a:ea typeface="Calibri" pitchFamily="34" charset="-122"/>
                <a:cs typeface="Calibri" pitchFamily="34" charset="-120"/>
              </a:rPr>
              <a:t>Everything else in a hub, Tk 855,000</a:t>
            </a:r>
            <a:endParaRPr lang="en-US" sz="1200" dirty="0"/>
          </a:p>
        </p:txBody>
      </p:sp>
      <p:sp>
        <p:nvSpPr>
          <p:cNvPr id="35" name="Text 33"/>
          <p:cNvSpPr/>
          <p:nvPr/>
        </p:nvSpPr>
        <p:spPr>
          <a:xfrm>
            <a:off x="566928" y="5358384"/>
            <a:ext cx="11057839" cy="292608"/>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About 2 percent of a hub goes on intelligence. Escalation is what keeps it there.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Technical Safety and Navigation Risk</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Risk Analysis</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A risk without an owner and a trigger is only a worry.</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14</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Nine risks, plotted by probability and impact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Two of them sit in the corner that can end the business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15</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1801368" y="3614928"/>
            <a:ext cx="2286000" cy="1066800"/>
          </a:xfrm>
          <a:prstGeom prst="rect">
            <a:avLst/>
          </a:prstGeom>
          <a:solidFill>
            <a:srgbClr val="F8FAFC"/>
          </a:solidFill>
          <a:ln w="25400">
            <a:solidFill>
              <a:srgbClr val="FFFFFF"/>
            </a:solidFill>
            <a:prstDash val="solid"/>
          </a:ln>
        </p:spPr>
      </p:sp>
      <p:sp>
        <p:nvSpPr>
          <p:cNvPr id="8" name="Shape 6"/>
          <p:cNvSpPr/>
          <p:nvPr/>
        </p:nvSpPr>
        <p:spPr>
          <a:xfrm>
            <a:off x="4087368" y="3614928"/>
            <a:ext cx="2286000" cy="1066800"/>
          </a:xfrm>
          <a:prstGeom prst="rect">
            <a:avLst/>
          </a:prstGeom>
          <a:solidFill>
            <a:srgbClr val="F8FAFC"/>
          </a:solidFill>
          <a:ln w="25400">
            <a:solidFill>
              <a:srgbClr val="FFFFFF"/>
            </a:solidFill>
            <a:prstDash val="solid"/>
          </a:ln>
        </p:spPr>
      </p:sp>
      <p:sp>
        <p:nvSpPr>
          <p:cNvPr id="9" name="Shape 7"/>
          <p:cNvSpPr/>
          <p:nvPr/>
        </p:nvSpPr>
        <p:spPr>
          <a:xfrm>
            <a:off x="6373368" y="3614928"/>
            <a:ext cx="2286000" cy="1066800"/>
          </a:xfrm>
          <a:prstGeom prst="rect">
            <a:avLst/>
          </a:prstGeom>
          <a:solidFill>
            <a:srgbClr val="FEF3C7"/>
          </a:solidFill>
          <a:ln w="25400">
            <a:solidFill>
              <a:srgbClr val="FFFFFF"/>
            </a:solidFill>
            <a:prstDash val="solid"/>
          </a:ln>
        </p:spPr>
      </p:sp>
      <p:sp>
        <p:nvSpPr>
          <p:cNvPr id="10" name="Shape 8"/>
          <p:cNvSpPr/>
          <p:nvPr/>
        </p:nvSpPr>
        <p:spPr>
          <a:xfrm>
            <a:off x="1801368" y="2548128"/>
            <a:ext cx="2286000" cy="1066800"/>
          </a:xfrm>
          <a:prstGeom prst="rect">
            <a:avLst/>
          </a:prstGeom>
          <a:solidFill>
            <a:srgbClr val="F8FAFC"/>
          </a:solidFill>
          <a:ln w="25400">
            <a:solidFill>
              <a:srgbClr val="FFFFFF"/>
            </a:solidFill>
            <a:prstDash val="solid"/>
          </a:ln>
        </p:spPr>
      </p:sp>
      <p:sp>
        <p:nvSpPr>
          <p:cNvPr id="11" name="Shape 9"/>
          <p:cNvSpPr/>
          <p:nvPr/>
        </p:nvSpPr>
        <p:spPr>
          <a:xfrm>
            <a:off x="4087368" y="2548128"/>
            <a:ext cx="2286000" cy="1066800"/>
          </a:xfrm>
          <a:prstGeom prst="rect">
            <a:avLst/>
          </a:prstGeom>
          <a:solidFill>
            <a:srgbClr val="FEF3C7"/>
          </a:solidFill>
          <a:ln w="25400">
            <a:solidFill>
              <a:srgbClr val="FFFFFF"/>
            </a:solidFill>
            <a:prstDash val="solid"/>
          </a:ln>
        </p:spPr>
      </p:sp>
      <p:sp>
        <p:nvSpPr>
          <p:cNvPr id="12" name="Shape 10"/>
          <p:cNvSpPr/>
          <p:nvPr/>
        </p:nvSpPr>
        <p:spPr>
          <a:xfrm>
            <a:off x="6373368" y="2548128"/>
            <a:ext cx="2286000" cy="1066800"/>
          </a:xfrm>
          <a:prstGeom prst="rect">
            <a:avLst/>
          </a:prstGeom>
          <a:solidFill>
            <a:srgbClr val="FDE8EA"/>
          </a:solidFill>
          <a:ln w="25400">
            <a:solidFill>
              <a:srgbClr val="FFFFFF"/>
            </a:solidFill>
            <a:prstDash val="solid"/>
          </a:ln>
        </p:spPr>
      </p:sp>
      <p:sp>
        <p:nvSpPr>
          <p:cNvPr id="13" name="Shape 11"/>
          <p:cNvSpPr/>
          <p:nvPr/>
        </p:nvSpPr>
        <p:spPr>
          <a:xfrm>
            <a:off x="1801368" y="1481328"/>
            <a:ext cx="2286000" cy="1066800"/>
          </a:xfrm>
          <a:prstGeom prst="rect">
            <a:avLst/>
          </a:prstGeom>
          <a:solidFill>
            <a:srgbClr val="FEF3C7"/>
          </a:solidFill>
          <a:ln w="25400">
            <a:solidFill>
              <a:srgbClr val="FFFFFF"/>
            </a:solidFill>
            <a:prstDash val="solid"/>
          </a:ln>
        </p:spPr>
      </p:sp>
      <p:sp>
        <p:nvSpPr>
          <p:cNvPr id="14" name="Shape 12"/>
          <p:cNvSpPr/>
          <p:nvPr/>
        </p:nvSpPr>
        <p:spPr>
          <a:xfrm>
            <a:off x="4087368" y="1481328"/>
            <a:ext cx="2286000" cy="1066800"/>
          </a:xfrm>
          <a:prstGeom prst="rect">
            <a:avLst/>
          </a:prstGeom>
          <a:solidFill>
            <a:srgbClr val="FDE8EA"/>
          </a:solidFill>
          <a:ln w="25400">
            <a:solidFill>
              <a:srgbClr val="FFFFFF"/>
            </a:solidFill>
            <a:prstDash val="solid"/>
          </a:ln>
        </p:spPr>
      </p:sp>
      <p:sp>
        <p:nvSpPr>
          <p:cNvPr id="15" name="Shape 13"/>
          <p:cNvSpPr/>
          <p:nvPr/>
        </p:nvSpPr>
        <p:spPr>
          <a:xfrm>
            <a:off x="6373368" y="1481328"/>
            <a:ext cx="2286000" cy="1066800"/>
          </a:xfrm>
          <a:prstGeom prst="rect">
            <a:avLst/>
          </a:prstGeom>
          <a:solidFill>
            <a:srgbClr val="FDE8EA"/>
          </a:solidFill>
          <a:ln w="25400">
            <a:solidFill>
              <a:srgbClr val="FFFFFF"/>
            </a:solidFill>
            <a:prstDash val="solid"/>
          </a:ln>
        </p:spPr>
      </p:sp>
      <p:sp>
        <p:nvSpPr>
          <p:cNvPr id="16" name="Shape 14"/>
          <p:cNvSpPr/>
          <p:nvPr/>
        </p:nvSpPr>
        <p:spPr>
          <a:xfrm>
            <a:off x="1801368" y="1481328"/>
            <a:ext cx="6858000" cy="3200400"/>
          </a:xfrm>
          <a:prstGeom prst="rect">
            <a:avLst/>
          </a:prstGeom>
          <a:ln w="19050">
            <a:solidFill>
              <a:srgbClr val="CBD5E1"/>
            </a:solidFill>
            <a:prstDash val="solid"/>
          </a:ln>
        </p:spPr>
      </p:sp>
      <p:sp>
        <p:nvSpPr>
          <p:cNvPr id="17" name="Text 15"/>
          <p:cNvSpPr/>
          <p:nvPr/>
        </p:nvSpPr>
        <p:spPr>
          <a:xfrm>
            <a:off x="1801368" y="4736592"/>
            <a:ext cx="2286000" cy="237744"/>
          </a:xfrm>
          <a:prstGeom prst="rect">
            <a:avLst/>
          </a:prstGeom>
          <a:noFill/>
          <a:ln/>
        </p:spPr>
        <p:txBody>
          <a:bodyPr wrap="square" lIns="0" tIns="0" rIns="0" bIns="0" rtlCol="0" anchor="ctr"/>
          <a:lstStyle/>
          <a:p>
            <a:pPr algn="ctr" indent="0" marL="0">
              <a:buNone/>
            </a:pPr>
            <a:r>
              <a:rPr lang="en-US" sz="1200" b="1" dirty="0">
                <a:solidFill>
                  <a:srgbClr val="64748B"/>
                </a:solidFill>
                <a:latin typeface="Calibri" pitchFamily="34" charset="0"/>
                <a:ea typeface="Calibri" pitchFamily="34" charset="-122"/>
                <a:cs typeface="Calibri" pitchFamily="34" charset="-120"/>
              </a:rPr>
              <a:t>Low</a:t>
            </a:r>
            <a:endParaRPr lang="en-US" sz="1200" dirty="0"/>
          </a:p>
        </p:txBody>
      </p:sp>
      <p:sp>
        <p:nvSpPr>
          <p:cNvPr id="18" name="Text 16"/>
          <p:cNvSpPr/>
          <p:nvPr/>
        </p:nvSpPr>
        <p:spPr>
          <a:xfrm>
            <a:off x="4087368" y="4736592"/>
            <a:ext cx="2286000" cy="237744"/>
          </a:xfrm>
          <a:prstGeom prst="rect">
            <a:avLst/>
          </a:prstGeom>
          <a:noFill/>
          <a:ln/>
        </p:spPr>
        <p:txBody>
          <a:bodyPr wrap="square" lIns="0" tIns="0" rIns="0" bIns="0" rtlCol="0" anchor="ctr"/>
          <a:lstStyle/>
          <a:p>
            <a:pPr algn="ctr" indent="0" marL="0">
              <a:buNone/>
            </a:pPr>
            <a:r>
              <a:rPr lang="en-US" sz="1200" b="1" dirty="0">
                <a:solidFill>
                  <a:srgbClr val="64748B"/>
                </a:solidFill>
                <a:latin typeface="Calibri" pitchFamily="34" charset="0"/>
                <a:ea typeface="Calibri" pitchFamily="34" charset="-122"/>
                <a:cs typeface="Calibri" pitchFamily="34" charset="-120"/>
              </a:rPr>
              <a:t>Medium</a:t>
            </a:r>
            <a:endParaRPr lang="en-US" sz="1200" dirty="0"/>
          </a:p>
        </p:txBody>
      </p:sp>
      <p:sp>
        <p:nvSpPr>
          <p:cNvPr id="19" name="Text 17"/>
          <p:cNvSpPr/>
          <p:nvPr/>
        </p:nvSpPr>
        <p:spPr>
          <a:xfrm>
            <a:off x="6373368" y="4736592"/>
            <a:ext cx="2286000" cy="237744"/>
          </a:xfrm>
          <a:prstGeom prst="rect">
            <a:avLst/>
          </a:prstGeom>
          <a:noFill/>
          <a:ln/>
        </p:spPr>
        <p:txBody>
          <a:bodyPr wrap="square" lIns="0" tIns="0" rIns="0" bIns="0" rtlCol="0" anchor="ctr"/>
          <a:lstStyle/>
          <a:p>
            <a:pPr algn="ctr" indent="0" marL="0">
              <a:buNone/>
            </a:pPr>
            <a:r>
              <a:rPr lang="en-US" sz="1200" b="1" dirty="0">
                <a:solidFill>
                  <a:srgbClr val="64748B"/>
                </a:solidFill>
                <a:latin typeface="Calibri" pitchFamily="34" charset="0"/>
                <a:ea typeface="Calibri" pitchFamily="34" charset="-122"/>
                <a:cs typeface="Calibri" pitchFamily="34" charset="-120"/>
              </a:rPr>
              <a:t>High</a:t>
            </a:r>
            <a:endParaRPr lang="en-US" sz="1200" dirty="0"/>
          </a:p>
        </p:txBody>
      </p:sp>
      <p:sp>
        <p:nvSpPr>
          <p:cNvPr id="20" name="Text 18"/>
          <p:cNvSpPr/>
          <p:nvPr/>
        </p:nvSpPr>
        <p:spPr>
          <a:xfrm>
            <a:off x="612648" y="3614928"/>
            <a:ext cx="1097280" cy="106680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Medium</a:t>
            </a:r>
            <a:endParaRPr lang="en-US" sz="1200" dirty="0"/>
          </a:p>
        </p:txBody>
      </p:sp>
      <p:sp>
        <p:nvSpPr>
          <p:cNvPr id="21" name="Text 19"/>
          <p:cNvSpPr/>
          <p:nvPr/>
        </p:nvSpPr>
        <p:spPr>
          <a:xfrm>
            <a:off x="612648" y="2548128"/>
            <a:ext cx="1097280" cy="106680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High</a:t>
            </a:r>
            <a:endParaRPr lang="en-US" sz="1200" dirty="0"/>
          </a:p>
        </p:txBody>
      </p:sp>
      <p:sp>
        <p:nvSpPr>
          <p:cNvPr id="22" name="Text 20"/>
          <p:cNvSpPr/>
          <p:nvPr/>
        </p:nvSpPr>
        <p:spPr>
          <a:xfrm>
            <a:off x="612648" y="1481328"/>
            <a:ext cx="1097280" cy="1066800"/>
          </a:xfrm>
          <a:prstGeom prst="rect">
            <a:avLst/>
          </a:prstGeom>
          <a:noFill/>
          <a:ln/>
        </p:spPr>
        <p:txBody>
          <a:bodyPr wrap="square" lIns="0" tIns="0" rIns="0" bIns="0" rtlCol="0" anchor="ctr"/>
          <a:lstStyle/>
          <a:p>
            <a:pPr algn="r" indent="0" marL="0">
              <a:buNone/>
            </a:pPr>
            <a:r>
              <a:rPr lang="en-US" sz="1200" b="1" dirty="0">
                <a:solidFill>
                  <a:srgbClr val="64748B"/>
                </a:solidFill>
                <a:latin typeface="Calibri" pitchFamily="34" charset="0"/>
                <a:ea typeface="Calibri" pitchFamily="34" charset="-122"/>
                <a:cs typeface="Calibri" pitchFamily="34" charset="-120"/>
              </a:rPr>
              <a:t>Severe</a:t>
            </a:r>
            <a:endParaRPr lang="en-US" sz="1200" dirty="0"/>
          </a:p>
        </p:txBody>
      </p:sp>
      <p:sp>
        <p:nvSpPr>
          <p:cNvPr id="23" name="Text 21"/>
          <p:cNvSpPr/>
          <p:nvPr/>
        </p:nvSpPr>
        <p:spPr>
          <a:xfrm>
            <a:off x="1801368" y="4992624"/>
            <a:ext cx="6858000" cy="237744"/>
          </a:xfrm>
          <a:prstGeom prst="rect">
            <a:avLst/>
          </a:prstGeom>
          <a:noFill/>
          <a:ln/>
        </p:spPr>
        <p:txBody>
          <a:bodyPr wrap="square" lIns="0" tIns="0" rIns="0" bIns="0" rtlCol="0" anchor="ctr"/>
          <a:lstStyle/>
          <a:p>
            <a:pPr algn="ctr" indent="0" marL="0">
              <a:buNone/>
            </a:pPr>
            <a:r>
              <a:rPr lang="en-US" sz="1200" b="1" spc="100" kern="0" dirty="0">
                <a:solidFill>
                  <a:srgbClr val="64748B"/>
                </a:solidFill>
                <a:latin typeface="Calibri" pitchFamily="34" charset="0"/>
                <a:ea typeface="Calibri" pitchFamily="34" charset="-122"/>
                <a:cs typeface="Calibri" pitchFamily="34" charset="-120"/>
              </a:rPr>
              <a:t>Probability  →</a:t>
            </a:r>
            <a:endParaRPr lang="en-US" sz="1200" dirty="0"/>
          </a:p>
        </p:txBody>
      </p:sp>
      <p:sp>
        <p:nvSpPr>
          <p:cNvPr id="24" name="Text 22"/>
          <p:cNvSpPr/>
          <p:nvPr/>
        </p:nvSpPr>
        <p:spPr>
          <a:xfrm>
            <a:off x="612648" y="1188720"/>
            <a:ext cx="1097280" cy="237744"/>
          </a:xfrm>
          <a:prstGeom prst="rect">
            <a:avLst/>
          </a:prstGeom>
          <a:noFill/>
          <a:ln/>
        </p:spPr>
        <p:txBody>
          <a:bodyPr wrap="square" lIns="0" tIns="0" rIns="0" bIns="0" rtlCol="0" anchor="ctr"/>
          <a:lstStyle/>
          <a:p>
            <a:pPr algn="r" indent="0" marL="0">
              <a:buNone/>
            </a:pPr>
            <a:r>
              <a:rPr lang="en-US" sz="1200" b="1" spc="100" kern="0" dirty="0">
                <a:solidFill>
                  <a:srgbClr val="64748B"/>
                </a:solidFill>
                <a:latin typeface="Calibri" pitchFamily="34" charset="0"/>
                <a:ea typeface="Calibri" pitchFamily="34" charset="-122"/>
                <a:cs typeface="Calibri" pitchFamily="34" charset="-120"/>
              </a:rPr>
              <a:t>IMPACT</a:t>
            </a:r>
            <a:endParaRPr lang="en-US" sz="1200" dirty="0"/>
          </a:p>
        </p:txBody>
      </p:sp>
      <p:sp>
        <p:nvSpPr>
          <p:cNvPr id="25" name="Shape 23"/>
          <p:cNvSpPr/>
          <p:nvPr/>
        </p:nvSpPr>
        <p:spPr>
          <a:xfrm>
            <a:off x="4709160" y="1776984"/>
            <a:ext cx="475488" cy="475488"/>
          </a:xfrm>
          <a:prstGeom prst="ellipse">
            <a:avLst/>
          </a:prstGeom>
          <a:solidFill>
            <a:srgbClr val="FFFFFF"/>
          </a:solidFill>
          <a:ln w="25400">
            <a:solidFill>
              <a:srgbClr val="800020"/>
            </a:solidFill>
            <a:prstDash val="solid"/>
          </a:ln>
        </p:spPr>
      </p:sp>
      <p:sp>
        <p:nvSpPr>
          <p:cNvPr id="26" name="Text 24"/>
          <p:cNvSpPr/>
          <p:nvPr/>
        </p:nvSpPr>
        <p:spPr>
          <a:xfrm>
            <a:off x="4709160" y="1776984"/>
            <a:ext cx="475488" cy="475488"/>
          </a:xfrm>
          <a:prstGeom prst="rect">
            <a:avLst/>
          </a:prstGeom>
          <a:noFill/>
          <a:ln/>
        </p:spPr>
        <p:txBody>
          <a:bodyPr wrap="square" lIns="0" tIns="0" rIns="0" bIns="0" rtlCol="0" anchor="ctr"/>
          <a:lstStyle/>
          <a:p>
            <a:pPr algn="ctr" indent="0" marL="0">
              <a:buNone/>
            </a:pPr>
            <a:r>
              <a:rPr lang="en-US" sz="1400" b="1" dirty="0">
                <a:solidFill>
                  <a:srgbClr val="800020"/>
                </a:solidFill>
                <a:latin typeface="Calibri" pitchFamily="34" charset="0"/>
                <a:ea typeface="Calibri" pitchFamily="34" charset="-122"/>
                <a:cs typeface="Calibri" pitchFamily="34" charset="-120"/>
              </a:rPr>
              <a:t>1</a:t>
            </a:r>
            <a:endParaRPr lang="en-US" sz="1400" dirty="0"/>
          </a:p>
        </p:txBody>
      </p:sp>
      <p:sp>
        <p:nvSpPr>
          <p:cNvPr id="27" name="Shape 25"/>
          <p:cNvSpPr/>
          <p:nvPr/>
        </p:nvSpPr>
        <p:spPr>
          <a:xfrm>
            <a:off x="5276088" y="1776984"/>
            <a:ext cx="475488" cy="475488"/>
          </a:xfrm>
          <a:prstGeom prst="ellipse">
            <a:avLst/>
          </a:prstGeom>
          <a:solidFill>
            <a:srgbClr val="FFFFFF"/>
          </a:solidFill>
          <a:ln w="25400">
            <a:solidFill>
              <a:srgbClr val="800020"/>
            </a:solidFill>
            <a:prstDash val="solid"/>
          </a:ln>
        </p:spPr>
      </p:sp>
      <p:sp>
        <p:nvSpPr>
          <p:cNvPr id="28" name="Text 26"/>
          <p:cNvSpPr/>
          <p:nvPr/>
        </p:nvSpPr>
        <p:spPr>
          <a:xfrm>
            <a:off x="5276088" y="1776984"/>
            <a:ext cx="475488" cy="475488"/>
          </a:xfrm>
          <a:prstGeom prst="rect">
            <a:avLst/>
          </a:prstGeom>
          <a:noFill/>
          <a:ln/>
        </p:spPr>
        <p:txBody>
          <a:bodyPr wrap="square" lIns="0" tIns="0" rIns="0" bIns="0" rtlCol="0" anchor="ctr"/>
          <a:lstStyle/>
          <a:p>
            <a:pPr algn="ctr" indent="0" marL="0">
              <a:buNone/>
            </a:pPr>
            <a:r>
              <a:rPr lang="en-US" sz="1400" b="1" dirty="0">
                <a:solidFill>
                  <a:srgbClr val="800020"/>
                </a:solidFill>
                <a:latin typeface="Calibri" pitchFamily="34" charset="0"/>
                <a:ea typeface="Calibri" pitchFamily="34" charset="-122"/>
                <a:cs typeface="Calibri" pitchFamily="34" charset="-120"/>
              </a:rPr>
              <a:t>2</a:t>
            </a:r>
            <a:endParaRPr lang="en-US" sz="1400" dirty="0"/>
          </a:p>
        </p:txBody>
      </p:sp>
      <p:sp>
        <p:nvSpPr>
          <p:cNvPr id="29" name="Shape 27"/>
          <p:cNvSpPr/>
          <p:nvPr/>
        </p:nvSpPr>
        <p:spPr>
          <a:xfrm>
            <a:off x="2706624" y="1776984"/>
            <a:ext cx="475488" cy="475488"/>
          </a:xfrm>
          <a:prstGeom prst="ellipse">
            <a:avLst/>
          </a:prstGeom>
          <a:solidFill>
            <a:srgbClr val="FFFFFF"/>
          </a:solidFill>
          <a:ln w="25400">
            <a:solidFill>
              <a:srgbClr val="800020"/>
            </a:solidFill>
            <a:prstDash val="solid"/>
          </a:ln>
        </p:spPr>
      </p:sp>
      <p:sp>
        <p:nvSpPr>
          <p:cNvPr id="30" name="Text 28"/>
          <p:cNvSpPr/>
          <p:nvPr/>
        </p:nvSpPr>
        <p:spPr>
          <a:xfrm>
            <a:off x="2706624" y="1776984"/>
            <a:ext cx="475488" cy="475488"/>
          </a:xfrm>
          <a:prstGeom prst="rect">
            <a:avLst/>
          </a:prstGeom>
          <a:noFill/>
          <a:ln/>
        </p:spPr>
        <p:txBody>
          <a:bodyPr wrap="square" lIns="0" tIns="0" rIns="0" bIns="0" rtlCol="0" anchor="ctr"/>
          <a:lstStyle/>
          <a:p>
            <a:pPr algn="ctr" indent="0" marL="0">
              <a:buNone/>
            </a:pPr>
            <a:r>
              <a:rPr lang="en-US" sz="1400" b="1" dirty="0">
                <a:solidFill>
                  <a:srgbClr val="800020"/>
                </a:solidFill>
                <a:latin typeface="Calibri" pitchFamily="34" charset="0"/>
                <a:ea typeface="Calibri" pitchFamily="34" charset="-122"/>
                <a:cs typeface="Calibri" pitchFamily="34" charset="-120"/>
              </a:rPr>
              <a:t>3</a:t>
            </a:r>
            <a:endParaRPr lang="en-US" sz="1400" dirty="0"/>
          </a:p>
        </p:txBody>
      </p:sp>
      <p:sp>
        <p:nvSpPr>
          <p:cNvPr id="31" name="Shape 29"/>
          <p:cNvSpPr/>
          <p:nvPr/>
        </p:nvSpPr>
        <p:spPr>
          <a:xfrm>
            <a:off x="4709160" y="2843784"/>
            <a:ext cx="475488" cy="475488"/>
          </a:xfrm>
          <a:prstGeom prst="ellipse">
            <a:avLst/>
          </a:prstGeom>
          <a:solidFill>
            <a:srgbClr val="FFFFFF"/>
          </a:solidFill>
          <a:ln w="25400">
            <a:solidFill>
              <a:srgbClr val="B45309"/>
            </a:solidFill>
            <a:prstDash val="solid"/>
          </a:ln>
        </p:spPr>
      </p:sp>
      <p:sp>
        <p:nvSpPr>
          <p:cNvPr id="32" name="Text 30"/>
          <p:cNvSpPr/>
          <p:nvPr/>
        </p:nvSpPr>
        <p:spPr>
          <a:xfrm>
            <a:off x="4709160" y="2843784"/>
            <a:ext cx="475488" cy="475488"/>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4</a:t>
            </a:r>
            <a:endParaRPr lang="en-US" sz="1400" dirty="0"/>
          </a:p>
        </p:txBody>
      </p:sp>
      <p:sp>
        <p:nvSpPr>
          <p:cNvPr id="33" name="Shape 31"/>
          <p:cNvSpPr/>
          <p:nvPr/>
        </p:nvSpPr>
        <p:spPr>
          <a:xfrm>
            <a:off x="5276088" y="2843784"/>
            <a:ext cx="475488" cy="475488"/>
          </a:xfrm>
          <a:prstGeom prst="ellipse">
            <a:avLst/>
          </a:prstGeom>
          <a:solidFill>
            <a:srgbClr val="FFFFFF"/>
          </a:solidFill>
          <a:ln w="25400">
            <a:solidFill>
              <a:srgbClr val="B45309"/>
            </a:solidFill>
            <a:prstDash val="solid"/>
          </a:ln>
        </p:spPr>
      </p:sp>
      <p:sp>
        <p:nvSpPr>
          <p:cNvPr id="34" name="Text 32"/>
          <p:cNvSpPr/>
          <p:nvPr/>
        </p:nvSpPr>
        <p:spPr>
          <a:xfrm>
            <a:off x="5276088" y="2843784"/>
            <a:ext cx="475488" cy="475488"/>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8</a:t>
            </a:r>
            <a:endParaRPr lang="en-US" sz="1400" dirty="0"/>
          </a:p>
        </p:txBody>
      </p:sp>
      <p:sp>
        <p:nvSpPr>
          <p:cNvPr id="35" name="Shape 33"/>
          <p:cNvSpPr/>
          <p:nvPr/>
        </p:nvSpPr>
        <p:spPr>
          <a:xfrm>
            <a:off x="7278624" y="2843784"/>
            <a:ext cx="475488" cy="475488"/>
          </a:xfrm>
          <a:prstGeom prst="ellipse">
            <a:avLst/>
          </a:prstGeom>
          <a:solidFill>
            <a:srgbClr val="FFFFFF"/>
          </a:solidFill>
          <a:ln w="25400">
            <a:solidFill>
              <a:srgbClr val="B45309"/>
            </a:solidFill>
            <a:prstDash val="solid"/>
          </a:ln>
        </p:spPr>
      </p:sp>
      <p:sp>
        <p:nvSpPr>
          <p:cNvPr id="36" name="Text 34"/>
          <p:cNvSpPr/>
          <p:nvPr/>
        </p:nvSpPr>
        <p:spPr>
          <a:xfrm>
            <a:off x="7278624" y="2843784"/>
            <a:ext cx="475488" cy="475488"/>
          </a:xfrm>
          <a:prstGeom prst="rect">
            <a:avLst/>
          </a:prstGeom>
          <a:noFill/>
          <a:ln/>
        </p:spPr>
        <p:txBody>
          <a:bodyPr wrap="square" lIns="0" tIns="0" rIns="0" bIns="0" rtlCol="0" anchor="ctr"/>
          <a:lstStyle/>
          <a:p>
            <a:pPr algn="ctr" indent="0" marL="0">
              <a:buNone/>
            </a:pPr>
            <a:r>
              <a:rPr lang="en-US" sz="1400" b="1" dirty="0">
                <a:solidFill>
                  <a:srgbClr val="B45309"/>
                </a:solidFill>
                <a:latin typeface="Calibri" pitchFamily="34" charset="0"/>
                <a:ea typeface="Calibri" pitchFamily="34" charset="-122"/>
                <a:cs typeface="Calibri" pitchFamily="34" charset="-120"/>
              </a:rPr>
              <a:t>5</a:t>
            </a:r>
            <a:endParaRPr lang="en-US" sz="1400" dirty="0"/>
          </a:p>
        </p:txBody>
      </p:sp>
      <p:sp>
        <p:nvSpPr>
          <p:cNvPr id="37" name="Shape 35"/>
          <p:cNvSpPr/>
          <p:nvPr/>
        </p:nvSpPr>
        <p:spPr>
          <a:xfrm>
            <a:off x="4425696" y="3910584"/>
            <a:ext cx="475488" cy="475488"/>
          </a:xfrm>
          <a:prstGeom prst="ellipse">
            <a:avLst/>
          </a:prstGeom>
          <a:solidFill>
            <a:srgbClr val="FFFFFF"/>
          </a:solidFill>
          <a:ln w="25400">
            <a:solidFill>
              <a:srgbClr val="334155"/>
            </a:solidFill>
            <a:prstDash val="solid"/>
          </a:ln>
        </p:spPr>
      </p:sp>
      <p:sp>
        <p:nvSpPr>
          <p:cNvPr id="38" name="Text 36"/>
          <p:cNvSpPr/>
          <p:nvPr/>
        </p:nvSpPr>
        <p:spPr>
          <a:xfrm>
            <a:off x="4425696" y="3910584"/>
            <a:ext cx="475488" cy="475488"/>
          </a:xfrm>
          <a:prstGeom prst="rect">
            <a:avLst/>
          </a:prstGeom>
          <a:noFill/>
          <a:ln/>
        </p:spPr>
        <p:txBody>
          <a:bodyPr wrap="square" lIns="0" tIns="0" rIns="0" bIns="0" rtlCol="0" anchor="ctr"/>
          <a:lstStyle/>
          <a:p>
            <a:pPr algn="ctr" indent="0" marL="0">
              <a:buNone/>
            </a:pPr>
            <a:r>
              <a:rPr lang="en-US" sz="1400" b="1" dirty="0">
                <a:solidFill>
                  <a:srgbClr val="334155"/>
                </a:solidFill>
                <a:latin typeface="Calibri" pitchFamily="34" charset="0"/>
                <a:ea typeface="Calibri" pitchFamily="34" charset="-122"/>
                <a:cs typeface="Calibri" pitchFamily="34" charset="-120"/>
              </a:rPr>
              <a:t>6</a:t>
            </a:r>
            <a:endParaRPr lang="en-US" sz="1400" dirty="0"/>
          </a:p>
        </p:txBody>
      </p:sp>
      <p:sp>
        <p:nvSpPr>
          <p:cNvPr id="39" name="Shape 37"/>
          <p:cNvSpPr/>
          <p:nvPr/>
        </p:nvSpPr>
        <p:spPr>
          <a:xfrm>
            <a:off x="4992624" y="3910584"/>
            <a:ext cx="475488" cy="475488"/>
          </a:xfrm>
          <a:prstGeom prst="ellipse">
            <a:avLst/>
          </a:prstGeom>
          <a:solidFill>
            <a:srgbClr val="FFFFFF"/>
          </a:solidFill>
          <a:ln w="25400">
            <a:solidFill>
              <a:srgbClr val="334155"/>
            </a:solidFill>
            <a:prstDash val="solid"/>
          </a:ln>
        </p:spPr>
      </p:sp>
      <p:sp>
        <p:nvSpPr>
          <p:cNvPr id="40" name="Text 38"/>
          <p:cNvSpPr/>
          <p:nvPr/>
        </p:nvSpPr>
        <p:spPr>
          <a:xfrm>
            <a:off x="4992624" y="3910584"/>
            <a:ext cx="475488" cy="475488"/>
          </a:xfrm>
          <a:prstGeom prst="rect">
            <a:avLst/>
          </a:prstGeom>
          <a:noFill/>
          <a:ln/>
        </p:spPr>
        <p:txBody>
          <a:bodyPr wrap="square" lIns="0" tIns="0" rIns="0" bIns="0" rtlCol="0" anchor="ctr"/>
          <a:lstStyle/>
          <a:p>
            <a:pPr algn="ctr" indent="0" marL="0">
              <a:buNone/>
            </a:pPr>
            <a:r>
              <a:rPr lang="en-US" sz="1400" b="1" dirty="0">
                <a:solidFill>
                  <a:srgbClr val="334155"/>
                </a:solidFill>
                <a:latin typeface="Calibri" pitchFamily="34" charset="0"/>
                <a:ea typeface="Calibri" pitchFamily="34" charset="-122"/>
                <a:cs typeface="Calibri" pitchFamily="34" charset="-120"/>
              </a:rPr>
              <a:t>7</a:t>
            </a:r>
            <a:endParaRPr lang="en-US" sz="1400" dirty="0"/>
          </a:p>
        </p:txBody>
      </p:sp>
      <p:sp>
        <p:nvSpPr>
          <p:cNvPr id="41" name="Shape 39"/>
          <p:cNvSpPr/>
          <p:nvPr/>
        </p:nvSpPr>
        <p:spPr>
          <a:xfrm>
            <a:off x="5559552" y="3910584"/>
            <a:ext cx="475488" cy="475488"/>
          </a:xfrm>
          <a:prstGeom prst="ellipse">
            <a:avLst/>
          </a:prstGeom>
          <a:solidFill>
            <a:srgbClr val="FFFFFF"/>
          </a:solidFill>
          <a:ln w="25400">
            <a:solidFill>
              <a:srgbClr val="334155"/>
            </a:solidFill>
            <a:prstDash val="solid"/>
          </a:ln>
        </p:spPr>
      </p:sp>
      <p:sp>
        <p:nvSpPr>
          <p:cNvPr id="42" name="Text 40"/>
          <p:cNvSpPr/>
          <p:nvPr/>
        </p:nvSpPr>
        <p:spPr>
          <a:xfrm>
            <a:off x="5559552" y="3910584"/>
            <a:ext cx="475488" cy="475488"/>
          </a:xfrm>
          <a:prstGeom prst="rect">
            <a:avLst/>
          </a:prstGeom>
          <a:noFill/>
          <a:ln/>
        </p:spPr>
        <p:txBody>
          <a:bodyPr wrap="square" lIns="0" tIns="0" rIns="0" bIns="0" rtlCol="0" anchor="ctr"/>
          <a:lstStyle/>
          <a:p>
            <a:pPr algn="ctr" indent="0" marL="0">
              <a:buNone/>
            </a:pPr>
            <a:r>
              <a:rPr lang="en-US" sz="1400" b="1" dirty="0">
                <a:solidFill>
                  <a:srgbClr val="334155"/>
                </a:solidFill>
                <a:latin typeface="Calibri" pitchFamily="34" charset="0"/>
                <a:ea typeface="Calibri" pitchFamily="34" charset="-122"/>
                <a:cs typeface="Calibri" pitchFamily="34" charset="-120"/>
              </a:rPr>
              <a:t>9</a:t>
            </a:r>
            <a:endParaRPr lang="en-US" sz="1400" dirty="0"/>
          </a:p>
        </p:txBody>
      </p:sp>
      <p:sp>
        <p:nvSpPr>
          <p:cNvPr id="43" name="Shape 41"/>
          <p:cNvSpPr/>
          <p:nvPr/>
        </p:nvSpPr>
        <p:spPr>
          <a:xfrm>
            <a:off x="8970264" y="1719072"/>
            <a:ext cx="402336" cy="402336"/>
          </a:xfrm>
          <a:prstGeom prst="ellipse">
            <a:avLst/>
          </a:prstGeom>
          <a:solidFill>
            <a:srgbClr val="FFFFFF"/>
          </a:solidFill>
          <a:ln w="19050">
            <a:solidFill>
              <a:srgbClr val="0F172A"/>
            </a:solidFill>
            <a:prstDash val="solid"/>
          </a:ln>
        </p:spPr>
      </p:sp>
      <p:sp>
        <p:nvSpPr>
          <p:cNvPr id="44" name="Text 42"/>
          <p:cNvSpPr/>
          <p:nvPr/>
        </p:nvSpPr>
        <p:spPr>
          <a:xfrm>
            <a:off x="8970264" y="1719072"/>
            <a:ext cx="402336" cy="402336"/>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1</a:t>
            </a:r>
            <a:endParaRPr lang="en-US" sz="1200" dirty="0"/>
          </a:p>
        </p:txBody>
      </p:sp>
      <p:sp>
        <p:nvSpPr>
          <p:cNvPr id="45" name="Text 43"/>
          <p:cNvSpPr/>
          <p:nvPr/>
        </p:nvSpPr>
        <p:spPr>
          <a:xfrm>
            <a:off x="9482328" y="1664208"/>
            <a:ext cx="2286000"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CAAB refuses permission</a:t>
            </a:r>
            <a:endParaRPr lang="en-US" sz="1400" dirty="0"/>
          </a:p>
        </p:txBody>
      </p:sp>
      <p:sp>
        <p:nvSpPr>
          <p:cNvPr id="46" name="Text 44"/>
          <p:cNvSpPr/>
          <p:nvPr/>
        </p:nvSpPr>
        <p:spPr>
          <a:xfrm>
            <a:off x="9482328" y="1938528"/>
            <a:ext cx="2286000" cy="548640"/>
          </a:xfrm>
          <a:prstGeom prst="rect">
            <a:avLst/>
          </a:prstGeom>
          <a:noFill/>
          <a:ln/>
        </p:spPr>
        <p:txBody>
          <a:bodyPr wrap="square" lIns="0" tIns="0" rIns="0" bIns="0" rtlCol="0" anchor="t"/>
          <a:lstStyle/>
          <a:p>
            <a:pPr indent="0" marL="0">
              <a:lnSpc>
                <a:spcPts val="1400"/>
              </a:lnSpc>
              <a:buNone/>
            </a:pPr>
            <a:r>
              <a:rPr lang="en-US" sz="1200" dirty="0">
                <a:solidFill>
                  <a:srgbClr val="64748B"/>
                </a:solidFill>
                <a:latin typeface="Calibri" pitchFamily="34" charset="0"/>
                <a:ea typeface="Calibri" pitchFamily="34" charset="-122"/>
                <a:cs typeface="Calibri" pitchFamily="34" charset="-120"/>
              </a:rPr>
              <a:t>Medium and severe. Mitigated by a written pre application first</a:t>
            </a:r>
            <a:endParaRPr lang="en-US" sz="1200" dirty="0"/>
          </a:p>
        </p:txBody>
      </p:sp>
      <p:sp>
        <p:nvSpPr>
          <p:cNvPr id="47" name="Shape 45"/>
          <p:cNvSpPr/>
          <p:nvPr/>
        </p:nvSpPr>
        <p:spPr>
          <a:xfrm>
            <a:off x="8970264" y="2615184"/>
            <a:ext cx="402336" cy="402336"/>
          </a:xfrm>
          <a:prstGeom prst="ellipse">
            <a:avLst/>
          </a:prstGeom>
          <a:solidFill>
            <a:srgbClr val="FFFFFF"/>
          </a:solidFill>
          <a:ln w="19050">
            <a:solidFill>
              <a:srgbClr val="0F172A"/>
            </a:solidFill>
            <a:prstDash val="solid"/>
          </a:ln>
        </p:spPr>
      </p:sp>
      <p:sp>
        <p:nvSpPr>
          <p:cNvPr id="48" name="Text 46"/>
          <p:cNvSpPr/>
          <p:nvPr/>
        </p:nvSpPr>
        <p:spPr>
          <a:xfrm>
            <a:off x="8970264" y="2615184"/>
            <a:ext cx="402336" cy="402336"/>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3</a:t>
            </a:r>
            <a:endParaRPr lang="en-US" sz="1200" dirty="0"/>
          </a:p>
        </p:txBody>
      </p:sp>
      <p:sp>
        <p:nvSpPr>
          <p:cNvPr id="49" name="Text 47"/>
          <p:cNvSpPr/>
          <p:nvPr/>
        </p:nvSpPr>
        <p:spPr>
          <a:xfrm>
            <a:off x="9482328" y="2560320"/>
            <a:ext cx="2286000"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Aircraft lands off pad</a:t>
            </a:r>
            <a:endParaRPr lang="en-US" sz="1400" dirty="0"/>
          </a:p>
        </p:txBody>
      </p:sp>
      <p:sp>
        <p:nvSpPr>
          <p:cNvPr id="50" name="Text 48"/>
          <p:cNvSpPr/>
          <p:nvPr/>
        </p:nvSpPr>
        <p:spPr>
          <a:xfrm>
            <a:off x="9482328" y="2834640"/>
            <a:ext cx="2286000" cy="548640"/>
          </a:xfrm>
          <a:prstGeom prst="rect">
            <a:avLst/>
          </a:prstGeom>
          <a:noFill/>
          <a:ln/>
        </p:spPr>
        <p:txBody>
          <a:bodyPr wrap="square" lIns="0" tIns="0" rIns="0" bIns="0" rtlCol="0" anchor="t"/>
          <a:lstStyle/>
          <a:p>
            <a:pPr indent="0" marL="0">
              <a:lnSpc>
                <a:spcPts val="1400"/>
              </a:lnSpc>
              <a:buNone/>
            </a:pPr>
            <a:r>
              <a:rPr lang="en-US" sz="1200" dirty="0">
                <a:solidFill>
                  <a:srgbClr val="64748B"/>
                </a:solidFill>
                <a:latin typeface="Calibri" pitchFamily="34" charset="0"/>
                <a:ea typeface="Calibri" pitchFamily="34" charset="-122"/>
                <a:cs typeface="Calibri" pitchFamily="34" charset="-120"/>
              </a:rPr>
              <a:t>Low and severe. Mitigated by on board pad recognition and a geofence</a:t>
            </a:r>
            <a:endParaRPr lang="en-US" sz="1200" dirty="0"/>
          </a:p>
        </p:txBody>
      </p:sp>
      <p:sp>
        <p:nvSpPr>
          <p:cNvPr id="51" name="Shape 49"/>
          <p:cNvSpPr/>
          <p:nvPr/>
        </p:nvSpPr>
        <p:spPr>
          <a:xfrm>
            <a:off x="8970264" y="3511296"/>
            <a:ext cx="402336" cy="402336"/>
          </a:xfrm>
          <a:prstGeom prst="ellipse">
            <a:avLst/>
          </a:prstGeom>
          <a:solidFill>
            <a:srgbClr val="FFFFFF"/>
          </a:solidFill>
          <a:ln w="19050">
            <a:solidFill>
              <a:srgbClr val="0F172A"/>
            </a:solidFill>
            <a:prstDash val="solid"/>
          </a:ln>
        </p:spPr>
      </p:sp>
      <p:sp>
        <p:nvSpPr>
          <p:cNvPr id="52" name="Text 50"/>
          <p:cNvSpPr/>
          <p:nvPr/>
        </p:nvSpPr>
        <p:spPr>
          <a:xfrm>
            <a:off x="8970264" y="3511296"/>
            <a:ext cx="402336" cy="402336"/>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5</a:t>
            </a:r>
            <a:endParaRPr lang="en-US" sz="1200" dirty="0"/>
          </a:p>
        </p:txBody>
      </p:sp>
      <p:sp>
        <p:nvSpPr>
          <p:cNvPr id="53" name="Text 51"/>
          <p:cNvSpPr/>
          <p:nvPr/>
        </p:nvSpPr>
        <p:spPr>
          <a:xfrm>
            <a:off x="9482328" y="3456432"/>
            <a:ext cx="2286000"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Vision fails in heavy rain</a:t>
            </a:r>
            <a:endParaRPr lang="en-US" sz="1400" dirty="0"/>
          </a:p>
        </p:txBody>
      </p:sp>
      <p:sp>
        <p:nvSpPr>
          <p:cNvPr id="54" name="Text 52"/>
          <p:cNvSpPr/>
          <p:nvPr/>
        </p:nvSpPr>
        <p:spPr>
          <a:xfrm>
            <a:off x="9482328" y="3730752"/>
            <a:ext cx="2286000" cy="548640"/>
          </a:xfrm>
          <a:prstGeom prst="rect">
            <a:avLst/>
          </a:prstGeom>
          <a:noFill/>
          <a:ln/>
        </p:spPr>
        <p:txBody>
          <a:bodyPr wrap="square" lIns="0" tIns="0" rIns="0" bIns="0" rtlCol="0" anchor="t"/>
          <a:lstStyle/>
          <a:p>
            <a:pPr indent="0" marL="0">
              <a:lnSpc>
                <a:spcPts val="1400"/>
              </a:lnSpc>
              <a:buNone/>
            </a:pPr>
            <a:r>
              <a:rPr lang="en-US" sz="1200" dirty="0">
                <a:solidFill>
                  <a:srgbClr val="64748B"/>
                </a:solidFill>
                <a:latin typeface="Calibri" pitchFamily="34" charset="0"/>
                <a:ea typeface="Calibri" pitchFamily="34" charset="-122"/>
                <a:cs typeface="Calibri" pitchFamily="34" charset="-120"/>
              </a:rPr>
              <a:t>High and high. Mitigated by weather thresholds that stop launches</a:t>
            </a:r>
            <a:endParaRPr lang="en-US" sz="1200" dirty="0"/>
          </a:p>
        </p:txBody>
      </p:sp>
      <p:sp>
        <p:nvSpPr>
          <p:cNvPr id="55" name="Shape 53"/>
          <p:cNvSpPr/>
          <p:nvPr/>
        </p:nvSpPr>
        <p:spPr>
          <a:xfrm>
            <a:off x="8970264" y="4407408"/>
            <a:ext cx="402336" cy="402336"/>
          </a:xfrm>
          <a:prstGeom prst="ellipse">
            <a:avLst/>
          </a:prstGeom>
          <a:solidFill>
            <a:srgbClr val="FFFFFF"/>
          </a:solidFill>
          <a:ln w="19050">
            <a:solidFill>
              <a:srgbClr val="0F172A"/>
            </a:solidFill>
            <a:prstDash val="solid"/>
          </a:ln>
        </p:spPr>
      </p:sp>
      <p:sp>
        <p:nvSpPr>
          <p:cNvPr id="56" name="Text 54"/>
          <p:cNvSpPr/>
          <p:nvPr/>
        </p:nvSpPr>
        <p:spPr>
          <a:xfrm>
            <a:off x="8970264" y="4407408"/>
            <a:ext cx="402336" cy="402336"/>
          </a:xfrm>
          <a:prstGeom prst="rect">
            <a:avLst/>
          </a:prstGeom>
          <a:noFill/>
          <a:ln/>
        </p:spPr>
        <p:txBody>
          <a:bodyPr wrap="square" lIns="0" tIns="0" rIns="0" bIns="0" rtlCol="0" anchor="ctr"/>
          <a:lstStyle/>
          <a:p>
            <a:pPr algn="ctr" indent="0" marL="0">
              <a:buNone/>
            </a:pPr>
            <a:r>
              <a:rPr lang="en-US" sz="1200" b="1" dirty="0">
                <a:solidFill>
                  <a:srgbClr val="0F172A"/>
                </a:solidFill>
                <a:latin typeface="Calibri" pitchFamily="34" charset="0"/>
                <a:ea typeface="Calibri" pitchFamily="34" charset="-122"/>
                <a:cs typeface="Calibri" pitchFamily="34" charset="-120"/>
              </a:rPr>
              <a:t>7</a:t>
            </a:r>
            <a:endParaRPr lang="en-US" sz="1200" dirty="0"/>
          </a:p>
        </p:txBody>
      </p:sp>
      <p:sp>
        <p:nvSpPr>
          <p:cNvPr id="57" name="Text 55"/>
          <p:cNvSpPr/>
          <p:nvPr/>
        </p:nvSpPr>
        <p:spPr>
          <a:xfrm>
            <a:off x="9482328" y="4352544"/>
            <a:ext cx="2286000" cy="27432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Jev is withdrawn or repriced</a:t>
            </a:r>
            <a:endParaRPr lang="en-US" sz="1400" dirty="0"/>
          </a:p>
        </p:txBody>
      </p:sp>
      <p:sp>
        <p:nvSpPr>
          <p:cNvPr id="58" name="Text 56"/>
          <p:cNvSpPr/>
          <p:nvPr/>
        </p:nvSpPr>
        <p:spPr>
          <a:xfrm>
            <a:off x="9482328" y="4626864"/>
            <a:ext cx="2286000" cy="548640"/>
          </a:xfrm>
          <a:prstGeom prst="rect">
            <a:avLst/>
          </a:prstGeom>
          <a:noFill/>
          <a:ln/>
        </p:spPr>
        <p:txBody>
          <a:bodyPr wrap="square" lIns="0" tIns="0" rIns="0" bIns="0" rtlCol="0" anchor="t"/>
          <a:lstStyle/>
          <a:p>
            <a:pPr indent="0" marL="0">
              <a:lnSpc>
                <a:spcPts val="1400"/>
              </a:lnSpc>
              <a:buNone/>
            </a:pPr>
            <a:r>
              <a:rPr lang="en-US" sz="1200" dirty="0">
                <a:solidFill>
                  <a:srgbClr val="64748B"/>
                </a:solidFill>
                <a:latin typeface="Calibri" pitchFamily="34" charset="0"/>
                <a:ea typeface="Calibri" pitchFamily="34" charset="-122"/>
                <a:cs typeface="Calibri" pitchFamily="34" charset="-120"/>
              </a:rPr>
              <a:t>Medium and medium, and the one people forget</a:t>
            </a:r>
            <a:endParaRPr lang="en-US" sz="1200" dirty="0"/>
          </a:p>
        </p:txBody>
      </p:sp>
      <p:sp>
        <p:nvSpPr>
          <p:cNvPr id="59" name="Text 57"/>
          <p:cNvSpPr/>
          <p:nvPr/>
        </p:nvSpPr>
        <p:spPr>
          <a:xfrm>
            <a:off x="566928" y="5486400"/>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One and two sit in the same square. They are the same risk: whether we are allowed to fly at all.</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Risk register, risks 1 to 5</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Probability, impact and a mitigation we can actually run</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16</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2743200" cy="384048"/>
          </a:xfrm>
          <a:prstGeom prst="rect">
            <a:avLst/>
          </a:prstGeom>
          <a:solidFill>
            <a:srgbClr val="0F172A"/>
          </a:solidFill>
          <a:ln w="12700">
            <a:solidFill>
              <a:srgbClr val="333333"/>
            </a:solidFill>
            <a:prstDash val="solid"/>
          </a:ln>
        </p:spPr>
      </p:sp>
      <p:sp>
        <p:nvSpPr>
          <p:cNvPr id="10" name="Text 8"/>
          <p:cNvSpPr/>
          <p:nvPr/>
        </p:nvSpPr>
        <p:spPr>
          <a:xfrm>
            <a:off x="1335024" y="129844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Risk</a:t>
            </a:r>
            <a:endParaRPr lang="en-US" sz="1400" dirty="0"/>
          </a:p>
        </p:txBody>
      </p:sp>
      <p:sp>
        <p:nvSpPr>
          <p:cNvPr id="11" name="Shape 9"/>
          <p:cNvSpPr/>
          <p:nvPr/>
        </p:nvSpPr>
        <p:spPr>
          <a:xfrm>
            <a:off x="3950208" y="1298448"/>
            <a:ext cx="1234440" cy="384048"/>
          </a:xfrm>
          <a:prstGeom prst="rect">
            <a:avLst/>
          </a:prstGeom>
          <a:solidFill>
            <a:srgbClr val="0F172A"/>
          </a:solidFill>
          <a:ln w="12700">
            <a:solidFill>
              <a:srgbClr val="333333"/>
            </a:solidFill>
            <a:prstDash val="solid"/>
          </a:ln>
        </p:spPr>
      </p:sp>
      <p:sp>
        <p:nvSpPr>
          <p:cNvPr id="12" name="Text 10"/>
          <p:cNvSpPr/>
          <p:nvPr/>
        </p:nvSpPr>
        <p:spPr>
          <a:xfrm>
            <a:off x="407822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Probability</a:t>
            </a:r>
            <a:endParaRPr lang="en-US" sz="1400" dirty="0"/>
          </a:p>
        </p:txBody>
      </p:sp>
      <p:sp>
        <p:nvSpPr>
          <p:cNvPr id="13" name="Shape 11"/>
          <p:cNvSpPr/>
          <p:nvPr/>
        </p:nvSpPr>
        <p:spPr>
          <a:xfrm>
            <a:off x="5184648" y="1298448"/>
            <a:ext cx="1234440" cy="384048"/>
          </a:xfrm>
          <a:prstGeom prst="rect">
            <a:avLst/>
          </a:prstGeom>
          <a:solidFill>
            <a:srgbClr val="0F172A"/>
          </a:solidFill>
          <a:ln w="12700">
            <a:solidFill>
              <a:srgbClr val="333333"/>
            </a:solidFill>
            <a:prstDash val="solid"/>
          </a:ln>
        </p:spPr>
      </p:sp>
      <p:sp>
        <p:nvSpPr>
          <p:cNvPr id="14" name="Text 12"/>
          <p:cNvSpPr/>
          <p:nvPr/>
        </p:nvSpPr>
        <p:spPr>
          <a:xfrm>
            <a:off x="531266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Impact</a:t>
            </a:r>
            <a:endParaRPr lang="en-US" sz="1400" dirty="0"/>
          </a:p>
        </p:txBody>
      </p:sp>
      <p:sp>
        <p:nvSpPr>
          <p:cNvPr id="15" name="Shape 13"/>
          <p:cNvSpPr/>
          <p:nvPr/>
        </p:nvSpPr>
        <p:spPr>
          <a:xfrm>
            <a:off x="6419088" y="1298448"/>
            <a:ext cx="5202936" cy="384048"/>
          </a:xfrm>
          <a:prstGeom prst="rect">
            <a:avLst/>
          </a:prstGeom>
          <a:solidFill>
            <a:srgbClr val="0F172A"/>
          </a:solidFill>
          <a:ln w="12700">
            <a:solidFill>
              <a:srgbClr val="333333"/>
            </a:solidFill>
            <a:prstDash val="solid"/>
          </a:ln>
        </p:spPr>
      </p:sp>
      <p:sp>
        <p:nvSpPr>
          <p:cNvPr id="16" name="Text 14"/>
          <p:cNvSpPr/>
          <p:nvPr/>
        </p:nvSpPr>
        <p:spPr>
          <a:xfrm>
            <a:off x="6547104" y="1298448"/>
            <a:ext cx="494690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Mitigation</a:t>
            </a:r>
            <a:endParaRPr lang="en-US" sz="1400" dirty="0"/>
          </a:p>
        </p:txBody>
      </p:sp>
      <p:sp>
        <p:nvSpPr>
          <p:cNvPr id="17" name="Shape 15"/>
          <p:cNvSpPr/>
          <p:nvPr/>
        </p:nvSpPr>
        <p:spPr>
          <a:xfrm>
            <a:off x="566928" y="1682496"/>
            <a:ext cx="640080" cy="658368"/>
          </a:xfrm>
          <a:prstGeom prst="rect">
            <a:avLst/>
          </a:prstGeom>
          <a:solidFill>
            <a:srgbClr val="FFFFFF"/>
          </a:solidFill>
          <a:ln w="12700">
            <a:solidFill>
              <a:srgbClr val="E2E8F0"/>
            </a:solidFill>
            <a:prstDash val="solid"/>
          </a:ln>
        </p:spPr>
      </p:sp>
      <p:sp>
        <p:nvSpPr>
          <p:cNvPr id="18" name="Text 16"/>
          <p:cNvSpPr/>
          <p:nvPr/>
        </p:nvSpPr>
        <p:spPr>
          <a:xfrm>
            <a:off x="694944" y="1682496"/>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9" name="Shape 17"/>
          <p:cNvSpPr/>
          <p:nvPr/>
        </p:nvSpPr>
        <p:spPr>
          <a:xfrm>
            <a:off x="1207008" y="1682496"/>
            <a:ext cx="2743200" cy="658368"/>
          </a:xfrm>
          <a:prstGeom prst="rect">
            <a:avLst/>
          </a:prstGeom>
          <a:solidFill>
            <a:srgbClr val="FFFFFF"/>
          </a:solidFill>
          <a:ln w="12700">
            <a:solidFill>
              <a:srgbClr val="E2E8F0"/>
            </a:solidFill>
            <a:prstDash val="solid"/>
          </a:ln>
        </p:spPr>
      </p:sp>
      <p:sp>
        <p:nvSpPr>
          <p:cNvPr id="20" name="Text 18"/>
          <p:cNvSpPr/>
          <p:nvPr/>
        </p:nvSpPr>
        <p:spPr>
          <a:xfrm>
            <a:off x="1335024" y="1682496"/>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CAAB refuses permission</a:t>
            </a:r>
            <a:endParaRPr lang="en-US" sz="1400" dirty="0"/>
          </a:p>
        </p:txBody>
      </p:sp>
      <p:sp>
        <p:nvSpPr>
          <p:cNvPr id="21" name="Shape 19"/>
          <p:cNvSpPr/>
          <p:nvPr/>
        </p:nvSpPr>
        <p:spPr>
          <a:xfrm>
            <a:off x="3950208" y="1682496"/>
            <a:ext cx="1234440" cy="658368"/>
          </a:xfrm>
          <a:prstGeom prst="rect">
            <a:avLst/>
          </a:prstGeom>
          <a:solidFill>
            <a:srgbClr val="FFFFFF"/>
          </a:solidFill>
          <a:ln w="12700">
            <a:solidFill>
              <a:srgbClr val="E2E8F0"/>
            </a:solidFill>
            <a:prstDash val="solid"/>
          </a:ln>
        </p:spPr>
      </p:sp>
      <p:sp>
        <p:nvSpPr>
          <p:cNvPr id="22" name="Text 20"/>
          <p:cNvSpPr/>
          <p:nvPr/>
        </p:nvSpPr>
        <p:spPr>
          <a:xfrm>
            <a:off x="4078224" y="1682496"/>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3" name="Shape 21"/>
          <p:cNvSpPr/>
          <p:nvPr/>
        </p:nvSpPr>
        <p:spPr>
          <a:xfrm>
            <a:off x="5184648" y="1682496"/>
            <a:ext cx="1234440" cy="658368"/>
          </a:xfrm>
          <a:prstGeom prst="rect">
            <a:avLst/>
          </a:prstGeom>
          <a:solidFill>
            <a:srgbClr val="FFFFFF"/>
          </a:solidFill>
          <a:ln w="12700">
            <a:solidFill>
              <a:srgbClr val="E2E8F0"/>
            </a:solidFill>
            <a:prstDash val="solid"/>
          </a:ln>
        </p:spPr>
      </p:sp>
      <p:sp>
        <p:nvSpPr>
          <p:cNvPr id="24" name="Text 22"/>
          <p:cNvSpPr/>
          <p:nvPr/>
        </p:nvSpPr>
        <p:spPr>
          <a:xfrm>
            <a:off x="5312664" y="1682496"/>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25" name="Shape 23"/>
          <p:cNvSpPr/>
          <p:nvPr/>
        </p:nvSpPr>
        <p:spPr>
          <a:xfrm>
            <a:off x="6419088" y="1682496"/>
            <a:ext cx="5202936" cy="658368"/>
          </a:xfrm>
          <a:prstGeom prst="rect">
            <a:avLst/>
          </a:prstGeom>
          <a:solidFill>
            <a:srgbClr val="FFFFFF"/>
          </a:solidFill>
          <a:ln w="12700">
            <a:solidFill>
              <a:srgbClr val="E2E8F0"/>
            </a:solidFill>
            <a:prstDash val="solid"/>
          </a:ln>
        </p:spPr>
      </p:sp>
      <p:sp>
        <p:nvSpPr>
          <p:cNvPr id="26" name="Text 24"/>
          <p:cNvSpPr/>
          <p:nvPr/>
        </p:nvSpPr>
        <p:spPr>
          <a:xfrm>
            <a:off x="6547104" y="1682496"/>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Pre-application meeting first. No hardware ordered before a written response</a:t>
            </a:r>
            <a:endParaRPr lang="en-US" sz="1400" dirty="0"/>
          </a:p>
        </p:txBody>
      </p:sp>
      <p:sp>
        <p:nvSpPr>
          <p:cNvPr id="27" name="Shape 25"/>
          <p:cNvSpPr/>
          <p:nvPr/>
        </p:nvSpPr>
        <p:spPr>
          <a:xfrm>
            <a:off x="566928" y="1682496"/>
            <a:ext cx="64008" cy="658368"/>
          </a:xfrm>
          <a:prstGeom prst="rect">
            <a:avLst/>
          </a:prstGeom>
          <a:solidFill>
            <a:srgbClr val="800020"/>
          </a:solidFill>
          <a:ln w="12700">
            <a:solidFill>
              <a:srgbClr val="333333"/>
            </a:solidFill>
            <a:prstDash val="solid"/>
          </a:ln>
        </p:spPr>
      </p:sp>
      <p:sp>
        <p:nvSpPr>
          <p:cNvPr id="28" name="Shape 26"/>
          <p:cNvSpPr/>
          <p:nvPr/>
        </p:nvSpPr>
        <p:spPr>
          <a:xfrm>
            <a:off x="566928" y="2340864"/>
            <a:ext cx="640080" cy="658368"/>
          </a:xfrm>
          <a:prstGeom prst="rect">
            <a:avLst/>
          </a:prstGeom>
          <a:solidFill>
            <a:srgbClr val="F8FAFC"/>
          </a:solidFill>
          <a:ln w="12700">
            <a:solidFill>
              <a:srgbClr val="E2E8F0"/>
            </a:solidFill>
            <a:prstDash val="solid"/>
          </a:ln>
        </p:spPr>
      </p:sp>
      <p:sp>
        <p:nvSpPr>
          <p:cNvPr id="29" name="Text 27"/>
          <p:cNvSpPr/>
          <p:nvPr/>
        </p:nvSpPr>
        <p:spPr>
          <a:xfrm>
            <a:off x="694944" y="2340864"/>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30" name="Shape 28"/>
          <p:cNvSpPr/>
          <p:nvPr/>
        </p:nvSpPr>
        <p:spPr>
          <a:xfrm>
            <a:off x="1207008" y="2340864"/>
            <a:ext cx="2743200" cy="658368"/>
          </a:xfrm>
          <a:prstGeom prst="rect">
            <a:avLst/>
          </a:prstGeom>
          <a:solidFill>
            <a:srgbClr val="F8FAFC"/>
          </a:solidFill>
          <a:ln w="12700">
            <a:solidFill>
              <a:srgbClr val="E2E8F0"/>
            </a:solidFill>
            <a:prstDash val="solid"/>
          </a:ln>
        </p:spPr>
      </p:sp>
      <p:sp>
        <p:nvSpPr>
          <p:cNvPr id="31" name="Text 29"/>
          <p:cNvSpPr/>
          <p:nvPr/>
        </p:nvSpPr>
        <p:spPr>
          <a:xfrm>
            <a:off x="1335024" y="2340864"/>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crosses restricted airspace</a:t>
            </a:r>
            <a:endParaRPr lang="en-US" sz="1400" dirty="0"/>
          </a:p>
        </p:txBody>
      </p:sp>
      <p:sp>
        <p:nvSpPr>
          <p:cNvPr id="32" name="Shape 30"/>
          <p:cNvSpPr/>
          <p:nvPr/>
        </p:nvSpPr>
        <p:spPr>
          <a:xfrm>
            <a:off x="3950208" y="2340864"/>
            <a:ext cx="1234440" cy="658368"/>
          </a:xfrm>
          <a:prstGeom prst="rect">
            <a:avLst/>
          </a:prstGeom>
          <a:solidFill>
            <a:srgbClr val="F8FAFC"/>
          </a:solidFill>
          <a:ln w="12700">
            <a:solidFill>
              <a:srgbClr val="E2E8F0"/>
            </a:solidFill>
            <a:prstDash val="solid"/>
          </a:ln>
        </p:spPr>
      </p:sp>
      <p:sp>
        <p:nvSpPr>
          <p:cNvPr id="33" name="Text 31"/>
          <p:cNvSpPr/>
          <p:nvPr/>
        </p:nvSpPr>
        <p:spPr>
          <a:xfrm>
            <a:off x="4078224" y="2340864"/>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4" name="Shape 32"/>
          <p:cNvSpPr/>
          <p:nvPr/>
        </p:nvSpPr>
        <p:spPr>
          <a:xfrm>
            <a:off x="5184648" y="2340864"/>
            <a:ext cx="1234440" cy="658368"/>
          </a:xfrm>
          <a:prstGeom prst="rect">
            <a:avLst/>
          </a:prstGeom>
          <a:solidFill>
            <a:srgbClr val="F8FAFC"/>
          </a:solidFill>
          <a:ln w="12700">
            <a:solidFill>
              <a:srgbClr val="E2E8F0"/>
            </a:solidFill>
            <a:prstDash val="solid"/>
          </a:ln>
        </p:spPr>
      </p:sp>
      <p:sp>
        <p:nvSpPr>
          <p:cNvPr id="35" name="Text 33"/>
          <p:cNvSpPr/>
          <p:nvPr/>
        </p:nvSpPr>
        <p:spPr>
          <a:xfrm>
            <a:off x="5312664" y="2340864"/>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36" name="Shape 34"/>
          <p:cNvSpPr/>
          <p:nvPr/>
        </p:nvSpPr>
        <p:spPr>
          <a:xfrm>
            <a:off x="6419088" y="2340864"/>
            <a:ext cx="5202936" cy="658368"/>
          </a:xfrm>
          <a:prstGeom prst="rect">
            <a:avLst/>
          </a:prstGeom>
          <a:solidFill>
            <a:srgbClr val="F8FAFC"/>
          </a:solidFill>
          <a:ln w="12700">
            <a:solidFill>
              <a:srgbClr val="E2E8F0"/>
            </a:solidFill>
            <a:prstDash val="solid"/>
          </a:ln>
        </p:spPr>
      </p:sp>
      <p:sp>
        <p:nvSpPr>
          <p:cNvPr id="37" name="Text 35"/>
          <p:cNvSpPr/>
          <p:nvPr/>
        </p:nvSpPr>
        <p:spPr>
          <a:xfrm>
            <a:off x="6547104" y="2340864"/>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Altitude capped below the restricted volume, corridor re-routed, verified on map before launch</a:t>
            </a:r>
            <a:endParaRPr lang="en-US" sz="1400" dirty="0"/>
          </a:p>
        </p:txBody>
      </p:sp>
      <p:sp>
        <p:nvSpPr>
          <p:cNvPr id="38" name="Shape 36"/>
          <p:cNvSpPr/>
          <p:nvPr/>
        </p:nvSpPr>
        <p:spPr>
          <a:xfrm>
            <a:off x="566928" y="2340864"/>
            <a:ext cx="64008" cy="658368"/>
          </a:xfrm>
          <a:prstGeom prst="rect">
            <a:avLst/>
          </a:prstGeom>
          <a:solidFill>
            <a:srgbClr val="800020"/>
          </a:solidFill>
          <a:ln w="12700">
            <a:solidFill>
              <a:srgbClr val="333333"/>
            </a:solidFill>
            <a:prstDash val="solid"/>
          </a:ln>
        </p:spPr>
      </p:sp>
      <p:sp>
        <p:nvSpPr>
          <p:cNvPr id="39" name="Shape 37"/>
          <p:cNvSpPr/>
          <p:nvPr/>
        </p:nvSpPr>
        <p:spPr>
          <a:xfrm>
            <a:off x="566928" y="2999232"/>
            <a:ext cx="640080" cy="658368"/>
          </a:xfrm>
          <a:prstGeom prst="rect">
            <a:avLst/>
          </a:prstGeom>
          <a:solidFill>
            <a:srgbClr val="FFFFFF"/>
          </a:solidFill>
          <a:ln w="12700">
            <a:solidFill>
              <a:srgbClr val="E2E8F0"/>
            </a:solidFill>
            <a:prstDash val="solid"/>
          </a:ln>
        </p:spPr>
      </p:sp>
      <p:sp>
        <p:nvSpPr>
          <p:cNvPr id="40" name="Text 38"/>
          <p:cNvSpPr/>
          <p:nvPr/>
        </p:nvSpPr>
        <p:spPr>
          <a:xfrm>
            <a:off x="694944" y="2999232"/>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41" name="Shape 39"/>
          <p:cNvSpPr/>
          <p:nvPr/>
        </p:nvSpPr>
        <p:spPr>
          <a:xfrm>
            <a:off x="1207008" y="2999232"/>
            <a:ext cx="2743200" cy="658368"/>
          </a:xfrm>
          <a:prstGeom prst="rect">
            <a:avLst/>
          </a:prstGeom>
          <a:solidFill>
            <a:srgbClr val="FFFFFF"/>
          </a:solidFill>
          <a:ln w="12700">
            <a:solidFill>
              <a:srgbClr val="E2E8F0"/>
            </a:solidFill>
            <a:prstDash val="solid"/>
          </a:ln>
        </p:spPr>
      </p:sp>
      <p:sp>
        <p:nvSpPr>
          <p:cNvPr id="42" name="Text 40"/>
          <p:cNvSpPr/>
          <p:nvPr/>
        </p:nvSpPr>
        <p:spPr>
          <a:xfrm>
            <a:off x="1335024" y="2999232"/>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Aircraft lands outside a pad</a:t>
            </a:r>
            <a:endParaRPr lang="en-US" sz="1400" dirty="0"/>
          </a:p>
        </p:txBody>
      </p:sp>
      <p:sp>
        <p:nvSpPr>
          <p:cNvPr id="43" name="Shape 41"/>
          <p:cNvSpPr/>
          <p:nvPr/>
        </p:nvSpPr>
        <p:spPr>
          <a:xfrm>
            <a:off x="3950208" y="2999232"/>
            <a:ext cx="1234440" cy="658368"/>
          </a:xfrm>
          <a:prstGeom prst="rect">
            <a:avLst/>
          </a:prstGeom>
          <a:solidFill>
            <a:srgbClr val="FFFFFF"/>
          </a:solidFill>
          <a:ln w="12700">
            <a:solidFill>
              <a:srgbClr val="E2E8F0"/>
            </a:solidFill>
            <a:prstDash val="solid"/>
          </a:ln>
        </p:spPr>
      </p:sp>
      <p:sp>
        <p:nvSpPr>
          <p:cNvPr id="44" name="Text 42"/>
          <p:cNvSpPr/>
          <p:nvPr/>
        </p:nvSpPr>
        <p:spPr>
          <a:xfrm>
            <a:off x="4078224" y="2999232"/>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45" name="Shape 43"/>
          <p:cNvSpPr/>
          <p:nvPr/>
        </p:nvSpPr>
        <p:spPr>
          <a:xfrm>
            <a:off x="5184648" y="2999232"/>
            <a:ext cx="1234440" cy="658368"/>
          </a:xfrm>
          <a:prstGeom prst="rect">
            <a:avLst/>
          </a:prstGeom>
          <a:solidFill>
            <a:srgbClr val="FFFFFF"/>
          </a:solidFill>
          <a:ln w="12700">
            <a:solidFill>
              <a:srgbClr val="E2E8F0"/>
            </a:solidFill>
            <a:prstDash val="solid"/>
          </a:ln>
        </p:spPr>
      </p:sp>
      <p:sp>
        <p:nvSpPr>
          <p:cNvPr id="46" name="Text 44"/>
          <p:cNvSpPr/>
          <p:nvPr/>
        </p:nvSpPr>
        <p:spPr>
          <a:xfrm>
            <a:off x="5312664" y="2999232"/>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47" name="Shape 45"/>
          <p:cNvSpPr/>
          <p:nvPr/>
        </p:nvSpPr>
        <p:spPr>
          <a:xfrm>
            <a:off x="6419088" y="2999232"/>
            <a:ext cx="5202936" cy="658368"/>
          </a:xfrm>
          <a:prstGeom prst="rect">
            <a:avLst/>
          </a:prstGeom>
          <a:solidFill>
            <a:srgbClr val="FFFFFF"/>
          </a:solidFill>
          <a:ln w="12700">
            <a:solidFill>
              <a:srgbClr val="E2E8F0"/>
            </a:solidFill>
            <a:prstDash val="solid"/>
          </a:ln>
        </p:spPr>
      </p:sp>
      <p:sp>
        <p:nvSpPr>
          <p:cNvPr id="48" name="Text 46"/>
          <p:cNvSpPr/>
          <p:nvPr/>
        </p:nvSpPr>
        <p:spPr>
          <a:xfrm>
            <a:off x="6547104" y="2999232"/>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recognition on board, geofence enforced locally, damage reporting to the pad owner</a:t>
            </a:r>
            <a:endParaRPr lang="en-US" sz="1400" dirty="0"/>
          </a:p>
        </p:txBody>
      </p:sp>
      <p:sp>
        <p:nvSpPr>
          <p:cNvPr id="49" name="Shape 47"/>
          <p:cNvSpPr/>
          <p:nvPr/>
        </p:nvSpPr>
        <p:spPr>
          <a:xfrm>
            <a:off x="566928" y="2999232"/>
            <a:ext cx="64008" cy="658368"/>
          </a:xfrm>
          <a:prstGeom prst="rect">
            <a:avLst/>
          </a:prstGeom>
          <a:solidFill>
            <a:srgbClr val="800020"/>
          </a:solidFill>
          <a:ln w="12700">
            <a:solidFill>
              <a:srgbClr val="333333"/>
            </a:solidFill>
            <a:prstDash val="solid"/>
          </a:ln>
        </p:spPr>
      </p:sp>
      <p:sp>
        <p:nvSpPr>
          <p:cNvPr id="50" name="Shape 48"/>
          <p:cNvSpPr/>
          <p:nvPr/>
        </p:nvSpPr>
        <p:spPr>
          <a:xfrm>
            <a:off x="566928" y="3657600"/>
            <a:ext cx="640080" cy="658368"/>
          </a:xfrm>
          <a:prstGeom prst="rect">
            <a:avLst/>
          </a:prstGeom>
          <a:solidFill>
            <a:srgbClr val="F8FAFC"/>
          </a:solidFill>
          <a:ln w="12700">
            <a:solidFill>
              <a:srgbClr val="E2E8F0"/>
            </a:solidFill>
            <a:prstDash val="solid"/>
          </a:ln>
        </p:spPr>
      </p:sp>
      <p:sp>
        <p:nvSpPr>
          <p:cNvPr id="51" name="Text 49"/>
          <p:cNvSpPr/>
          <p:nvPr/>
        </p:nvSpPr>
        <p:spPr>
          <a:xfrm>
            <a:off x="694944" y="3657600"/>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52" name="Shape 50"/>
          <p:cNvSpPr/>
          <p:nvPr/>
        </p:nvSpPr>
        <p:spPr>
          <a:xfrm>
            <a:off x="1207008" y="3657600"/>
            <a:ext cx="2743200" cy="658368"/>
          </a:xfrm>
          <a:prstGeom prst="rect">
            <a:avLst/>
          </a:prstGeom>
          <a:solidFill>
            <a:srgbClr val="F8FAFC"/>
          </a:solidFill>
          <a:ln w="12700">
            <a:solidFill>
              <a:srgbClr val="E2E8F0"/>
            </a:solidFill>
            <a:prstDash val="solid"/>
          </a:ln>
        </p:spPr>
      </p:sp>
      <p:sp>
        <p:nvSpPr>
          <p:cNvPr id="53" name="Text 51"/>
          <p:cNvSpPr/>
          <p:nvPr/>
        </p:nvSpPr>
        <p:spPr>
          <a:xfrm>
            <a:off x="1335024" y="3657600"/>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Liability dispute over a roof</a:t>
            </a:r>
            <a:endParaRPr lang="en-US" sz="1400" dirty="0"/>
          </a:p>
        </p:txBody>
      </p:sp>
      <p:sp>
        <p:nvSpPr>
          <p:cNvPr id="54" name="Shape 52"/>
          <p:cNvSpPr/>
          <p:nvPr/>
        </p:nvSpPr>
        <p:spPr>
          <a:xfrm>
            <a:off x="3950208" y="3657600"/>
            <a:ext cx="1234440" cy="658368"/>
          </a:xfrm>
          <a:prstGeom prst="rect">
            <a:avLst/>
          </a:prstGeom>
          <a:solidFill>
            <a:srgbClr val="F8FAFC"/>
          </a:solidFill>
          <a:ln w="12700">
            <a:solidFill>
              <a:srgbClr val="E2E8F0"/>
            </a:solidFill>
            <a:prstDash val="solid"/>
          </a:ln>
        </p:spPr>
      </p:sp>
      <p:sp>
        <p:nvSpPr>
          <p:cNvPr id="55" name="Text 53"/>
          <p:cNvSpPr/>
          <p:nvPr/>
        </p:nvSpPr>
        <p:spPr>
          <a:xfrm>
            <a:off x="4078224" y="3657600"/>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56" name="Shape 54"/>
          <p:cNvSpPr/>
          <p:nvPr/>
        </p:nvSpPr>
        <p:spPr>
          <a:xfrm>
            <a:off x="5184648" y="3657600"/>
            <a:ext cx="1234440" cy="658368"/>
          </a:xfrm>
          <a:prstGeom prst="rect">
            <a:avLst/>
          </a:prstGeom>
          <a:solidFill>
            <a:srgbClr val="F8FAFC"/>
          </a:solidFill>
          <a:ln w="12700">
            <a:solidFill>
              <a:srgbClr val="E2E8F0"/>
            </a:solidFill>
            <a:prstDash val="solid"/>
          </a:ln>
        </p:spPr>
      </p:sp>
      <p:sp>
        <p:nvSpPr>
          <p:cNvPr id="57" name="Text 55"/>
          <p:cNvSpPr/>
          <p:nvPr/>
        </p:nvSpPr>
        <p:spPr>
          <a:xfrm>
            <a:off x="5312664" y="3657600"/>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58" name="Shape 56"/>
          <p:cNvSpPr/>
          <p:nvPr/>
        </p:nvSpPr>
        <p:spPr>
          <a:xfrm>
            <a:off x="6419088" y="3657600"/>
            <a:ext cx="5202936" cy="658368"/>
          </a:xfrm>
          <a:prstGeom prst="rect">
            <a:avLst/>
          </a:prstGeom>
          <a:solidFill>
            <a:srgbClr val="F8FAFC"/>
          </a:solidFill>
          <a:ln w="12700">
            <a:solidFill>
              <a:srgbClr val="E2E8F0"/>
            </a:solidFill>
            <a:prstDash val="solid"/>
          </a:ln>
        </p:spPr>
      </p:sp>
      <p:sp>
        <p:nvSpPr>
          <p:cNvPr id="59" name="Text 57"/>
          <p:cNvSpPr/>
          <p:nvPr/>
        </p:nvSpPr>
        <p:spPr>
          <a:xfrm>
            <a:off x="6547104" y="3657600"/>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Insurance with a named third party, host contracts with a liability clause, legal retainer</a:t>
            </a:r>
            <a:endParaRPr lang="en-US" sz="1400" dirty="0"/>
          </a:p>
        </p:txBody>
      </p:sp>
      <p:sp>
        <p:nvSpPr>
          <p:cNvPr id="60" name="Shape 58"/>
          <p:cNvSpPr/>
          <p:nvPr/>
        </p:nvSpPr>
        <p:spPr>
          <a:xfrm>
            <a:off x="566928" y="3657600"/>
            <a:ext cx="64008" cy="658368"/>
          </a:xfrm>
          <a:prstGeom prst="rect">
            <a:avLst/>
          </a:prstGeom>
          <a:solidFill>
            <a:srgbClr val="B45309"/>
          </a:solidFill>
          <a:ln w="12700">
            <a:solidFill>
              <a:srgbClr val="333333"/>
            </a:solidFill>
            <a:prstDash val="solid"/>
          </a:ln>
        </p:spPr>
      </p:sp>
      <p:sp>
        <p:nvSpPr>
          <p:cNvPr id="61" name="Shape 59"/>
          <p:cNvSpPr/>
          <p:nvPr/>
        </p:nvSpPr>
        <p:spPr>
          <a:xfrm>
            <a:off x="566928" y="4315968"/>
            <a:ext cx="640080" cy="658368"/>
          </a:xfrm>
          <a:prstGeom prst="rect">
            <a:avLst/>
          </a:prstGeom>
          <a:solidFill>
            <a:srgbClr val="FFFFFF"/>
          </a:solidFill>
          <a:ln w="12700">
            <a:solidFill>
              <a:srgbClr val="E2E8F0"/>
            </a:solidFill>
            <a:prstDash val="solid"/>
          </a:ln>
        </p:spPr>
      </p:sp>
      <p:sp>
        <p:nvSpPr>
          <p:cNvPr id="62" name="Text 60"/>
          <p:cNvSpPr/>
          <p:nvPr/>
        </p:nvSpPr>
        <p:spPr>
          <a:xfrm>
            <a:off x="694944" y="4315968"/>
            <a:ext cx="384048" cy="65836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63" name="Shape 61"/>
          <p:cNvSpPr/>
          <p:nvPr/>
        </p:nvSpPr>
        <p:spPr>
          <a:xfrm>
            <a:off x="1207008" y="4315968"/>
            <a:ext cx="2743200" cy="658368"/>
          </a:xfrm>
          <a:prstGeom prst="rect">
            <a:avLst/>
          </a:prstGeom>
          <a:solidFill>
            <a:srgbClr val="FFFFFF"/>
          </a:solidFill>
          <a:ln w="12700">
            <a:solidFill>
              <a:srgbClr val="E2E8F0"/>
            </a:solidFill>
            <a:prstDash val="solid"/>
          </a:ln>
        </p:spPr>
      </p:sp>
      <p:sp>
        <p:nvSpPr>
          <p:cNvPr id="64" name="Text 62"/>
          <p:cNvSpPr/>
          <p:nvPr/>
        </p:nvSpPr>
        <p:spPr>
          <a:xfrm>
            <a:off x="1335024" y="4315968"/>
            <a:ext cx="248716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Vision fails in heavy rain</a:t>
            </a:r>
            <a:endParaRPr lang="en-US" sz="1400" dirty="0"/>
          </a:p>
        </p:txBody>
      </p:sp>
      <p:sp>
        <p:nvSpPr>
          <p:cNvPr id="65" name="Shape 63"/>
          <p:cNvSpPr/>
          <p:nvPr/>
        </p:nvSpPr>
        <p:spPr>
          <a:xfrm>
            <a:off x="3950208" y="4315968"/>
            <a:ext cx="1234440" cy="658368"/>
          </a:xfrm>
          <a:prstGeom prst="rect">
            <a:avLst/>
          </a:prstGeom>
          <a:solidFill>
            <a:srgbClr val="FFFFFF"/>
          </a:solidFill>
          <a:ln w="12700">
            <a:solidFill>
              <a:srgbClr val="E2E8F0"/>
            </a:solidFill>
            <a:prstDash val="solid"/>
          </a:ln>
        </p:spPr>
      </p:sp>
      <p:sp>
        <p:nvSpPr>
          <p:cNvPr id="66" name="Text 64"/>
          <p:cNvSpPr/>
          <p:nvPr/>
        </p:nvSpPr>
        <p:spPr>
          <a:xfrm>
            <a:off x="4078224" y="4315968"/>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7" name="Shape 65"/>
          <p:cNvSpPr/>
          <p:nvPr/>
        </p:nvSpPr>
        <p:spPr>
          <a:xfrm>
            <a:off x="5184648" y="4315968"/>
            <a:ext cx="1234440" cy="658368"/>
          </a:xfrm>
          <a:prstGeom prst="rect">
            <a:avLst/>
          </a:prstGeom>
          <a:solidFill>
            <a:srgbClr val="FFFFFF"/>
          </a:solidFill>
          <a:ln w="12700">
            <a:solidFill>
              <a:srgbClr val="E2E8F0"/>
            </a:solidFill>
            <a:prstDash val="solid"/>
          </a:ln>
        </p:spPr>
      </p:sp>
      <p:sp>
        <p:nvSpPr>
          <p:cNvPr id="68" name="Text 66"/>
          <p:cNvSpPr/>
          <p:nvPr/>
        </p:nvSpPr>
        <p:spPr>
          <a:xfrm>
            <a:off x="5312664" y="4315968"/>
            <a:ext cx="978408"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9" name="Shape 67"/>
          <p:cNvSpPr/>
          <p:nvPr/>
        </p:nvSpPr>
        <p:spPr>
          <a:xfrm>
            <a:off x="6419088" y="4315968"/>
            <a:ext cx="5202936" cy="658368"/>
          </a:xfrm>
          <a:prstGeom prst="rect">
            <a:avLst/>
          </a:prstGeom>
          <a:solidFill>
            <a:srgbClr val="FFFFFF"/>
          </a:solidFill>
          <a:ln w="12700">
            <a:solidFill>
              <a:srgbClr val="E2E8F0"/>
            </a:solidFill>
            <a:prstDash val="solid"/>
          </a:ln>
        </p:spPr>
      </p:sp>
      <p:sp>
        <p:nvSpPr>
          <p:cNvPr id="70" name="Text 68"/>
          <p:cNvSpPr/>
          <p:nvPr/>
        </p:nvSpPr>
        <p:spPr>
          <a:xfrm>
            <a:off x="6547104" y="4315968"/>
            <a:ext cx="4946904" cy="65836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Weather thresholds stop launches outright, corridor designed for the worst month, not the average</a:t>
            </a:r>
            <a:endParaRPr lang="en-US" sz="1400" dirty="0"/>
          </a:p>
        </p:txBody>
      </p:sp>
      <p:sp>
        <p:nvSpPr>
          <p:cNvPr id="71" name="Shape 69"/>
          <p:cNvSpPr/>
          <p:nvPr/>
        </p:nvSpPr>
        <p:spPr>
          <a:xfrm>
            <a:off x="566928" y="4315968"/>
            <a:ext cx="64008" cy="658368"/>
          </a:xfrm>
          <a:prstGeom prst="rect">
            <a:avLst/>
          </a:prstGeom>
          <a:solidFill>
            <a:srgbClr val="B45309"/>
          </a:solidFill>
          <a:ln w="12700">
            <a:solidFill>
              <a:srgbClr val="333333"/>
            </a:solidFill>
            <a:prstDash val="solid"/>
          </a:ln>
        </p:spPr>
      </p:sp>
      <p:sp>
        <p:nvSpPr>
          <p:cNvPr id="72" name="Text 70"/>
          <p:cNvSpPr/>
          <p:nvPr/>
        </p:nvSpPr>
        <p:spPr>
          <a:xfrm>
            <a:off x="566928" y="5468112"/>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Risks 1 and 2 are the same risk seen from two sides: whether we are allowed to fly at all.</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Risk register, risks 6 to 9</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Operating and commercial risks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17</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2743200" cy="384048"/>
          </a:xfrm>
          <a:prstGeom prst="rect">
            <a:avLst/>
          </a:prstGeom>
          <a:solidFill>
            <a:srgbClr val="0F172A"/>
          </a:solidFill>
          <a:ln w="12700">
            <a:solidFill>
              <a:srgbClr val="333333"/>
            </a:solidFill>
            <a:prstDash val="solid"/>
          </a:ln>
        </p:spPr>
      </p:sp>
      <p:sp>
        <p:nvSpPr>
          <p:cNvPr id="10" name="Text 8"/>
          <p:cNvSpPr/>
          <p:nvPr/>
        </p:nvSpPr>
        <p:spPr>
          <a:xfrm>
            <a:off x="1335024" y="129844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Risk</a:t>
            </a:r>
            <a:endParaRPr lang="en-US" sz="1400" dirty="0"/>
          </a:p>
        </p:txBody>
      </p:sp>
      <p:sp>
        <p:nvSpPr>
          <p:cNvPr id="11" name="Shape 9"/>
          <p:cNvSpPr/>
          <p:nvPr/>
        </p:nvSpPr>
        <p:spPr>
          <a:xfrm>
            <a:off x="3950208" y="1298448"/>
            <a:ext cx="1234440" cy="384048"/>
          </a:xfrm>
          <a:prstGeom prst="rect">
            <a:avLst/>
          </a:prstGeom>
          <a:solidFill>
            <a:srgbClr val="0F172A"/>
          </a:solidFill>
          <a:ln w="12700">
            <a:solidFill>
              <a:srgbClr val="333333"/>
            </a:solidFill>
            <a:prstDash val="solid"/>
          </a:ln>
        </p:spPr>
      </p:sp>
      <p:sp>
        <p:nvSpPr>
          <p:cNvPr id="12" name="Text 10"/>
          <p:cNvSpPr/>
          <p:nvPr/>
        </p:nvSpPr>
        <p:spPr>
          <a:xfrm>
            <a:off x="407822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Probability</a:t>
            </a:r>
            <a:endParaRPr lang="en-US" sz="1400" dirty="0"/>
          </a:p>
        </p:txBody>
      </p:sp>
      <p:sp>
        <p:nvSpPr>
          <p:cNvPr id="13" name="Shape 11"/>
          <p:cNvSpPr/>
          <p:nvPr/>
        </p:nvSpPr>
        <p:spPr>
          <a:xfrm>
            <a:off x="5184648" y="1298448"/>
            <a:ext cx="1234440" cy="384048"/>
          </a:xfrm>
          <a:prstGeom prst="rect">
            <a:avLst/>
          </a:prstGeom>
          <a:solidFill>
            <a:srgbClr val="0F172A"/>
          </a:solidFill>
          <a:ln w="12700">
            <a:solidFill>
              <a:srgbClr val="333333"/>
            </a:solidFill>
            <a:prstDash val="solid"/>
          </a:ln>
        </p:spPr>
      </p:sp>
      <p:sp>
        <p:nvSpPr>
          <p:cNvPr id="14" name="Text 12"/>
          <p:cNvSpPr/>
          <p:nvPr/>
        </p:nvSpPr>
        <p:spPr>
          <a:xfrm>
            <a:off x="5312664" y="1298448"/>
            <a:ext cx="978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Impact</a:t>
            </a:r>
            <a:endParaRPr lang="en-US" sz="1400" dirty="0"/>
          </a:p>
        </p:txBody>
      </p:sp>
      <p:sp>
        <p:nvSpPr>
          <p:cNvPr id="15" name="Shape 13"/>
          <p:cNvSpPr/>
          <p:nvPr/>
        </p:nvSpPr>
        <p:spPr>
          <a:xfrm>
            <a:off x="6419088" y="1298448"/>
            <a:ext cx="5202936" cy="384048"/>
          </a:xfrm>
          <a:prstGeom prst="rect">
            <a:avLst/>
          </a:prstGeom>
          <a:solidFill>
            <a:srgbClr val="0F172A"/>
          </a:solidFill>
          <a:ln w="12700">
            <a:solidFill>
              <a:srgbClr val="333333"/>
            </a:solidFill>
            <a:prstDash val="solid"/>
          </a:ln>
        </p:spPr>
      </p:sp>
      <p:sp>
        <p:nvSpPr>
          <p:cNvPr id="16" name="Text 14"/>
          <p:cNvSpPr/>
          <p:nvPr/>
        </p:nvSpPr>
        <p:spPr>
          <a:xfrm>
            <a:off x="6547104" y="1298448"/>
            <a:ext cx="494690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Mitigation</a:t>
            </a:r>
            <a:endParaRPr lang="en-US" sz="1400" dirty="0"/>
          </a:p>
        </p:txBody>
      </p:sp>
      <p:sp>
        <p:nvSpPr>
          <p:cNvPr id="17" name="Shape 15"/>
          <p:cNvSpPr/>
          <p:nvPr/>
        </p:nvSpPr>
        <p:spPr>
          <a:xfrm>
            <a:off x="566928" y="1682496"/>
            <a:ext cx="640080" cy="786384"/>
          </a:xfrm>
          <a:prstGeom prst="rect">
            <a:avLst/>
          </a:prstGeom>
          <a:solidFill>
            <a:srgbClr val="FFFFFF"/>
          </a:solidFill>
          <a:ln w="12700">
            <a:solidFill>
              <a:srgbClr val="E2E8F0"/>
            </a:solidFill>
            <a:prstDash val="solid"/>
          </a:ln>
        </p:spPr>
      </p:sp>
      <p:sp>
        <p:nvSpPr>
          <p:cNvPr id="18" name="Text 16"/>
          <p:cNvSpPr/>
          <p:nvPr/>
        </p:nvSpPr>
        <p:spPr>
          <a:xfrm>
            <a:off x="694944" y="1682496"/>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6</a:t>
            </a:r>
            <a:endParaRPr lang="en-US" sz="1400" dirty="0"/>
          </a:p>
        </p:txBody>
      </p:sp>
      <p:sp>
        <p:nvSpPr>
          <p:cNvPr id="19" name="Shape 17"/>
          <p:cNvSpPr/>
          <p:nvPr/>
        </p:nvSpPr>
        <p:spPr>
          <a:xfrm>
            <a:off x="1207008" y="1682496"/>
            <a:ext cx="2743200" cy="786384"/>
          </a:xfrm>
          <a:prstGeom prst="rect">
            <a:avLst/>
          </a:prstGeom>
          <a:solidFill>
            <a:srgbClr val="FFFFFF"/>
          </a:solidFill>
          <a:ln w="12700">
            <a:solidFill>
              <a:srgbClr val="E2E8F0"/>
            </a:solidFill>
            <a:prstDash val="solid"/>
          </a:ln>
        </p:spPr>
      </p:sp>
      <p:sp>
        <p:nvSpPr>
          <p:cNvPr id="20" name="Text 18"/>
          <p:cNvSpPr/>
          <p:nvPr/>
        </p:nvSpPr>
        <p:spPr>
          <a:xfrm>
            <a:off x="1335024" y="1682496"/>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Battery degrades faster than budgeted</a:t>
            </a:r>
            <a:endParaRPr lang="en-US" sz="1400" dirty="0"/>
          </a:p>
        </p:txBody>
      </p:sp>
      <p:sp>
        <p:nvSpPr>
          <p:cNvPr id="21" name="Shape 19"/>
          <p:cNvSpPr/>
          <p:nvPr/>
        </p:nvSpPr>
        <p:spPr>
          <a:xfrm>
            <a:off x="3950208" y="1682496"/>
            <a:ext cx="1234440" cy="786384"/>
          </a:xfrm>
          <a:prstGeom prst="rect">
            <a:avLst/>
          </a:prstGeom>
          <a:solidFill>
            <a:srgbClr val="FFFFFF"/>
          </a:solidFill>
          <a:ln w="12700">
            <a:solidFill>
              <a:srgbClr val="E2E8F0"/>
            </a:solidFill>
            <a:prstDash val="solid"/>
          </a:ln>
        </p:spPr>
      </p:sp>
      <p:sp>
        <p:nvSpPr>
          <p:cNvPr id="22" name="Text 20"/>
          <p:cNvSpPr/>
          <p:nvPr/>
        </p:nvSpPr>
        <p:spPr>
          <a:xfrm>
            <a:off x="4078224" y="1682496"/>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3" name="Shape 21"/>
          <p:cNvSpPr/>
          <p:nvPr/>
        </p:nvSpPr>
        <p:spPr>
          <a:xfrm>
            <a:off x="5184648" y="1682496"/>
            <a:ext cx="1234440" cy="786384"/>
          </a:xfrm>
          <a:prstGeom prst="rect">
            <a:avLst/>
          </a:prstGeom>
          <a:solidFill>
            <a:srgbClr val="FFFFFF"/>
          </a:solidFill>
          <a:ln w="12700">
            <a:solidFill>
              <a:srgbClr val="E2E8F0"/>
            </a:solidFill>
            <a:prstDash val="solid"/>
          </a:ln>
        </p:spPr>
      </p:sp>
      <p:sp>
        <p:nvSpPr>
          <p:cNvPr id="24" name="Text 22"/>
          <p:cNvSpPr/>
          <p:nvPr/>
        </p:nvSpPr>
        <p:spPr>
          <a:xfrm>
            <a:off x="5312664" y="1682496"/>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25" name="Shape 23"/>
          <p:cNvSpPr/>
          <p:nvPr/>
        </p:nvSpPr>
        <p:spPr>
          <a:xfrm>
            <a:off x="6419088" y="1682496"/>
            <a:ext cx="5202936" cy="786384"/>
          </a:xfrm>
          <a:prstGeom prst="rect">
            <a:avLst/>
          </a:prstGeom>
          <a:solidFill>
            <a:srgbClr val="FFFFFF"/>
          </a:solidFill>
          <a:ln w="12700">
            <a:solidFill>
              <a:srgbClr val="E2E8F0"/>
            </a:solidFill>
            <a:prstDash val="solid"/>
          </a:ln>
        </p:spPr>
      </p:sp>
      <p:sp>
        <p:nvSpPr>
          <p:cNvPr id="26" name="Text 24"/>
          <p:cNvSpPr/>
          <p:nvPr/>
        </p:nvSpPr>
        <p:spPr>
          <a:xfrm>
            <a:off x="6547104" y="1682496"/>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Second battery set per airframe, monthly cycle counts, replacement booked into monthly cost</a:t>
            </a:r>
            <a:endParaRPr lang="en-US" sz="1400" dirty="0"/>
          </a:p>
        </p:txBody>
      </p:sp>
      <p:sp>
        <p:nvSpPr>
          <p:cNvPr id="27" name="Shape 25"/>
          <p:cNvSpPr/>
          <p:nvPr/>
        </p:nvSpPr>
        <p:spPr>
          <a:xfrm>
            <a:off x="566928" y="1682496"/>
            <a:ext cx="64008" cy="786384"/>
          </a:xfrm>
          <a:prstGeom prst="rect">
            <a:avLst/>
          </a:prstGeom>
          <a:solidFill>
            <a:srgbClr val="CBD5E1"/>
          </a:solidFill>
          <a:ln w="12700">
            <a:solidFill>
              <a:srgbClr val="333333"/>
            </a:solidFill>
            <a:prstDash val="solid"/>
          </a:ln>
        </p:spPr>
      </p:sp>
      <p:sp>
        <p:nvSpPr>
          <p:cNvPr id="28" name="Shape 26"/>
          <p:cNvSpPr/>
          <p:nvPr/>
        </p:nvSpPr>
        <p:spPr>
          <a:xfrm>
            <a:off x="566928" y="2468880"/>
            <a:ext cx="640080" cy="786384"/>
          </a:xfrm>
          <a:prstGeom prst="rect">
            <a:avLst/>
          </a:prstGeom>
          <a:solidFill>
            <a:srgbClr val="F8FAFC"/>
          </a:solidFill>
          <a:ln w="12700">
            <a:solidFill>
              <a:srgbClr val="E2E8F0"/>
            </a:solidFill>
            <a:prstDash val="solid"/>
          </a:ln>
        </p:spPr>
      </p:sp>
      <p:sp>
        <p:nvSpPr>
          <p:cNvPr id="29" name="Text 27"/>
          <p:cNvSpPr/>
          <p:nvPr/>
        </p:nvSpPr>
        <p:spPr>
          <a:xfrm>
            <a:off x="694944" y="2468880"/>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7</a:t>
            </a:r>
            <a:endParaRPr lang="en-US" sz="1400" dirty="0"/>
          </a:p>
        </p:txBody>
      </p:sp>
      <p:sp>
        <p:nvSpPr>
          <p:cNvPr id="30" name="Shape 28"/>
          <p:cNvSpPr/>
          <p:nvPr/>
        </p:nvSpPr>
        <p:spPr>
          <a:xfrm>
            <a:off x="1207008" y="2468880"/>
            <a:ext cx="2743200" cy="786384"/>
          </a:xfrm>
          <a:prstGeom prst="rect">
            <a:avLst/>
          </a:prstGeom>
          <a:solidFill>
            <a:srgbClr val="F8FAFC"/>
          </a:solidFill>
          <a:ln w="12700">
            <a:solidFill>
              <a:srgbClr val="E2E8F0"/>
            </a:solidFill>
            <a:prstDash val="solid"/>
          </a:ln>
        </p:spPr>
      </p:sp>
      <p:sp>
        <p:nvSpPr>
          <p:cNvPr id="31" name="Text 29"/>
          <p:cNvSpPr/>
          <p:nvPr/>
        </p:nvSpPr>
        <p:spPr>
          <a:xfrm>
            <a:off x="1335024" y="2468880"/>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Jev is withdrawn or repriced</a:t>
            </a:r>
            <a:endParaRPr lang="en-US" sz="1400" dirty="0"/>
          </a:p>
        </p:txBody>
      </p:sp>
      <p:sp>
        <p:nvSpPr>
          <p:cNvPr id="32" name="Shape 30"/>
          <p:cNvSpPr/>
          <p:nvPr/>
        </p:nvSpPr>
        <p:spPr>
          <a:xfrm>
            <a:off x="3950208" y="2468880"/>
            <a:ext cx="1234440" cy="786384"/>
          </a:xfrm>
          <a:prstGeom prst="rect">
            <a:avLst/>
          </a:prstGeom>
          <a:solidFill>
            <a:srgbClr val="F8FAFC"/>
          </a:solidFill>
          <a:ln w="12700">
            <a:solidFill>
              <a:srgbClr val="E2E8F0"/>
            </a:solidFill>
            <a:prstDash val="solid"/>
          </a:ln>
        </p:spPr>
      </p:sp>
      <p:sp>
        <p:nvSpPr>
          <p:cNvPr id="33" name="Text 31"/>
          <p:cNvSpPr/>
          <p:nvPr/>
        </p:nvSpPr>
        <p:spPr>
          <a:xfrm>
            <a:off x="4078224" y="2468880"/>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4" name="Shape 32"/>
          <p:cNvSpPr/>
          <p:nvPr/>
        </p:nvSpPr>
        <p:spPr>
          <a:xfrm>
            <a:off x="5184648" y="2468880"/>
            <a:ext cx="1234440" cy="786384"/>
          </a:xfrm>
          <a:prstGeom prst="rect">
            <a:avLst/>
          </a:prstGeom>
          <a:solidFill>
            <a:srgbClr val="F8FAFC"/>
          </a:solidFill>
          <a:ln w="12700">
            <a:solidFill>
              <a:srgbClr val="E2E8F0"/>
            </a:solidFill>
            <a:prstDash val="solid"/>
          </a:ln>
        </p:spPr>
      </p:sp>
      <p:sp>
        <p:nvSpPr>
          <p:cNvPr id="35" name="Text 33"/>
          <p:cNvSpPr/>
          <p:nvPr/>
        </p:nvSpPr>
        <p:spPr>
          <a:xfrm>
            <a:off x="5312664" y="2468880"/>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36" name="Shape 34"/>
          <p:cNvSpPr/>
          <p:nvPr/>
        </p:nvSpPr>
        <p:spPr>
          <a:xfrm>
            <a:off x="6419088" y="2468880"/>
            <a:ext cx="5202936" cy="786384"/>
          </a:xfrm>
          <a:prstGeom prst="rect">
            <a:avLst/>
          </a:prstGeom>
          <a:solidFill>
            <a:srgbClr val="F8FAFC"/>
          </a:solidFill>
          <a:ln w="12700">
            <a:solidFill>
              <a:srgbClr val="E2E8F0"/>
            </a:solidFill>
            <a:prstDash val="solid"/>
          </a:ln>
        </p:spPr>
      </p:sp>
      <p:sp>
        <p:nvSpPr>
          <p:cNvPr id="37" name="Text 35"/>
          <p:cNvSpPr/>
          <p:nvPr/>
        </p:nvSpPr>
        <p:spPr>
          <a:xfrm>
            <a:off x="6547104" y="2468880"/>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Deterministic rule set reproduces its decisions, GLM fallback, contract reviewed before launch</a:t>
            </a:r>
            <a:endParaRPr lang="en-US" sz="1400" dirty="0"/>
          </a:p>
        </p:txBody>
      </p:sp>
      <p:sp>
        <p:nvSpPr>
          <p:cNvPr id="38" name="Shape 36"/>
          <p:cNvSpPr/>
          <p:nvPr/>
        </p:nvSpPr>
        <p:spPr>
          <a:xfrm>
            <a:off x="566928" y="2468880"/>
            <a:ext cx="64008" cy="786384"/>
          </a:xfrm>
          <a:prstGeom prst="rect">
            <a:avLst/>
          </a:prstGeom>
          <a:solidFill>
            <a:srgbClr val="CBD5E1"/>
          </a:solidFill>
          <a:ln w="12700">
            <a:solidFill>
              <a:srgbClr val="333333"/>
            </a:solidFill>
            <a:prstDash val="solid"/>
          </a:ln>
        </p:spPr>
      </p:sp>
      <p:sp>
        <p:nvSpPr>
          <p:cNvPr id="39" name="Shape 37"/>
          <p:cNvSpPr/>
          <p:nvPr/>
        </p:nvSpPr>
        <p:spPr>
          <a:xfrm>
            <a:off x="566928" y="3255264"/>
            <a:ext cx="640080" cy="786384"/>
          </a:xfrm>
          <a:prstGeom prst="rect">
            <a:avLst/>
          </a:prstGeom>
          <a:solidFill>
            <a:srgbClr val="FFFFFF"/>
          </a:solidFill>
          <a:ln w="12700">
            <a:solidFill>
              <a:srgbClr val="E2E8F0"/>
            </a:solidFill>
            <a:prstDash val="solid"/>
          </a:ln>
        </p:spPr>
      </p:sp>
      <p:sp>
        <p:nvSpPr>
          <p:cNvPr id="40" name="Text 38"/>
          <p:cNvSpPr/>
          <p:nvPr/>
        </p:nvSpPr>
        <p:spPr>
          <a:xfrm>
            <a:off x="694944" y="3255264"/>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8</a:t>
            </a:r>
            <a:endParaRPr lang="en-US" sz="1400" dirty="0"/>
          </a:p>
        </p:txBody>
      </p:sp>
      <p:sp>
        <p:nvSpPr>
          <p:cNvPr id="41" name="Shape 39"/>
          <p:cNvSpPr/>
          <p:nvPr/>
        </p:nvSpPr>
        <p:spPr>
          <a:xfrm>
            <a:off x="1207008" y="3255264"/>
            <a:ext cx="2743200" cy="786384"/>
          </a:xfrm>
          <a:prstGeom prst="rect">
            <a:avLst/>
          </a:prstGeom>
          <a:solidFill>
            <a:srgbClr val="FFFFFF"/>
          </a:solidFill>
          <a:ln w="12700">
            <a:solidFill>
              <a:srgbClr val="E2E8F0"/>
            </a:solidFill>
            <a:prstDash val="solid"/>
          </a:ln>
        </p:spPr>
      </p:sp>
      <p:sp>
        <p:nvSpPr>
          <p:cNvPr id="42" name="Text 40"/>
          <p:cNvSpPr/>
          <p:nvPr/>
        </p:nvSpPr>
        <p:spPr>
          <a:xfrm>
            <a:off x="1335024" y="3255264"/>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host withdraws consent</a:t>
            </a:r>
            <a:endParaRPr lang="en-US" sz="1400" dirty="0"/>
          </a:p>
        </p:txBody>
      </p:sp>
      <p:sp>
        <p:nvSpPr>
          <p:cNvPr id="43" name="Shape 41"/>
          <p:cNvSpPr/>
          <p:nvPr/>
        </p:nvSpPr>
        <p:spPr>
          <a:xfrm>
            <a:off x="3950208" y="3255264"/>
            <a:ext cx="1234440" cy="786384"/>
          </a:xfrm>
          <a:prstGeom prst="rect">
            <a:avLst/>
          </a:prstGeom>
          <a:solidFill>
            <a:srgbClr val="FFFFFF"/>
          </a:solidFill>
          <a:ln w="12700">
            <a:solidFill>
              <a:srgbClr val="E2E8F0"/>
            </a:solidFill>
            <a:prstDash val="solid"/>
          </a:ln>
        </p:spPr>
      </p:sp>
      <p:sp>
        <p:nvSpPr>
          <p:cNvPr id="44" name="Text 42"/>
          <p:cNvSpPr/>
          <p:nvPr/>
        </p:nvSpPr>
        <p:spPr>
          <a:xfrm>
            <a:off x="4078224" y="3255264"/>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45" name="Shape 43"/>
          <p:cNvSpPr/>
          <p:nvPr/>
        </p:nvSpPr>
        <p:spPr>
          <a:xfrm>
            <a:off x="5184648" y="3255264"/>
            <a:ext cx="1234440" cy="786384"/>
          </a:xfrm>
          <a:prstGeom prst="rect">
            <a:avLst/>
          </a:prstGeom>
          <a:solidFill>
            <a:srgbClr val="FFFFFF"/>
          </a:solidFill>
          <a:ln w="12700">
            <a:solidFill>
              <a:srgbClr val="E2E8F0"/>
            </a:solidFill>
            <a:prstDash val="solid"/>
          </a:ln>
        </p:spPr>
      </p:sp>
      <p:sp>
        <p:nvSpPr>
          <p:cNvPr id="46" name="Text 44"/>
          <p:cNvSpPr/>
          <p:nvPr/>
        </p:nvSpPr>
        <p:spPr>
          <a:xfrm>
            <a:off x="5312664" y="3255264"/>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47" name="Shape 45"/>
          <p:cNvSpPr/>
          <p:nvPr/>
        </p:nvSpPr>
        <p:spPr>
          <a:xfrm>
            <a:off x="6419088" y="3255264"/>
            <a:ext cx="5202936" cy="786384"/>
          </a:xfrm>
          <a:prstGeom prst="rect">
            <a:avLst/>
          </a:prstGeom>
          <a:solidFill>
            <a:srgbClr val="FFFFFF"/>
          </a:solidFill>
          <a:ln w="12700">
            <a:solidFill>
              <a:srgbClr val="E2E8F0"/>
            </a:solidFill>
            <a:prstDash val="solid"/>
          </a:ln>
        </p:spPr>
      </p:sp>
      <p:sp>
        <p:nvSpPr>
          <p:cNvPr id="48" name="Text 46"/>
          <p:cNvSpPr/>
          <p:nvPr/>
        </p:nvSpPr>
        <p:spPr>
          <a:xfrm>
            <a:off x="6547104" y="3255264"/>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Minimum term in every contract, a removal clause, and never one pad on a critical corner</a:t>
            </a:r>
            <a:endParaRPr lang="en-US" sz="1400" dirty="0"/>
          </a:p>
        </p:txBody>
      </p:sp>
      <p:sp>
        <p:nvSpPr>
          <p:cNvPr id="49" name="Shape 47"/>
          <p:cNvSpPr/>
          <p:nvPr/>
        </p:nvSpPr>
        <p:spPr>
          <a:xfrm>
            <a:off x="566928" y="3255264"/>
            <a:ext cx="64008" cy="786384"/>
          </a:xfrm>
          <a:prstGeom prst="rect">
            <a:avLst/>
          </a:prstGeom>
          <a:solidFill>
            <a:srgbClr val="B45309"/>
          </a:solidFill>
          <a:ln w="12700">
            <a:solidFill>
              <a:srgbClr val="333333"/>
            </a:solidFill>
            <a:prstDash val="solid"/>
          </a:ln>
        </p:spPr>
      </p:sp>
      <p:sp>
        <p:nvSpPr>
          <p:cNvPr id="50" name="Shape 48"/>
          <p:cNvSpPr/>
          <p:nvPr/>
        </p:nvSpPr>
        <p:spPr>
          <a:xfrm>
            <a:off x="566928" y="4041648"/>
            <a:ext cx="640080" cy="786384"/>
          </a:xfrm>
          <a:prstGeom prst="rect">
            <a:avLst/>
          </a:prstGeom>
          <a:solidFill>
            <a:srgbClr val="F8FAFC"/>
          </a:solidFill>
          <a:ln w="12700">
            <a:solidFill>
              <a:srgbClr val="E2E8F0"/>
            </a:solidFill>
            <a:prstDash val="solid"/>
          </a:ln>
        </p:spPr>
      </p:sp>
      <p:sp>
        <p:nvSpPr>
          <p:cNvPr id="51" name="Text 49"/>
          <p:cNvSpPr/>
          <p:nvPr/>
        </p:nvSpPr>
        <p:spPr>
          <a:xfrm>
            <a:off x="694944" y="4041648"/>
            <a:ext cx="384048" cy="78638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9</a:t>
            </a:r>
            <a:endParaRPr lang="en-US" sz="1400" dirty="0"/>
          </a:p>
        </p:txBody>
      </p:sp>
      <p:sp>
        <p:nvSpPr>
          <p:cNvPr id="52" name="Shape 50"/>
          <p:cNvSpPr/>
          <p:nvPr/>
        </p:nvSpPr>
        <p:spPr>
          <a:xfrm>
            <a:off x="1207008" y="4041648"/>
            <a:ext cx="2743200" cy="786384"/>
          </a:xfrm>
          <a:prstGeom prst="rect">
            <a:avLst/>
          </a:prstGeom>
          <a:solidFill>
            <a:srgbClr val="F8FAFC"/>
          </a:solidFill>
          <a:ln w="12700">
            <a:solidFill>
              <a:srgbClr val="E2E8F0"/>
            </a:solidFill>
            <a:prstDash val="solid"/>
          </a:ln>
        </p:spPr>
      </p:sp>
      <p:sp>
        <p:nvSpPr>
          <p:cNvPr id="53" name="Text 51"/>
          <p:cNvSpPr/>
          <p:nvPr/>
        </p:nvSpPr>
        <p:spPr>
          <a:xfrm>
            <a:off x="1335024" y="4041648"/>
            <a:ext cx="248716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Rider or customer refuses a pad</a:t>
            </a:r>
            <a:endParaRPr lang="en-US" sz="1400" dirty="0"/>
          </a:p>
        </p:txBody>
      </p:sp>
      <p:sp>
        <p:nvSpPr>
          <p:cNvPr id="54" name="Shape 52"/>
          <p:cNvSpPr/>
          <p:nvPr/>
        </p:nvSpPr>
        <p:spPr>
          <a:xfrm>
            <a:off x="3950208" y="4041648"/>
            <a:ext cx="1234440" cy="786384"/>
          </a:xfrm>
          <a:prstGeom prst="rect">
            <a:avLst/>
          </a:prstGeom>
          <a:solidFill>
            <a:srgbClr val="F8FAFC"/>
          </a:solidFill>
          <a:ln w="12700">
            <a:solidFill>
              <a:srgbClr val="E2E8F0"/>
            </a:solidFill>
            <a:prstDash val="solid"/>
          </a:ln>
        </p:spPr>
      </p:sp>
      <p:sp>
        <p:nvSpPr>
          <p:cNvPr id="55" name="Text 53"/>
          <p:cNvSpPr/>
          <p:nvPr/>
        </p:nvSpPr>
        <p:spPr>
          <a:xfrm>
            <a:off x="4078224" y="4041648"/>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56" name="Shape 54"/>
          <p:cNvSpPr/>
          <p:nvPr/>
        </p:nvSpPr>
        <p:spPr>
          <a:xfrm>
            <a:off x="5184648" y="4041648"/>
            <a:ext cx="1234440" cy="786384"/>
          </a:xfrm>
          <a:prstGeom prst="rect">
            <a:avLst/>
          </a:prstGeom>
          <a:solidFill>
            <a:srgbClr val="F8FAFC"/>
          </a:solidFill>
          <a:ln w="12700">
            <a:solidFill>
              <a:srgbClr val="E2E8F0"/>
            </a:solidFill>
            <a:prstDash val="solid"/>
          </a:ln>
        </p:spPr>
      </p:sp>
      <p:sp>
        <p:nvSpPr>
          <p:cNvPr id="57" name="Text 55"/>
          <p:cNvSpPr/>
          <p:nvPr/>
        </p:nvSpPr>
        <p:spPr>
          <a:xfrm>
            <a:off x="5312664" y="4041648"/>
            <a:ext cx="978408"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58" name="Shape 56"/>
          <p:cNvSpPr/>
          <p:nvPr/>
        </p:nvSpPr>
        <p:spPr>
          <a:xfrm>
            <a:off x="6419088" y="4041648"/>
            <a:ext cx="5202936" cy="786384"/>
          </a:xfrm>
          <a:prstGeom prst="rect">
            <a:avLst/>
          </a:prstGeom>
          <a:solidFill>
            <a:srgbClr val="F8FAFC"/>
          </a:solidFill>
          <a:ln w="12700">
            <a:solidFill>
              <a:srgbClr val="E2E8F0"/>
            </a:solidFill>
            <a:prstDash val="solid"/>
          </a:ln>
        </p:spPr>
      </p:sp>
      <p:sp>
        <p:nvSpPr>
          <p:cNvPr id="59" name="Text 57"/>
          <p:cNvSpPr/>
          <p:nvPr/>
        </p:nvSpPr>
        <p:spPr>
          <a:xfrm>
            <a:off x="6547104" y="4041648"/>
            <a:ext cx="4946904" cy="78638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count per corridor held above the minimum density, doorstep fallback for the corner case</a:t>
            </a:r>
            <a:endParaRPr lang="en-US" sz="1400" dirty="0"/>
          </a:p>
        </p:txBody>
      </p:sp>
      <p:sp>
        <p:nvSpPr>
          <p:cNvPr id="60" name="Shape 58"/>
          <p:cNvSpPr/>
          <p:nvPr/>
        </p:nvSpPr>
        <p:spPr>
          <a:xfrm>
            <a:off x="566928" y="4041648"/>
            <a:ext cx="64008" cy="786384"/>
          </a:xfrm>
          <a:prstGeom prst="rect">
            <a:avLst/>
          </a:prstGeom>
          <a:solidFill>
            <a:srgbClr val="CBD5E1"/>
          </a:solidFill>
          <a:ln w="12700">
            <a:solidFill>
              <a:srgbClr val="333333"/>
            </a:solidFill>
            <a:prstDash val="solid"/>
          </a:ln>
        </p:spPr>
      </p:sp>
      <p:sp>
        <p:nvSpPr>
          <p:cNvPr id="61" name="Shape 59"/>
          <p:cNvSpPr/>
          <p:nvPr/>
        </p:nvSpPr>
        <p:spPr>
          <a:xfrm>
            <a:off x="566928" y="4590288"/>
            <a:ext cx="11057839" cy="1115568"/>
          </a:xfrm>
          <a:prstGeom prst="roundRect">
            <a:avLst>
              <a:gd name="adj" fmla="val 4098"/>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62" name="Text 60"/>
          <p:cNvSpPr/>
          <p:nvPr/>
        </p:nvSpPr>
        <p:spPr>
          <a:xfrm>
            <a:off x="694944" y="4681728"/>
            <a:ext cx="10801807" cy="274320"/>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Risk 7 is the one people forget</a:t>
            </a:r>
            <a:endParaRPr lang="en-US" sz="1600" dirty="0"/>
          </a:p>
        </p:txBody>
      </p:sp>
      <p:sp>
        <p:nvSpPr>
          <p:cNvPr id="63" name="Text 61"/>
          <p:cNvSpPr/>
          <p:nvPr/>
        </p:nvSpPr>
        <p:spPr>
          <a:xfrm>
            <a:off x="713232" y="5010912"/>
            <a:ext cx="10765231" cy="585216"/>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We chose a closed model for the fastest tier, and accept that</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mitigation is a rule set that works without Jev</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4. Technical Safety and Navigation Risk</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Three risks we will not take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Stated as prohibitions, not ambitions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18</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3515258" cy="2651760"/>
          </a:xfrm>
          <a:prstGeom prst="roundRect">
            <a:avLst>
              <a:gd name="adj" fmla="val 172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3515258" cy="82296"/>
          </a:xfrm>
          <a:prstGeom prst="rect">
            <a:avLst/>
          </a:prstGeom>
          <a:solidFill>
            <a:srgbClr val="800020"/>
          </a:solidFill>
          <a:ln w="12700">
            <a:solidFill>
              <a:srgbClr val="333333"/>
            </a:solidFill>
            <a:prstDash val="solid"/>
          </a:ln>
        </p:spPr>
      </p:sp>
      <p:sp>
        <p:nvSpPr>
          <p:cNvPr id="9" name="Text 7"/>
          <p:cNvSpPr/>
          <p:nvPr/>
        </p:nvSpPr>
        <p:spPr>
          <a:xfrm>
            <a:off x="731520" y="1517904"/>
            <a:ext cx="3186074" cy="658368"/>
          </a:xfrm>
          <a:prstGeom prst="rect">
            <a:avLst/>
          </a:prstGeom>
          <a:noFill/>
          <a:ln/>
        </p:spPr>
        <p:txBody>
          <a:bodyPr wrap="square" lIns="0" tIns="0" rIns="0" bIns="0" rtlCol="0" anchor="ctr"/>
          <a:lstStyle/>
          <a:p>
            <a:pPr indent="0" marL="0">
              <a:lnSpc>
                <a:spcPts val="2300"/>
              </a:lnSpc>
              <a:buNone/>
            </a:pPr>
            <a:r>
              <a:rPr lang="en-US" sz="1900" b="1" dirty="0">
                <a:solidFill>
                  <a:srgbClr val="800020"/>
                </a:solidFill>
                <a:latin typeface="Century Schoolbook" pitchFamily="34" charset="0"/>
                <a:ea typeface="Century Schoolbook" pitchFamily="34" charset="-122"/>
                <a:cs typeface="Century Schoolbook" pitchFamily="34" charset="-120"/>
              </a:rPr>
              <a:t>No flight over a crowd</a:t>
            </a:r>
            <a:endParaRPr lang="en-US" sz="1900" dirty="0"/>
          </a:p>
        </p:txBody>
      </p:sp>
      <p:sp>
        <p:nvSpPr>
          <p:cNvPr id="10" name="Shape 8"/>
          <p:cNvSpPr/>
          <p:nvPr/>
        </p:nvSpPr>
        <p:spPr>
          <a:xfrm>
            <a:off x="731520" y="2249424"/>
            <a:ext cx="3186074" cy="18288"/>
          </a:xfrm>
          <a:prstGeom prst="rect">
            <a:avLst/>
          </a:prstGeom>
          <a:solidFill>
            <a:srgbClr val="E2E8F0"/>
          </a:solidFill>
          <a:ln w="12700">
            <a:solidFill>
              <a:srgbClr val="333333"/>
            </a:solidFill>
            <a:prstDash val="solid"/>
          </a:ln>
        </p:spPr>
      </p:sp>
      <p:sp>
        <p:nvSpPr>
          <p:cNvPr id="11" name="Text 9"/>
          <p:cNvSpPr/>
          <p:nvPr/>
        </p:nvSpPr>
        <p:spPr>
          <a:xfrm>
            <a:off x="731520" y="2359152"/>
            <a:ext cx="3186074" cy="14630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Corridors are sized so a corridor never crosses a school, a hospital or a stadium. No exception, no launch.</a:t>
            </a:r>
            <a:endParaRPr lang="en-US" sz="1400" dirty="0"/>
          </a:p>
        </p:txBody>
      </p:sp>
      <p:sp>
        <p:nvSpPr>
          <p:cNvPr id="12" name="Shape 10"/>
          <p:cNvSpPr/>
          <p:nvPr/>
        </p:nvSpPr>
        <p:spPr>
          <a:xfrm>
            <a:off x="4338218" y="1298448"/>
            <a:ext cx="3515258" cy="2651760"/>
          </a:xfrm>
          <a:prstGeom prst="roundRect">
            <a:avLst>
              <a:gd name="adj" fmla="val 1724"/>
            </a:avLst>
          </a:prstGeom>
          <a:solidFill>
            <a:srgbClr val="FFFFFF"/>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4338218" y="1298448"/>
            <a:ext cx="3515258" cy="82296"/>
          </a:xfrm>
          <a:prstGeom prst="rect">
            <a:avLst/>
          </a:prstGeom>
          <a:solidFill>
            <a:srgbClr val="800020"/>
          </a:solidFill>
          <a:ln w="12700">
            <a:solidFill>
              <a:srgbClr val="333333"/>
            </a:solidFill>
            <a:prstDash val="solid"/>
          </a:ln>
        </p:spPr>
      </p:sp>
      <p:sp>
        <p:nvSpPr>
          <p:cNvPr id="14" name="Text 12"/>
          <p:cNvSpPr/>
          <p:nvPr/>
        </p:nvSpPr>
        <p:spPr>
          <a:xfrm>
            <a:off x="4502810" y="1517904"/>
            <a:ext cx="3186074" cy="658368"/>
          </a:xfrm>
          <a:prstGeom prst="rect">
            <a:avLst/>
          </a:prstGeom>
          <a:noFill/>
          <a:ln/>
        </p:spPr>
        <p:txBody>
          <a:bodyPr wrap="square" lIns="0" tIns="0" rIns="0" bIns="0" rtlCol="0" anchor="ctr"/>
          <a:lstStyle/>
          <a:p>
            <a:pPr indent="0" marL="0">
              <a:lnSpc>
                <a:spcPts val="2300"/>
              </a:lnSpc>
              <a:buNone/>
            </a:pPr>
            <a:r>
              <a:rPr lang="en-US" sz="1900" b="1" dirty="0">
                <a:solidFill>
                  <a:srgbClr val="800020"/>
                </a:solidFill>
                <a:latin typeface="Century Schoolbook" pitchFamily="34" charset="0"/>
                <a:ea typeface="Century Schoolbook" pitchFamily="34" charset="-122"/>
                <a:cs typeface="Century Schoolbook" pitchFamily="34" charset="-120"/>
              </a:rPr>
              <a:t>No flight without a recoverable pad</a:t>
            </a:r>
            <a:endParaRPr lang="en-US" sz="1900" dirty="0"/>
          </a:p>
        </p:txBody>
      </p:sp>
      <p:sp>
        <p:nvSpPr>
          <p:cNvPr id="15" name="Shape 13"/>
          <p:cNvSpPr/>
          <p:nvPr/>
        </p:nvSpPr>
        <p:spPr>
          <a:xfrm>
            <a:off x="4502810" y="2249424"/>
            <a:ext cx="3186074" cy="18288"/>
          </a:xfrm>
          <a:prstGeom prst="rect">
            <a:avLst/>
          </a:prstGeom>
          <a:solidFill>
            <a:srgbClr val="E2E8F0"/>
          </a:solidFill>
          <a:ln w="12700">
            <a:solidFill>
              <a:srgbClr val="333333"/>
            </a:solidFill>
            <a:prstDash val="solid"/>
          </a:ln>
        </p:spPr>
      </p:sp>
      <p:sp>
        <p:nvSpPr>
          <p:cNvPr id="16" name="Text 14"/>
          <p:cNvSpPr/>
          <p:nvPr/>
        </p:nvSpPr>
        <p:spPr>
          <a:xfrm>
            <a:off x="4502810" y="2359152"/>
            <a:ext cx="3186074" cy="14630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If the pad is not recognised on board, the aircraft does not descend. It holds, then returns home.</a:t>
            </a:r>
            <a:endParaRPr lang="en-US" sz="1400" dirty="0"/>
          </a:p>
        </p:txBody>
      </p:sp>
      <p:sp>
        <p:nvSpPr>
          <p:cNvPr id="17" name="Shape 15"/>
          <p:cNvSpPr/>
          <p:nvPr/>
        </p:nvSpPr>
        <p:spPr>
          <a:xfrm>
            <a:off x="8109509" y="1298448"/>
            <a:ext cx="3515258" cy="2651760"/>
          </a:xfrm>
          <a:prstGeom prst="roundRect">
            <a:avLst>
              <a:gd name="adj" fmla="val 1724"/>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8109509" y="1298448"/>
            <a:ext cx="3515258" cy="82296"/>
          </a:xfrm>
          <a:prstGeom prst="rect">
            <a:avLst/>
          </a:prstGeom>
          <a:solidFill>
            <a:srgbClr val="166534"/>
          </a:solidFill>
          <a:ln w="12700">
            <a:solidFill>
              <a:srgbClr val="333333"/>
            </a:solidFill>
            <a:prstDash val="solid"/>
          </a:ln>
        </p:spPr>
      </p:sp>
      <p:sp>
        <p:nvSpPr>
          <p:cNvPr id="19" name="Text 17"/>
          <p:cNvSpPr/>
          <p:nvPr/>
        </p:nvSpPr>
        <p:spPr>
          <a:xfrm>
            <a:off x="8274101" y="1517904"/>
            <a:ext cx="3186074" cy="658368"/>
          </a:xfrm>
          <a:prstGeom prst="rect">
            <a:avLst/>
          </a:prstGeom>
          <a:noFill/>
          <a:ln/>
        </p:spPr>
        <p:txBody>
          <a:bodyPr wrap="square" lIns="0" tIns="0" rIns="0" bIns="0" rtlCol="0" anchor="ctr"/>
          <a:lstStyle/>
          <a:p>
            <a:pPr indent="0" marL="0">
              <a:lnSpc>
                <a:spcPts val="2300"/>
              </a:lnSpc>
              <a:buNone/>
            </a:pPr>
            <a:r>
              <a:rPr lang="en-US" sz="1900" b="1" dirty="0">
                <a:solidFill>
                  <a:srgbClr val="166534"/>
                </a:solidFill>
                <a:latin typeface="Century Schoolbook" pitchFamily="34" charset="0"/>
                <a:ea typeface="Century Schoolbook" pitchFamily="34" charset="-122"/>
                <a:cs typeface="Century Schoolbook" pitchFamily="34" charset="-120"/>
              </a:rPr>
              <a:t>No model on the safety path</a:t>
            </a:r>
            <a:endParaRPr lang="en-US" sz="1900" dirty="0"/>
          </a:p>
        </p:txBody>
      </p:sp>
      <p:sp>
        <p:nvSpPr>
          <p:cNvPr id="20" name="Shape 18"/>
          <p:cNvSpPr/>
          <p:nvPr/>
        </p:nvSpPr>
        <p:spPr>
          <a:xfrm>
            <a:off x="8274101" y="2249424"/>
            <a:ext cx="3186074" cy="18288"/>
          </a:xfrm>
          <a:prstGeom prst="rect">
            <a:avLst/>
          </a:prstGeom>
          <a:solidFill>
            <a:srgbClr val="E2E8F0"/>
          </a:solidFill>
          <a:ln w="12700">
            <a:solidFill>
              <a:srgbClr val="333333"/>
            </a:solidFill>
            <a:prstDash val="solid"/>
          </a:ln>
        </p:spPr>
      </p:sp>
      <p:sp>
        <p:nvSpPr>
          <p:cNvPr id="21" name="Text 19"/>
          <p:cNvSpPr/>
          <p:nvPr/>
        </p:nvSpPr>
        <p:spPr>
          <a:xfrm>
            <a:off x="8274101" y="2359152"/>
            <a:ext cx="3186074" cy="146304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Safety rules, state estimation, planning and control stay local. No network call can unlock a flight.</a:t>
            </a:r>
            <a:endParaRPr lang="en-US" sz="1400" dirty="0"/>
          </a:p>
        </p:txBody>
      </p:sp>
      <p:sp>
        <p:nvSpPr>
          <p:cNvPr id="22" name="Text 20"/>
          <p:cNvSpPr/>
          <p:nvPr/>
        </p:nvSpPr>
        <p:spPr>
          <a:xfrm>
            <a:off x="566928" y="4169664"/>
            <a:ext cx="11057839" cy="3657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These three are not negotiable and they are not on the roadmap for improvement. They are the reason a regulator might listen at all.</a:t>
            </a:r>
            <a:endParaRPr lang="en-US" sz="1800" dirty="0"/>
          </a:p>
        </p:txBody>
      </p:sp>
      <p:sp>
        <p:nvSpPr>
          <p:cNvPr id="23" name="Shape 21"/>
          <p:cNvSpPr/>
          <p:nvPr/>
        </p:nvSpPr>
        <p:spPr>
          <a:xfrm>
            <a:off x="566928" y="4572000"/>
            <a:ext cx="11057839" cy="1133856"/>
          </a:xfrm>
          <a:prstGeom prst="roundRect">
            <a:avLst>
              <a:gd name="adj" fmla="val 4032"/>
            </a:avLst>
          </a:prstGeom>
          <a:solidFill>
            <a:srgbClr val="FFF1F2"/>
          </a:solidFill>
          <a:ln w="12700">
            <a:solidFill>
              <a:srgbClr val="FDE8EA"/>
            </a:solidFill>
            <a:prstDash val="solid"/>
          </a:ln>
        </p:spPr>
      </p:sp>
      <p:sp>
        <p:nvSpPr>
          <p:cNvPr id="24" name="Text 22"/>
          <p:cNvSpPr/>
          <p:nvPr/>
        </p:nvSpPr>
        <p:spPr>
          <a:xfrm>
            <a:off x="786384" y="4572000"/>
            <a:ext cx="10618927" cy="1133856"/>
          </a:xfrm>
          <a:prstGeom prst="rect">
            <a:avLst/>
          </a:prstGeom>
          <a:noFill/>
          <a:ln/>
        </p:spPr>
        <p:txBody>
          <a:bodyPr wrap="square" lIns="0" tIns="0" rIns="0" bIns="0" rtlCol="0" anchor="ctr"/>
          <a:lstStyle/>
          <a:p>
            <a:pPr indent="0" marL="0">
              <a:lnSpc>
                <a:spcPts val="2000"/>
              </a:lnSpc>
              <a:buNone/>
            </a:pPr>
            <a:r>
              <a:rPr lang="en-US" sz="1400" b="1" dirty="0">
                <a:solidFill>
                  <a:srgbClr val="800020"/>
                </a:solidFill>
                <a:latin typeface="Calibri" pitchFamily="34" charset="0"/>
                <a:ea typeface="Calibri" pitchFamily="34" charset="-122"/>
                <a:cs typeface="Calibri" pitchFamily="34" charset="-120"/>
              </a:rPr>
              <a:t>The whole section comes back to one line: the aircraft is always allowed to refuse, and no model or manager can tell it to continue.</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Business Model and Revenue</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Business Model Canvas</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The bottom row of the canvas decides whether this business exists.</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19</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5. Business Model and Revenue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Business Model Canvas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Nine blocks, and the two that decide everything</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20</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Text 6"/>
          <p:cNvSpPr/>
          <p:nvPr/>
        </p:nvSpPr>
        <p:spPr>
          <a:xfrm>
            <a:off x="713232" y="1389888"/>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Key partners</a:t>
            </a:r>
            <a:endParaRPr lang="en-US" sz="1600" dirty="0"/>
          </a:p>
        </p:txBody>
      </p:sp>
      <p:sp>
        <p:nvSpPr>
          <p:cNvPr id="9" name="Text 7"/>
          <p:cNvSpPr/>
          <p:nvPr/>
        </p:nvSpPr>
        <p:spPr>
          <a:xfrm>
            <a:off x="713232" y="1737360"/>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RCC and CAAB, pad hosts, kitchen partners, battery suppliers, insurers</a:t>
            </a:r>
            <a:endParaRPr lang="en-US" sz="1400" dirty="0"/>
          </a:p>
        </p:txBody>
      </p:sp>
      <p:sp>
        <p:nvSpPr>
          <p:cNvPr id="10" name="Shape 8"/>
          <p:cNvSpPr/>
          <p:nvPr/>
        </p:nvSpPr>
        <p:spPr>
          <a:xfrm>
            <a:off x="4332122" y="1298448"/>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1" name="Text 9"/>
          <p:cNvSpPr/>
          <p:nvPr/>
        </p:nvSpPr>
        <p:spPr>
          <a:xfrm>
            <a:off x="4478426" y="1389888"/>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Key activities</a:t>
            </a:r>
            <a:endParaRPr lang="en-US" sz="1600" dirty="0"/>
          </a:p>
        </p:txBody>
      </p:sp>
      <p:sp>
        <p:nvSpPr>
          <p:cNvPr id="12" name="Text 10"/>
          <p:cNvSpPr/>
          <p:nvPr/>
        </p:nvSpPr>
        <p:spPr>
          <a:xfrm>
            <a:off x="4478426" y="1737360"/>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Corridor design, pad operation, fleet maintenance, AI supervision</a:t>
            </a:r>
            <a:endParaRPr lang="en-US" sz="1400" dirty="0"/>
          </a:p>
        </p:txBody>
      </p:sp>
      <p:sp>
        <p:nvSpPr>
          <p:cNvPr id="13" name="Shape 11"/>
          <p:cNvSpPr/>
          <p:nvPr/>
        </p:nvSpPr>
        <p:spPr>
          <a:xfrm>
            <a:off x="8097317" y="1298448"/>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4" name="Text 12"/>
          <p:cNvSpPr/>
          <p:nvPr/>
        </p:nvSpPr>
        <p:spPr>
          <a:xfrm>
            <a:off x="8243621" y="1389888"/>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Key resources</a:t>
            </a:r>
            <a:endParaRPr lang="en-US" sz="1600" dirty="0"/>
          </a:p>
        </p:txBody>
      </p:sp>
      <p:sp>
        <p:nvSpPr>
          <p:cNvPr id="15" name="Text 13"/>
          <p:cNvSpPr/>
          <p:nvPr/>
        </p:nvSpPr>
        <p:spPr>
          <a:xfrm>
            <a:off x="8243621" y="1737360"/>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Airframe fleet, landing pads, hub sites, flight data, CAAB approval</a:t>
            </a:r>
            <a:endParaRPr lang="en-US" sz="1400" dirty="0"/>
          </a:p>
        </p:txBody>
      </p:sp>
      <p:sp>
        <p:nvSpPr>
          <p:cNvPr id="16" name="Shape 14"/>
          <p:cNvSpPr/>
          <p:nvPr/>
        </p:nvSpPr>
        <p:spPr>
          <a:xfrm>
            <a:off x="566928" y="2724912"/>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7" name="Text 15"/>
          <p:cNvSpPr/>
          <p:nvPr/>
        </p:nvSpPr>
        <p:spPr>
          <a:xfrm>
            <a:off x="713232" y="2816352"/>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Value propositions</a:t>
            </a:r>
            <a:endParaRPr lang="en-US" sz="1600" dirty="0"/>
          </a:p>
        </p:txBody>
      </p:sp>
      <p:sp>
        <p:nvSpPr>
          <p:cNvPr id="18" name="Text 16"/>
          <p:cNvSpPr/>
          <p:nvPr/>
        </p:nvSpPr>
        <p:spPr>
          <a:xfrm>
            <a:off x="713232" y="3163824"/>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fixed delivery window, hot food, no rider exposure, live tracking</a:t>
            </a:r>
            <a:endParaRPr lang="en-US" sz="1400" dirty="0"/>
          </a:p>
        </p:txBody>
      </p:sp>
      <p:sp>
        <p:nvSpPr>
          <p:cNvPr id="19" name="Shape 17"/>
          <p:cNvSpPr/>
          <p:nvPr/>
        </p:nvSpPr>
        <p:spPr>
          <a:xfrm>
            <a:off x="4332122" y="2724912"/>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4478426" y="2816352"/>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Customer relationships</a:t>
            </a:r>
            <a:endParaRPr lang="en-US" sz="1600" dirty="0"/>
          </a:p>
        </p:txBody>
      </p:sp>
      <p:sp>
        <p:nvSpPr>
          <p:cNvPr id="21" name="Text 19"/>
          <p:cNvSpPr/>
          <p:nvPr/>
        </p:nvSpPr>
        <p:spPr>
          <a:xfrm>
            <a:off x="4478426" y="3163824"/>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In app self service, with a subscription for frequent buyers</a:t>
            </a:r>
            <a:endParaRPr lang="en-US" sz="1400" dirty="0"/>
          </a:p>
        </p:txBody>
      </p:sp>
      <p:sp>
        <p:nvSpPr>
          <p:cNvPr id="22" name="Shape 20"/>
          <p:cNvSpPr/>
          <p:nvPr/>
        </p:nvSpPr>
        <p:spPr>
          <a:xfrm>
            <a:off x="8097317" y="2724912"/>
            <a:ext cx="3527450" cy="1280160"/>
          </a:xfrm>
          <a:prstGeom prst="roundRect">
            <a:avLst>
              <a:gd name="adj" fmla="val 3571"/>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Text 21"/>
          <p:cNvSpPr/>
          <p:nvPr/>
        </p:nvSpPr>
        <p:spPr>
          <a:xfrm>
            <a:off x="8243621" y="2816352"/>
            <a:ext cx="3234842"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Channels</a:t>
            </a:r>
            <a:endParaRPr lang="en-US" sz="1600" dirty="0"/>
          </a:p>
        </p:txBody>
      </p:sp>
      <p:sp>
        <p:nvSpPr>
          <p:cNvPr id="24" name="Text 22"/>
          <p:cNvSpPr/>
          <p:nvPr/>
        </p:nvSpPr>
        <p:spPr>
          <a:xfrm>
            <a:off x="8243621" y="3163824"/>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Kitchen apps and our own app, both linked to the pad network</a:t>
            </a:r>
            <a:endParaRPr lang="en-US" sz="1400" dirty="0"/>
          </a:p>
        </p:txBody>
      </p:sp>
      <p:sp>
        <p:nvSpPr>
          <p:cNvPr id="25" name="Shape 23"/>
          <p:cNvSpPr/>
          <p:nvPr/>
        </p:nvSpPr>
        <p:spPr>
          <a:xfrm>
            <a:off x="566928" y="4151376"/>
            <a:ext cx="3527450" cy="1280160"/>
          </a:xfrm>
          <a:prstGeom prst="roundRect">
            <a:avLst>
              <a:gd name="adj" fmla="val 357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6" name="Text 24"/>
          <p:cNvSpPr/>
          <p:nvPr/>
        </p:nvSpPr>
        <p:spPr>
          <a:xfrm>
            <a:off x="713232" y="4242816"/>
            <a:ext cx="3234842"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Customer segments</a:t>
            </a:r>
            <a:endParaRPr lang="en-US" sz="1600" dirty="0"/>
          </a:p>
        </p:txBody>
      </p:sp>
      <p:sp>
        <p:nvSpPr>
          <p:cNvPr id="27" name="Text 25"/>
          <p:cNvSpPr/>
          <p:nvPr/>
        </p:nvSpPr>
        <p:spPr>
          <a:xfrm>
            <a:off x="713232" y="4590288"/>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Urban households in Rajshahi first, then Dhaka, ordering three or more times a week</a:t>
            </a:r>
            <a:endParaRPr lang="en-US" sz="1400" dirty="0"/>
          </a:p>
        </p:txBody>
      </p:sp>
      <p:sp>
        <p:nvSpPr>
          <p:cNvPr id="28" name="Shape 26"/>
          <p:cNvSpPr/>
          <p:nvPr/>
        </p:nvSpPr>
        <p:spPr>
          <a:xfrm>
            <a:off x="4332122" y="4151376"/>
            <a:ext cx="3527450" cy="1280160"/>
          </a:xfrm>
          <a:prstGeom prst="roundRect">
            <a:avLst>
              <a:gd name="adj" fmla="val 357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9" name="Text 27"/>
          <p:cNvSpPr/>
          <p:nvPr/>
        </p:nvSpPr>
        <p:spPr>
          <a:xfrm>
            <a:off x="4478426" y="4242816"/>
            <a:ext cx="3234842"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Cost structure</a:t>
            </a:r>
            <a:endParaRPr lang="en-US" sz="1600" dirty="0"/>
          </a:p>
        </p:txBody>
      </p:sp>
      <p:sp>
        <p:nvSpPr>
          <p:cNvPr id="30" name="Text 28"/>
          <p:cNvSpPr/>
          <p:nvPr/>
        </p:nvSpPr>
        <p:spPr>
          <a:xfrm>
            <a:off x="4478426" y="4590288"/>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Airframes, hubs, pads, staff, insurance, connectivity, AI inference</a:t>
            </a:r>
            <a:endParaRPr lang="en-US" sz="1400" dirty="0"/>
          </a:p>
        </p:txBody>
      </p:sp>
      <p:sp>
        <p:nvSpPr>
          <p:cNvPr id="31" name="Shape 29"/>
          <p:cNvSpPr/>
          <p:nvPr/>
        </p:nvSpPr>
        <p:spPr>
          <a:xfrm>
            <a:off x="8097317" y="4151376"/>
            <a:ext cx="3527450" cy="1280160"/>
          </a:xfrm>
          <a:prstGeom prst="roundRect">
            <a:avLst>
              <a:gd name="adj" fmla="val 3571"/>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32" name="Text 30"/>
          <p:cNvSpPr/>
          <p:nvPr/>
        </p:nvSpPr>
        <p:spPr>
          <a:xfrm>
            <a:off x="8243621" y="4242816"/>
            <a:ext cx="3234842"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Revenue streams</a:t>
            </a:r>
            <a:endParaRPr lang="en-US" sz="1600" dirty="0"/>
          </a:p>
        </p:txBody>
      </p:sp>
      <p:sp>
        <p:nvSpPr>
          <p:cNvPr id="33" name="Text 31"/>
          <p:cNvSpPr/>
          <p:nvPr/>
        </p:nvSpPr>
        <p:spPr>
          <a:xfrm>
            <a:off x="8243621" y="4590288"/>
            <a:ext cx="3234842" cy="731520"/>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Delivery fee, subscription, kitchen contract, corporate and NGO contracts</a:t>
            </a:r>
            <a:endParaRPr lang="en-US" sz="1400" dirty="0"/>
          </a:p>
        </p:txBody>
      </p:sp>
      <p:sp>
        <p:nvSpPr>
          <p:cNvPr id="34" name="Text 32"/>
          <p:cNvSpPr/>
          <p:nvPr/>
        </p:nvSpPr>
        <p:spPr>
          <a:xfrm>
            <a:off x="566928" y="5468112"/>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The bottom row is where this business lives or dies: who orders, what it costs us, and what we earn per flight.</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5. Business Model and Revenue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Six revenue streams, in the order they switch on</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Only the first two are needed to reach break even</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Model assumptions from Pathao and foodpanda commission rates, and BSRTC concession fees per ride</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21</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8" name="Shape 6"/>
          <p:cNvSpPr/>
          <p:nvPr/>
        </p:nvSpPr>
        <p:spPr>
          <a:xfrm>
            <a:off x="566928" y="1298448"/>
            <a:ext cx="2286000" cy="384048"/>
          </a:xfrm>
          <a:prstGeom prst="rect">
            <a:avLst/>
          </a:prstGeom>
          <a:solidFill>
            <a:srgbClr val="0F172A"/>
          </a:solidFill>
          <a:ln w="12700">
            <a:solidFill>
              <a:srgbClr val="333333"/>
            </a:solidFill>
            <a:prstDash val="solid"/>
          </a:ln>
        </p:spPr>
      </p:sp>
      <p:sp>
        <p:nvSpPr>
          <p:cNvPr id="9" name="Text 7"/>
          <p:cNvSpPr/>
          <p:nvPr/>
        </p:nvSpPr>
        <p:spPr>
          <a:xfrm>
            <a:off x="694944" y="1298448"/>
            <a:ext cx="20299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Stream</a:t>
            </a:r>
            <a:endParaRPr lang="en-US" sz="1400" dirty="0"/>
          </a:p>
        </p:txBody>
      </p:sp>
      <p:sp>
        <p:nvSpPr>
          <p:cNvPr id="10" name="Shape 8"/>
          <p:cNvSpPr/>
          <p:nvPr/>
        </p:nvSpPr>
        <p:spPr>
          <a:xfrm>
            <a:off x="2852928" y="1298448"/>
            <a:ext cx="1828800" cy="384048"/>
          </a:xfrm>
          <a:prstGeom prst="rect">
            <a:avLst/>
          </a:prstGeom>
          <a:solidFill>
            <a:srgbClr val="0F172A"/>
          </a:solidFill>
          <a:ln w="12700">
            <a:solidFill>
              <a:srgbClr val="333333"/>
            </a:solidFill>
            <a:prstDash val="solid"/>
          </a:ln>
        </p:spPr>
      </p:sp>
      <p:sp>
        <p:nvSpPr>
          <p:cNvPr id="11" name="Text 9"/>
          <p:cNvSpPr/>
          <p:nvPr/>
        </p:nvSpPr>
        <p:spPr>
          <a:xfrm>
            <a:off x="2980944" y="1298448"/>
            <a:ext cx="15727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Price</a:t>
            </a:r>
            <a:endParaRPr lang="en-US" sz="1400" dirty="0"/>
          </a:p>
        </p:txBody>
      </p:sp>
      <p:sp>
        <p:nvSpPr>
          <p:cNvPr id="12" name="Shape 10"/>
          <p:cNvSpPr/>
          <p:nvPr/>
        </p:nvSpPr>
        <p:spPr>
          <a:xfrm>
            <a:off x="4681728" y="1298448"/>
            <a:ext cx="1554480" cy="384048"/>
          </a:xfrm>
          <a:prstGeom prst="rect">
            <a:avLst/>
          </a:prstGeom>
          <a:solidFill>
            <a:srgbClr val="0F172A"/>
          </a:solidFill>
          <a:ln w="12700">
            <a:solidFill>
              <a:srgbClr val="333333"/>
            </a:solidFill>
            <a:prstDash val="solid"/>
          </a:ln>
        </p:spPr>
      </p:sp>
      <p:sp>
        <p:nvSpPr>
          <p:cNvPr id="13" name="Text 11"/>
          <p:cNvSpPr/>
          <p:nvPr/>
        </p:nvSpPr>
        <p:spPr>
          <a:xfrm>
            <a:off x="4809744" y="1298448"/>
            <a:ext cx="12984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Switches on</a:t>
            </a:r>
            <a:endParaRPr lang="en-US" sz="1400" dirty="0"/>
          </a:p>
        </p:txBody>
      </p:sp>
      <p:sp>
        <p:nvSpPr>
          <p:cNvPr id="14" name="Shape 12"/>
          <p:cNvSpPr/>
          <p:nvPr/>
        </p:nvSpPr>
        <p:spPr>
          <a:xfrm>
            <a:off x="6236208" y="1298448"/>
            <a:ext cx="5385816" cy="384048"/>
          </a:xfrm>
          <a:prstGeom prst="rect">
            <a:avLst/>
          </a:prstGeom>
          <a:solidFill>
            <a:srgbClr val="0F172A"/>
          </a:solidFill>
          <a:ln w="12700">
            <a:solidFill>
              <a:srgbClr val="333333"/>
            </a:solidFill>
            <a:prstDash val="solid"/>
          </a:ln>
        </p:spPr>
      </p:sp>
      <p:sp>
        <p:nvSpPr>
          <p:cNvPr id="15" name="Text 13"/>
          <p:cNvSpPr/>
          <p:nvPr/>
        </p:nvSpPr>
        <p:spPr>
          <a:xfrm>
            <a:off x="6364224" y="1298448"/>
            <a:ext cx="512978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Why it matters</a:t>
            </a:r>
            <a:endParaRPr lang="en-US" sz="1400" dirty="0"/>
          </a:p>
        </p:txBody>
      </p:sp>
      <p:sp>
        <p:nvSpPr>
          <p:cNvPr id="16" name="Shape 14"/>
          <p:cNvSpPr/>
          <p:nvPr/>
        </p:nvSpPr>
        <p:spPr>
          <a:xfrm>
            <a:off x="566928" y="1682496"/>
            <a:ext cx="2286000" cy="493776"/>
          </a:xfrm>
          <a:prstGeom prst="rect">
            <a:avLst/>
          </a:prstGeom>
          <a:solidFill>
            <a:srgbClr val="FFFFFF"/>
          </a:solidFill>
          <a:ln w="12700">
            <a:solidFill>
              <a:srgbClr val="E2E8F0"/>
            </a:solidFill>
            <a:prstDash val="solid"/>
          </a:ln>
        </p:spPr>
      </p:sp>
      <p:sp>
        <p:nvSpPr>
          <p:cNvPr id="17" name="Text 15"/>
          <p:cNvSpPr/>
          <p:nvPr/>
        </p:nvSpPr>
        <p:spPr>
          <a:xfrm>
            <a:off x="694944" y="1682496"/>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Delivery fee</a:t>
            </a:r>
            <a:endParaRPr lang="en-US" sz="1400" dirty="0"/>
          </a:p>
        </p:txBody>
      </p:sp>
      <p:sp>
        <p:nvSpPr>
          <p:cNvPr id="18" name="Shape 16"/>
          <p:cNvSpPr/>
          <p:nvPr/>
        </p:nvSpPr>
        <p:spPr>
          <a:xfrm>
            <a:off x="2852928" y="1682496"/>
            <a:ext cx="1828800" cy="493776"/>
          </a:xfrm>
          <a:prstGeom prst="rect">
            <a:avLst/>
          </a:prstGeom>
          <a:solidFill>
            <a:srgbClr val="FFFFFF"/>
          </a:solidFill>
          <a:ln w="12700">
            <a:solidFill>
              <a:srgbClr val="E2E8F0"/>
            </a:solidFill>
            <a:prstDash val="solid"/>
          </a:ln>
        </p:spPr>
      </p:sp>
      <p:sp>
        <p:nvSpPr>
          <p:cNvPr id="19" name="Text 17"/>
          <p:cNvSpPr/>
          <p:nvPr/>
        </p:nvSpPr>
        <p:spPr>
          <a:xfrm>
            <a:off x="2980944" y="1682496"/>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90 per flight</a:t>
            </a:r>
            <a:endParaRPr lang="en-US" sz="1400" dirty="0"/>
          </a:p>
        </p:txBody>
      </p:sp>
      <p:sp>
        <p:nvSpPr>
          <p:cNvPr id="20" name="Shape 18"/>
          <p:cNvSpPr/>
          <p:nvPr/>
        </p:nvSpPr>
        <p:spPr>
          <a:xfrm>
            <a:off x="4681728" y="1682496"/>
            <a:ext cx="1554480" cy="493776"/>
          </a:xfrm>
          <a:prstGeom prst="rect">
            <a:avLst/>
          </a:prstGeom>
          <a:solidFill>
            <a:srgbClr val="FFFFFF"/>
          </a:solidFill>
          <a:ln w="12700">
            <a:solidFill>
              <a:srgbClr val="E2E8F0"/>
            </a:solidFill>
            <a:prstDash val="solid"/>
          </a:ln>
        </p:spPr>
      </p:sp>
      <p:sp>
        <p:nvSpPr>
          <p:cNvPr id="21" name="Text 19"/>
          <p:cNvSpPr/>
          <p:nvPr/>
        </p:nvSpPr>
        <p:spPr>
          <a:xfrm>
            <a:off x="4809744" y="1682496"/>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Day one</a:t>
            </a:r>
            <a:endParaRPr lang="en-US" sz="1400" dirty="0"/>
          </a:p>
        </p:txBody>
      </p:sp>
      <p:sp>
        <p:nvSpPr>
          <p:cNvPr id="22" name="Shape 20"/>
          <p:cNvSpPr/>
          <p:nvPr/>
        </p:nvSpPr>
        <p:spPr>
          <a:xfrm>
            <a:off x="6236208" y="1682496"/>
            <a:ext cx="5385816" cy="493776"/>
          </a:xfrm>
          <a:prstGeom prst="rect">
            <a:avLst/>
          </a:prstGeom>
          <a:solidFill>
            <a:srgbClr val="FFFFFF"/>
          </a:solidFill>
          <a:ln w="12700">
            <a:solidFill>
              <a:srgbClr val="E2E8F0"/>
            </a:solidFill>
            <a:prstDash val="solid"/>
          </a:ln>
        </p:spPr>
      </p:sp>
      <p:sp>
        <p:nvSpPr>
          <p:cNvPr id="23" name="Text 21"/>
          <p:cNvSpPr/>
          <p:nvPr/>
        </p:nvSpPr>
        <p:spPr>
          <a:xfrm>
            <a:off x="6364224" y="1682496"/>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Immediate, per flight, no contract needed</a:t>
            </a:r>
            <a:endParaRPr lang="en-US" sz="1400" dirty="0"/>
          </a:p>
        </p:txBody>
      </p:sp>
      <p:sp>
        <p:nvSpPr>
          <p:cNvPr id="24" name="Shape 22"/>
          <p:cNvSpPr/>
          <p:nvPr/>
        </p:nvSpPr>
        <p:spPr>
          <a:xfrm>
            <a:off x="566928" y="1682496"/>
            <a:ext cx="64008" cy="493776"/>
          </a:xfrm>
          <a:prstGeom prst="rect">
            <a:avLst/>
          </a:prstGeom>
          <a:solidFill>
            <a:srgbClr val="800020"/>
          </a:solidFill>
          <a:ln w="12700">
            <a:solidFill>
              <a:srgbClr val="333333"/>
            </a:solidFill>
            <a:prstDash val="solid"/>
          </a:ln>
        </p:spPr>
      </p:sp>
      <p:sp>
        <p:nvSpPr>
          <p:cNvPr id="25" name="Shape 23"/>
          <p:cNvSpPr/>
          <p:nvPr/>
        </p:nvSpPr>
        <p:spPr>
          <a:xfrm>
            <a:off x="566928" y="2176272"/>
            <a:ext cx="2286000" cy="493776"/>
          </a:xfrm>
          <a:prstGeom prst="rect">
            <a:avLst/>
          </a:prstGeom>
          <a:solidFill>
            <a:srgbClr val="F8FAFC"/>
          </a:solidFill>
          <a:ln w="12700">
            <a:solidFill>
              <a:srgbClr val="E2E8F0"/>
            </a:solidFill>
            <a:prstDash val="solid"/>
          </a:ln>
        </p:spPr>
      </p:sp>
      <p:sp>
        <p:nvSpPr>
          <p:cNvPr id="26" name="Text 24"/>
          <p:cNvSpPr/>
          <p:nvPr/>
        </p:nvSpPr>
        <p:spPr>
          <a:xfrm>
            <a:off x="694944" y="2176272"/>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Subscription</a:t>
            </a:r>
            <a:endParaRPr lang="en-US" sz="1400" dirty="0"/>
          </a:p>
        </p:txBody>
      </p:sp>
      <p:sp>
        <p:nvSpPr>
          <p:cNvPr id="27" name="Shape 25"/>
          <p:cNvSpPr/>
          <p:nvPr/>
        </p:nvSpPr>
        <p:spPr>
          <a:xfrm>
            <a:off x="2852928" y="2176272"/>
            <a:ext cx="1828800" cy="493776"/>
          </a:xfrm>
          <a:prstGeom prst="rect">
            <a:avLst/>
          </a:prstGeom>
          <a:solidFill>
            <a:srgbClr val="F8FAFC"/>
          </a:solidFill>
          <a:ln w="12700">
            <a:solidFill>
              <a:srgbClr val="E2E8F0"/>
            </a:solidFill>
            <a:prstDash val="solid"/>
          </a:ln>
        </p:spPr>
      </p:sp>
      <p:sp>
        <p:nvSpPr>
          <p:cNvPr id="28" name="Text 26"/>
          <p:cNvSpPr/>
          <p:nvPr/>
        </p:nvSpPr>
        <p:spPr>
          <a:xfrm>
            <a:off x="2980944" y="2176272"/>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499 a month</a:t>
            </a:r>
            <a:endParaRPr lang="en-US" sz="1400" dirty="0"/>
          </a:p>
        </p:txBody>
      </p:sp>
      <p:sp>
        <p:nvSpPr>
          <p:cNvPr id="29" name="Shape 27"/>
          <p:cNvSpPr/>
          <p:nvPr/>
        </p:nvSpPr>
        <p:spPr>
          <a:xfrm>
            <a:off x="4681728" y="2176272"/>
            <a:ext cx="1554480" cy="493776"/>
          </a:xfrm>
          <a:prstGeom prst="rect">
            <a:avLst/>
          </a:prstGeom>
          <a:solidFill>
            <a:srgbClr val="F8FAFC"/>
          </a:solidFill>
          <a:ln w="12700">
            <a:solidFill>
              <a:srgbClr val="E2E8F0"/>
            </a:solidFill>
            <a:prstDash val="solid"/>
          </a:ln>
        </p:spPr>
      </p:sp>
      <p:sp>
        <p:nvSpPr>
          <p:cNvPr id="30" name="Text 28"/>
          <p:cNvSpPr/>
          <p:nvPr/>
        </p:nvSpPr>
        <p:spPr>
          <a:xfrm>
            <a:off x="4809744" y="2176272"/>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Month 6</a:t>
            </a:r>
            <a:endParaRPr lang="en-US" sz="1400" dirty="0"/>
          </a:p>
        </p:txBody>
      </p:sp>
      <p:sp>
        <p:nvSpPr>
          <p:cNvPr id="31" name="Shape 29"/>
          <p:cNvSpPr/>
          <p:nvPr/>
        </p:nvSpPr>
        <p:spPr>
          <a:xfrm>
            <a:off x="6236208" y="2176272"/>
            <a:ext cx="5385816" cy="493776"/>
          </a:xfrm>
          <a:prstGeom prst="rect">
            <a:avLst/>
          </a:prstGeom>
          <a:solidFill>
            <a:srgbClr val="F8FAFC"/>
          </a:solidFill>
          <a:ln w="12700">
            <a:solidFill>
              <a:srgbClr val="E2E8F0"/>
            </a:solidFill>
            <a:prstDash val="solid"/>
          </a:ln>
        </p:spPr>
      </p:sp>
      <p:sp>
        <p:nvSpPr>
          <p:cNvPr id="32" name="Text 30"/>
          <p:cNvSpPr/>
          <p:nvPr/>
        </p:nvSpPr>
        <p:spPr>
          <a:xfrm>
            <a:off x="6364224" y="2176272"/>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Lifts frequency and cuts acquisition cost</a:t>
            </a:r>
            <a:endParaRPr lang="en-US" sz="1400" dirty="0"/>
          </a:p>
        </p:txBody>
      </p:sp>
      <p:sp>
        <p:nvSpPr>
          <p:cNvPr id="33" name="Shape 31"/>
          <p:cNvSpPr/>
          <p:nvPr/>
        </p:nvSpPr>
        <p:spPr>
          <a:xfrm>
            <a:off x="566928" y="2176272"/>
            <a:ext cx="64008" cy="493776"/>
          </a:xfrm>
          <a:prstGeom prst="rect">
            <a:avLst/>
          </a:prstGeom>
          <a:solidFill>
            <a:srgbClr val="800020"/>
          </a:solidFill>
          <a:ln w="12700">
            <a:solidFill>
              <a:srgbClr val="333333"/>
            </a:solidFill>
            <a:prstDash val="solid"/>
          </a:ln>
        </p:spPr>
      </p:sp>
      <p:sp>
        <p:nvSpPr>
          <p:cNvPr id="34" name="Shape 32"/>
          <p:cNvSpPr/>
          <p:nvPr/>
        </p:nvSpPr>
        <p:spPr>
          <a:xfrm>
            <a:off x="566928" y="2670048"/>
            <a:ext cx="2286000" cy="493776"/>
          </a:xfrm>
          <a:prstGeom prst="rect">
            <a:avLst/>
          </a:prstGeom>
          <a:solidFill>
            <a:srgbClr val="FFFFFF"/>
          </a:solidFill>
          <a:ln w="12700">
            <a:solidFill>
              <a:srgbClr val="E2E8F0"/>
            </a:solidFill>
            <a:prstDash val="solid"/>
          </a:ln>
        </p:spPr>
      </p:sp>
      <p:sp>
        <p:nvSpPr>
          <p:cNvPr id="35" name="Text 33"/>
          <p:cNvSpPr/>
          <p:nvPr/>
        </p:nvSpPr>
        <p:spPr>
          <a:xfrm>
            <a:off x="694944" y="2670048"/>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Kitchen contract</a:t>
            </a:r>
            <a:endParaRPr lang="en-US" sz="1400" dirty="0"/>
          </a:p>
        </p:txBody>
      </p:sp>
      <p:sp>
        <p:nvSpPr>
          <p:cNvPr id="36" name="Shape 34"/>
          <p:cNvSpPr/>
          <p:nvPr/>
        </p:nvSpPr>
        <p:spPr>
          <a:xfrm>
            <a:off x="2852928" y="2670048"/>
            <a:ext cx="1828800" cy="493776"/>
          </a:xfrm>
          <a:prstGeom prst="rect">
            <a:avLst/>
          </a:prstGeom>
          <a:solidFill>
            <a:srgbClr val="FFFFFF"/>
          </a:solidFill>
          <a:ln w="12700">
            <a:solidFill>
              <a:srgbClr val="E2E8F0"/>
            </a:solidFill>
            <a:prstDash val="solid"/>
          </a:ln>
        </p:spPr>
      </p:sp>
      <p:sp>
        <p:nvSpPr>
          <p:cNvPr id="37" name="Text 35"/>
          <p:cNvSpPr/>
          <p:nvPr/>
        </p:nvSpPr>
        <p:spPr>
          <a:xfrm>
            <a:off x="2980944" y="2670048"/>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6 to 10 percent</a:t>
            </a:r>
            <a:endParaRPr lang="en-US" sz="1400" dirty="0"/>
          </a:p>
        </p:txBody>
      </p:sp>
      <p:sp>
        <p:nvSpPr>
          <p:cNvPr id="38" name="Shape 36"/>
          <p:cNvSpPr/>
          <p:nvPr/>
        </p:nvSpPr>
        <p:spPr>
          <a:xfrm>
            <a:off x="4681728" y="2670048"/>
            <a:ext cx="1554480" cy="493776"/>
          </a:xfrm>
          <a:prstGeom prst="rect">
            <a:avLst/>
          </a:prstGeom>
          <a:solidFill>
            <a:srgbClr val="FFFFFF"/>
          </a:solidFill>
          <a:ln w="12700">
            <a:solidFill>
              <a:srgbClr val="E2E8F0"/>
            </a:solidFill>
            <a:prstDash val="solid"/>
          </a:ln>
        </p:spPr>
      </p:sp>
      <p:sp>
        <p:nvSpPr>
          <p:cNvPr id="39" name="Text 37"/>
          <p:cNvSpPr/>
          <p:nvPr/>
        </p:nvSpPr>
        <p:spPr>
          <a:xfrm>
            <a:off x="4809744" y="2670048"/>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Month 9</a:t>
            </a:r>
            <a:endParaRPr lang="en-US" sz="1400" dirty="0"/>
          </a:p>
        </p:txBody>
      </p:sp>
      <p:sp>
        <p:nvSpPr>
          <p:cNvPr id="40" name="Shape 38"/>
          <p:cNvSpPr/>
          <p:nvPr/>
        </p:nvSpPr>
        <p:spPr>
          <a:xfrm>
            <a:off x="6236208" y="2670048"/>
            <a:ext cx="5385816" cy="493776"/>
          </a:xfrm>
          <a:prstGeom prst="rect">
            <a:avLst/>
          </a:prstGeom>
          <a:solidFill>
            <a:srgbClr val="FFFFFF"/>
          </a:solidFill>
          <a:ln w="12700">
            <a:solidFill>
              <a:srgbClr val="E2E8F0"/>
            </a:solidFill>
            <a:prstDash val="solid"/>
          </a:ln>
        </p:spPr>
      </p:sp>
      <p:sp>
        <p:nvSpPr>
          <p:cNvPr id="41" name="Text 39"/>
          <p:cNvSpPr/>
          <p:nvPr/>
        </p:nvSpPr>
        <p:spPr>
          <a:xfrm>
            <a:off x="6364224" y="2670048"/>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Predictable volume from a named partner</a:t>
            </a:r>
            <a:endParaRPr lang="en-US" sz="1400" dirty="0"/>
          </a:p>
        </p:txBody>
      </p:sp>
      <p:sp>
        <p:nvSpPr>
          <p:cNvPr id="42" name="Shape 40"/>
          <p:cNvSpPr/>
          <p:nvPr/>
        </p:nvSpPr>
        <p:spPr>
          <a:xfrm>
            <a:off x="566928" y="2670048"/>
            <a:ext cx="64008" cy="493776"/>
          </a:xfrm>
          <a:prstGeom prst="rect">
            <a:avLst/>
          </a:prstGeom>
          <a:solidFill>
            <a:srgbClr val="CBD5E1"/>
          </a:solidFill>
          <a:ln w="12700">
            <a:solidFill>
              <a:srgbClr val="333333"/>
            </a:solidFill>
            <a:prstDash val="solid"/>
          </a:ln>
        </p:spPr>
      </p:sp>
      <p:sp>
        <p:nvSpPr>
          <p:cNvPr id="43" name="Shape 41"/>
          <p:cNvSpPr/>
          <p:nvPr/>
        </p:nvSpPr>
        <p:spPr>
          <a:xfrm>
            <a:off x="566928" y="3163824"/>
            <a:ext cx="2286000" cy="493776"/>
          </a:xfrm>
          <a:prstGeom prst="rect">
            <a:avLst/>
          </a:prstGeom>
          <a:solidFill>
            <a:srgbClr val="F8FAFC"/>
          </a:solidFill>
          <a:ln w="12700">
            <a:solidFill>
              <a:srgbClr val="E2E8F0"/>
            </a:solidFill>
            <a:prstDash val="solid"/>
          </a:ln>
        </p:spPr>
      </p:sp>
      <p:sp>
        <p:nvSpPr>
          <p:cNvPr id="44" name="Text 42"/>
          <p:cNvSpPr/>
          <p:nvPr/>
        </p:nvSpPr>
        <p:spPr>
          <a:xfrm>
            <a:off x="694944" y="3163824"/>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hosting</a:t>
            </a:r>
            <a:endParaRPr lang="en-US" sz="1400" dirty="0"/>
          </a:p>
        </p:txBody>
      </p:sp>
      <p:sp>
        <p:nvSpPr>
          <p:cNvPr id="45" name="Shape 43"/>
          <p:cNvSpPr/>
          <p:nvPr/>
        </p:nvSpPr>
        <p:spPr>
          <a:xfrm>
            <a:off x="2852928" y="3163824"/>
            <a:ext cx="1828800" cy="493776"/>
          </a:xfrm>
          <a:prstGeom prst="rect">
            <a:avLst/>
          </a:prstGeom>
          <a:solidFill>
            <a:srgbClr val="F8FAFC"/>
          </a:solidFill>
          <a:ln w="12700">
            <a:solidFill>
              <a:srgbClr val="E2E8F0"/>
            </a:solidFill>
            <a:prstDash val="solid"/>
          </a:ln>
        </p:spPr>
      </p:sp>
      <p:sp>
        <p:nvSpPr>
          <p:cNvPr id="46" name="Text 44"/>
          <p:cNvSpPr/>
          <p:nvPr/>
        </p:nvSpPr>
        <p:spPr>
          <a:xfrm>
            <a:off x="2980944" y="3163824"/>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400 a month</a:t>
            </a:r>
            <a:endParaRPr lang="en-US" sz="1400" dirty="0"/>
          </a:p>
        </p:txBody>
      </p:sp>
      <p:sp>
        <p:nvSpPr>
          <p:cNvPr id="47" name="Shape 45"/>
          <p:cNvSpPr/>
          <p:nvPr/>
        </p:nvSpPr>
        <p:spPr>
          <a:xfrm>
            <a:off x="4681728" y="3163824"/>
            <a:ext cx="1554480" cy="493776"/>
          </a:xfrm>
          <a:prstGeom prst="rect">
            <a:avLst/>
          </a:prstGeom>
          <a:solidFill>
            <a:srgbClr val="F8FAFC"/>
          </a:solidFill>
          <a:ln w="12700">
            <a:solidFill>
              <a:srgbClr val="E2E8F0"/>
            </a:solidFill>
            <a:prstDash val="solid"/>
          </a:ln>
        </p:spPr>
      </p:sp>
      <p:sp>
        <p:nvSpPr>
          <p:cNvPr id="48" name="Text 46"/>
          <p:cNvSpPr/>
          <p:nvPr/>
        </p:nvSpPr>
        <p:spPr>
          <a:xfrm>
            <a:off x="4809744" y="3163824"/>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Month 9</a:t>
            </a:r>
            <a:endParaRPr lang="en-US" sz="1400" dirty="0"/>
          </a:p>
        </p:txBody>
      </p:sp>
      <p:sp>
        <p:nvSpPr>
          <p:cNvPr id="49" name="Shape 47"/>
          <p:cNvSpPr/>
          <p:nvPr/>
        </p:nvSpPr>
        <p:spPr>
          <a:xfrm>
            <a:off x="6236208" y="3163824"/>
            <a:ext cx="5385816" cy="493776"/>
          </a:xfrm>
          <a:prstGeom prst="rect">
            <a:avLst/>
          </a:prstGeom>
          <a:solidFill>
            <a:srgbClr val="F8FAFC"/>
          </a:solidFill>
          <a:ln w="12700">
            <a:solidFill>
              <a:srgbClr val="E2E8F0"/>
            </a:solidFill>
            <a:prstDash val="solid"/>
          </a:ln>
        </p:spPr>
      </p:sp>
      <p:sp>
        <p:nvSpPr>
          <p:cNvPr id="50" name="Text 48"/>
          <p:cNvSpPr/>
          <p:nvPr/>
        </p:nvSpPr>
        <p:spPr>
          <a:xfrm>
            <a:off x="6364224" y="3163824"/>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Pays for the pad on the customer's roof</a:t>
            </a:r>
            <a:endParaRPr lang="en-US" sz="1400" dirty="0"/>
          </a:p>
        </p:txBody>
      </p:sp>
      <p:sp>
        <p:nvSpPr>
          <p:cNvPr id="51" name="Shape 49"/>
          <p:cNvSpPr/>
          <p:nvPr/>
        </p:nvSpPr>
        <p:spPr>
          <a:xfrm>
            <a:off x="566928" y="3163824"/>
            <a:ext cx="64008" cy="493776"/>
          </a:xfrm>
          <a:prstGeom prst="rect">
            <a:avLst/>
          </a:prstGeom>
          <a:solidFill>
            <a:srgbClr val="CBD5E1"/>
          </a:solidFill>
          <a:ln w="12700">
            <a:solidFill>
              <a:srgbClr val="333333"/>
            </a:solidFill>
            <a:prstDash val="solid"/>
          </a:ln>
        </p:spPr>
      </p:sp>
      <p:sp>
        <p:nvSpPr>
          <p:cNvPr id="52" name="Shape 50"/>
          <p:cNvSpPr/>
          <p:nvPr/>
        </p:nvSpPr>
        <p:spPr>
          <a:xfrm>
            <a:off x="566928" y="3657600"/>
            <a:ext cx="2286000" cy="493776"/>
          </a:xfrm>
          <a:prstGeom prst="rect">
            <a:avLst/>
          </a:prstGeom>
          <a:solidFill>
            <a:srgbClr val="FFFFFF"/>
          </a:solidFill>
          <a:ln w="12700">
            <a:solidFill>
              <a:srgbClr val="E2E8F0"/>
            </a:solidFill>
            <a:prstDash val="solid"/>
          </a:ln>
        </p:spPr>
      </p:sp>
      <p:sp>
        <p:nvSpPr>
          <p:cNvPr id="53" name="Text 51"/>
          <p:cNvSpPr/>
          <p:nvPr/>
        </p:nvSpPr>
        <p:spPr>
          <a:xfrm>
            <a:off x="694944" y="3657600"/>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Corporate and NGO</a:t>
            </a:r>
            <a:endParaRPr lang="en-US" sz="1400" dirty="0"/>
          </a:p>
        </p:txBody>
      </p:sp>
      <p:sp>
        <p:nvSpPr>
          <p:cNvPr id="54" name="Shape 52"/>
          <p:cNvSpPr/>
          <p:nvPr/>
        </p:nvSpPr>
        <p:spPr>
          <a:xfrm>
            <a:off x="2852928" y="3657600"/>
            <a:ext cx="1828800" cy="493776"/>
          </a:xfrm>
          <a:prstGeom prst="rect">
            <a:avLst/>
          </a:prstGeom>
          <a:solidFill>
            <a:srgbClr val="FFFFFF"/>
          </a:solidFill>
          <a:ln w="12700">
            <a:solidFill>
              <a:srgbClr val="E2E8F0"/>
            </a:solidFill>
            <a:prstDash val="solid"/>
          </a:ln>
        </p:spPr>
      </p:sp>
      <p:sp>
        <p:nvSpPr>
          <p:cNvPr id="55" name="Text 53"/>
          <p:cNvSpPr/>
          <p:nvPr/>
        </p:nvSpPr>
        <p:spPr>
          <a:xfrm>
            <a:off x="2980944" y="3657600"/>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60,000 a month</a:t>
            </a:r>
            <a:endParaRPr lang="en-US" sz="1400" dirty="0"/>
          </a:p>
        </p:txBody>
      </p:sp>
      <p:sp>
        <p:nvSpPr>
          <p:cNvPr id="56" name="Shape 54"/>
          <p:cNvSpPr/>
          <p:nvPr/>
        </p:nvSpPr>
        <p:spPr>
          <a:xfrm>
            <a:off x="4681728" y="3657600"/>
            <a:ext cx="1554480" cy="493776"/>
          </a:xfrm>
          <a:prstGeom prst="rect">
            <a:avLst/>
          </a:prstGeom>
          <a:solidFill>
            <a:srgbClr val="FFFFFF"/>
          </a:solidFill>
          <a:ln w="12700">
            <a:solidFill>
              <a:srgbClr val="E2E8F0"/>
            </a:solidFill>
            <a:prstDash val="solid"/>
          </a:ln>
        </p:spPr>
      </p:sp>
      <p:sp>
        <p:nvSpPr>
          <p:cNvPr id="57" name="Text 55"/>
          <p:cNvSpPr/>
          <p:nvPr/>
        </p:nvSpPr>
        <p:spPr>
          <a:xfrm>
            <a:off x="4809744" y="3657600"/>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Year 2</a:t>
            </a:r>
            <a:endParaRPr lang="en-US" sz="1400" dirty="0"/>
          </a:p>
        </p:txBody>
      </p:sp>
      <p:sp>
        <p:nvSpPr>
          <p:cNvPr id="58" name="Shape 56"/>
          <p:cNvSpPr/>
          <p:nvPr/>
        </p:nvSpPr>
        <p:spPr>
          <a:xfrm>
            <a:off x="6236208" y="3657600"/>
            <a:ext cx="5385816" cy="493776"/>
          </a:xfrm>
          <a:prstGeom prst="rect">
            <a:avLst/>
          </a:prstGeom>
          <a:solidFill>
            <a:srgbClr val="FFFFFF"/>
          </a:solidFill>
          <a:ln w="12700">
            <a:solidFill>
              <a:srgbClr val="E2E8F0"/>
            </a:solidFill>
            <a:prstDash val="solid"/>
          </a:ln>
        </p:spPr>
      </p:sp>
      <p:sp>
        <p:nvSpPr>
          <p:cNvPr id="59" name="Text 57"/>
          <p:cNvSpPr/>
          <p:nvPr/>
        </p:nvSpPr>
        <p:spPr>
          <a:xfrm>
            <a:off x="6364224" y="3657600"/>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Emergency, medical and blood runs</a:t>
            </a:r>
            <a:endParaRPr lang="en-US" sz="1400" dirty="0"/>
          </a:p>
        </p:txBody>
      </p:sp>
      <p:sp>
        <p:nvSpPr>
          <p:cNvPr id="60" name="Shape 58"/>
          <p:cNvSpPr/>
          <p:nvPr/>
        </p:nvSpPr>
        <p:spPr>
          <a:xfrm>
            <a:off x="566928" y="3657600"/>
            <a:ext cx="64008" cy="493776"/>
          </a:xfrm>
          <a:prstGeom prst="rect">
            <a:avLst/>
          </a:prstGeom>
          <a:solidFill>
            <a:srgbClr val="CBD5E1"/>
          </a:solidFill>
          <a:ln w="12700">
            <a:solidFill>
              <a:srgbClr val="333333"/>
            </a:solidFill>
            <a:prstDash val="solid"/>
          </a:ln>
        </p:spPr>
      </p:sp>
      <p:sp>
        <p:nvSpPr>
          <p:cNvPr id="61" name="Shape 59"/>
          <p:cNvSpPr/>
          <p:nvPr/>
        </p:nvSpPr>
        <p:spPr>
          <a:xfrm>
            <a:off x="566928" y="4151376"/>
            <a:ext cx="2286000" cy="493776"/>
          </a:xfrm>
          <a:prstGeom prst="rect">
            <a:avLst/>
          </a:prstGeom>
          <a:solidFill>
            <a:srgbClr val="F8FAFC"/>
          </a:solidFill>
          <a:ln w="12700">
            <a:solidFill>
              <a:srgbClr val="E2E8F0"/>
            </a:solidFill>
            <a:prstDash val="solid"/>
          </a:ln>
        </p:spPr>
      </p:sp>
      <p:sp>
        <p:nvSpPr>
          <p:cNvPr id="62" name="Text 60"/>
          <p:cNvSpPr/>
          <p:nvPr/>
        </p:nvSpPr>
        <p:spPr>
          <a:xfrm>
            <a:off x="694944" y="4151376"/>
            <a:ext cx="202996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Data and mapping</a:t>
            </a:r>
            <a:endParaRPr lang="en-US" sz="1400" dirty="0"/>
          </a:p>
        </p:txBody>
      </p:sp>
      <p:sp>
        <p:nvSpPr>
          <p:cNvPr id="63" name="Shape 61"/>
          <p:cNvSpPr/>
          <p:nvPr/>
        </p:nvSpPr>
        <p:spPr>
          <a:xfrm>
            <a:off x="2852928" y="4151376"/>
            <a:ext cx="1828800" cy="493776"/>
          </a:xfrm>
          <a:prstGeom prst="rect">
            <a:avLst/>
          </a:prstGeom>
          <a:solidFill>
            <a:srgbClr val="F8FAFC"/>
          </a:solidFill>
          <a:ln w="12700">
            <a:solidFill>
              <a:srgbClr val="E2E8F0"/>
            </a:solidFill>
            <a:prstDash val="solid"/>
          </a:ln>
        </p:spPr>
      </p:sp>
      <p:sp>
        <p:nvSpPr>
          <p:cNvPr id="64" name="Text 62"/>
          <p:cNvSpPr/>
          <p:nvPr/>
        </p:nvSpPr>
        <p:spPr>
          <a:xfrm>
            <a:off x="2980944" y="4151376"/>
            <a:ext cx="157276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200,000 a month</a:t>
            </a:r>
            <a:endParaRPr lang="en-US" sz="1400" dirty="0"/>
          </a:p>
        </p:txBody>
      </p:sp>
      <p:sp>
        <p:nvSpPr>
          <p:cNvPr id="65" name="Shape 63"/>
          <p:cNvSpPr/>
          <p:nvPr/>
        </p:nvSpPr>
        <p:spPr>
          <a:xfrm>
            <a:off x="4681728" y="4151376"/>
            <a:ext cx="1554480" cy="493776"/>
          </a:xfrm>
          <a:prstGeom prst="rect">
            <a:avLst/>
          </a:prstGeom>
          <a:solidFill>
            <a:srgbClr val="F8FAFC"/>
          </a:solidFill>
          <a:ln w="12700">
            <a:solidFill>
              <a:srgbClr val="E2E8F0"/>
            </a:solidFill>
            <a:prstDash val="solid"/>
          </a:ln>
        </p:spPr>
      </p:sp>
      <p:sp>
        <p:nvSpPr>
          <p:cNvPr id="66" name="Text 64"/>
          <p:cNvSpPr/>
          <p:nvPr/>
        </p:nvSpPr>
        <p:spPr>
          <a:xfrm>
            <a:off x="4809744" y="4151376"/>
            <a:ext cx="12984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Year 3</a:t>
            </a:r>
            <a:endParaRPr lang="en-US" sz="1400" dirty="0"/>
          </a:p>
        </p:txBody>
      </p:sp>
      <p:sp>
        <p:nvSpPr>
          <p:cNvPr id="67" name="Shape 65"/>
          <p:cNvSpPr/>
          <p:nvPr/>
        </p:nvSpPr>
        <p:spPr>
          <a:xfrm>
            <a:off x="6236208" y="4151376"/>
            <a:ext cx="5385816" cy="493776"/>
          </a:xfrm>
          <a:prstGeom prst="rect">
            <a:avLst/>
          </a:prstGeom>
          <a:solidFill>
            <a:srgbClr val="F8FAFC"/>
          </a:solidFill>
          <a:ln w="12700">
            <a:solidFill>
              <a:srgbClr val="E2E8F0"/>
            </a:solidFill>
            <a:prstDash val="solid"/>
          </a:ln>
        </p:spPr>
      </p:sp>
      <p:sp>
        <p:nvSpPr>
          <p:cNvPr id="68" name="Text 66"/>
          <p:cNvSpPr/>
          <p:nvPr/>
        </p:nvSpPr>
        <p:spPr>
          <a:xfrm>
            <a:off x="6364224" y="4151376"/>
            <a:ext cx="512978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data sold to logistics and planners</a:t>
            </a:r>
            <a:endParaRPr lang="en-US" sz="1400" dirty="0"/>
          </a:p>
        </p:txBody>
      </p:sp>
      <p:sp>
        <p:nvSpPr>
          <p:cNvPr id="69" name="Shape 67"/>
          <p:cNvSpPr/>
          <p:nvPr/>
        </p:nvSpPr>
        <p:spPr>
          <a:xfrm>
            <a:off x="566928" y="4151376"/>
            <a:ext cx="64008" cy="493776"/>
          </a:xfrm>
          <a:prstGeom prst="rect">
            <a:avLst/>
          </a:prstGeom>
          <a:solidFill>
            <a:srgbClr val="CBD5E1"/>
          </a:solidFill>
          <a:ln w="12700">
            <a:solidFill>
              <a:srgbClr val="333333"/>
            </a:solidFill>
            <a:prstDash val="solid"/>
          </a:ln>
        </p:spPr>
      </p:sp>
      <p:sp>
        <p:nvSpPr>
          <p:cNvPr id="70" name="Shape 68"/>
          <p:cNvSpPr/>
          <p:nvPr/>
        </p:nvSpPr>
        <p:spPr>
          <a:xfrm>
            <a:off x="566928" y="4846320"/>
            <a:ext cx="5577840" cy="859536"/>
          </a:xfrm>
          <a:prstGeom prst="roundRect">
            <a:avLst>
              <a:gd name="adj" fmla="val 5319"/>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71" name="Text 69"/>
          <p:cNvSpPr/>
          <p:nvPr/>
        </p:nvSpPr>
        <p:spPr>
          <a:xfrm>
            <a:off x="694944" y="4937760"/>
            <a:ext cx="5321808" cy="274320"/>
          </a:xfrm>
          <a:prstGeom prst="rect">
            <a:avLst/>
          </a:prstGeom>
          <a:noFill/>
          <a:ln/>
        </p:spPr>
        <p:txBody>
          <a:bodyPr wrap="square" lIns="0" tIns="0" rIns="0" bIns="0" rtlCol="0" anchor="ctr"/>
          <a:lstStyle/>
          <a:p>
            <a:pPr indent="0" marL="0">
              <a:buNone/>
            </a:pPr>
            <a:r>
              <a:rPr lang="en-US" sz="1600" b="1" dirty="0">
                <a:solidFill>
                  <a:srgbClr val="B45309"/>
                </a:solidFill>
                <a:latin typeface="Calibri" pitchFamily="34" charset="0"/>
                <a:ea typeface="Calibri" pitchFamily="34" charset="-122"/>
                <a:cs typeface="Calibri" pitchFamily="34" charset="-120"/>
              </a:rPr>
              <a:t>Why delivery fee alone is not enough</a:t>
            </a:r>
            <a:endParaRPr lang="en-US" sz="1600" dirty="0"/>
          </a:p>
        </p:txBody>
      </p:sp>
      <p:sp>
        <p:nvSpPr>
          <p:cNvPr id="72" name="Text 70"/>
          <p:cNvSpPr/>
          <p:nvPr/>
        </p:nvSpPr>
        <p:spPr>
          <a:xfrm>
            <a:off x="713232" y="5266944"/>
            <a:ext cx="5285232" cy="329184"/>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single flight has to cover airframe life, not just fuel</a:t>
            </a:r>
            <a:endParaRPr lang="en-US" sz="1400" dirty="0"/>
          </a:p>
        </p:txBody>
      </p:sp>
      <p:sp>
        <p:nvSpPr>
          <p:cNvPr id="73" name="Shape 71"/>
          <p:cNvSpPr/>
          <p:nvPr/>
        </p:nvSpPr>
        <p:spPr>
          <a:xfrm>
            <a:off x="6419088" y="4846320"/>
            <a:ext cx="5202936" cy="859536"/>
          </a:xfrm>
          <a:prstGeom prst="roundRect">
            <a:avLst>
              <a:gd name="adj" fmla="val 5319"/>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74" name="Text 72"/>
          <p:cNvSpPr/>
          <p:nvPr/>
        </p:nvSpPr>
        <p:spPr>
          <a:xfrm>
            <a:off x="6547104" y="4937760"/>
            <a:ext cx="4946904" cy="274320"/>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Why subscription changes the maths</a:t>
            </a:r>
            <a:endParaRPr lang="en-US" sz="1600" dirty="0"/>
          </a:p>
        </p:txBody>
      </p:sp>
      <p:sp>
        <p:nvSpPr>
          <p:cNvPr id="75" name="Text 73"/>
          <p:cNvSpPr/>
          <p:nvPr/>
        </p:nvSpPr>
        <p:spPr>
          <a:xfrm>
            <a:off x="6565392" y="5266944"/>
            <a:ext cx="4910328" cy="329184"/>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Five flights a month turns a cost into a habit</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Unit Economics and Break-Even</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Cost and Contribution Analysis</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Tk 43 per flight before hub costs. Everything else is a consequence of that number.</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22</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6. Unit Economics and Break-Even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One hub, one month, itemised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This is the number that decides whether the business exists</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Model assumption. Airframe and hub costs benchmarked against Pathao vehicle lease costs, Dhaka rents and Bangladeshi aviation fuel prices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23</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8" name="Shape 6"/>
          <p:cNvSpPr/>
          <p:nvPr/>
        </p:nvSpPr>
        <p:spPr>
          <a:xfrm>
            <a:off x="566928" y="1298448"/>
            <a:ext cx="4023360" cy="384048"/>
          </a:xfrm>
          <a:prstGeom prst="rect">
            <a:avLst/>
          </a:prstGeom>
          <a:solidFill>
            <a:srgbClr val="0F172A"/>
          </a:solidFill>
          <a:ln w="12700">
            <a:solidFill>
              <a:srgbClr val="333333"/>
            </a:solidFill>
            <a:prstDash val="solid"/>
          </a:ln>
        </p:spPr>
      </p:sp>
      <p:sp>
        <p:nvSpPr>
          <p:cNvPr id="9" name="Text 7"/>
          <p:cNvSpPr/>
          <p:nvPr/>
        </p:nvSpPr>
        <p:spPr>
          <a:xfrm>
            <a:off x="694944" y="1298448"/>
            <a:ext cx="37673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Monthly cost line</a:t>
            </a:r>
            <a:endParaRPr lang="en-US" sz="1400" dirty="0"/>
          </a:p>
        </p:txBody>
      </p:sp>
      <p:sp>
        <p:nvSpPr>
          <p:cNvPr id="10" name="Shape 8"/>
          <p:cNvSpPr/>
          <p:nvPr/>
        </p:nvSpPr>
        <p:spPr>
          <a:xfrm>
            <a:off x="4590288" y="1298448"/>
            <a:ext cx="1828800" cy="384048"/>
          </a:xfrm>
          <a:prstGeom prst="rect">
            <a:avLst/>
          </a:prstGeom>
          <a:solidFill>
            <a:srgbClr val="0F172A"/>
          </a:solidFill>
          <a:ln w="12700">
            <a:solidFill>
              <a:srgbClr val="333333"/>
            </a:solidFill>
            <a:prstDash val="solid"/>
          </a:ln>
        </p:spPr>
      </p:sp>
      <p:sp>
        <p:nvSpPr>
          <p:cNvPr id="11" name="Text 9"/>
          <p:cNvSpPr/>
          <p:nvPr/>
        </p:nvSpPr>
        <p:spPr>
          <a:xfrm>
            <a:off x="4718304" y="1298448"/>
            <a:ext cx="15727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Amount</a:t>
            </a:r>
            <a:endParaRPr lang="en-US" sz="1400" dirty="0"/>
          </a:p>
        </p:txBody>
      </p:sp>
      <p:sp>
        <p:nvSpPr>
          <p:cNvPr id="12" name="Shape 10"/>
          <p:cNvSpPr/>
          <p:nvPr/>
        </p:nvSpPr>
        <p:spPr>
          <a:xfrm>
            <a:off x="566928" y="1682496"/>
            <a:ext cx="4023360" cy="420624"/>
          </a:xfrm>
          <a:prstGeom prst="rect">
            <a:avLst/>
          </a:prstGeom>
          <a:solidFill>
            <a:srgbClr val="FFFFFF"/>
          </a:solidFill>
          <a:ln w="12700">
            <a:solidFill>
              <a:srgbClr val="E2E8F0"/>
            </a:solidFill>
            <a:prstDash val="solid"/>
          </a:ln>
        </p:spPr>
      </p:sp>
      <p:sp>
        <p:nvSpPr>
          <p:cNvPr id="13" name="Text 11"/>
          <p:cNvSpPr/>
          <p:nvPr/>
        </p:nvSpPr>
        <p:spPr>
          <a:xfrm>
            <a:off x="694944" y="1682496"/>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Airframe lease, 6 aircraft</a:t>
            </a:r>
            <a:endParaRPr lang="en-US" sz="1400" dirty="0"/>
          </a:p>
        </p:txBody>
      </p:sp>
      <p:sp>
        <p:nvSpPr>
          <p:cNvPr id="14" name="Shape 12"/>
          <p:cNvSpPr/>
          <p:nvPr/>
        </p:nvSpPr>
        <p:spPr>
          <a:xfrm>
            <a:off x="4590288" y="1682496"/>
            <a:ext cx="1828800" cy="420624"/>
          </a:xfrm>
          <a:prstGeom prst="rect">
            <a:avLst/>
          </a:prstGeom>
          <a:solidFill>
            <a:srgbClr val="FFFFFF"/>
          </a:solidFill>
          <a:ln w="12700">
            <a:solidFill>
              <a:srgbClr val="E2E8F0"/>
            </a:solidFill>
            <a:prstDash val="solid"/>
          </a:ln>
        </p:spPr>
      </p:sp>
      <p:sp>
        <p:nvSpPr>
          <p:cNvPr id="15" name="Text 13"/>
          <p:cNvSpPr/>
          <p:nvPr/>
        </p:nvSpPr>
        <p:spPr>
          <a:xfrm>
            <a:off x="4718304" y="1682496"/>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180,000</a:t>
            </a:r>
            <a:endParaRPr lang="en-US" sz="1400" dirty="0"/>
          </a:p>
        </p:txBody>
      </p:sp>
      <p:sp>
        <p:nvSpPr>
          <p:cNvPr id="16" name="Shape 14"/>
          <p:cNvSpPr/>
          <p:nvPr/>
        </p:nvSpPr>
        <p:spPr>
          <a:xfrm>
            <a:off x="566928" y="2103120"/>
            <a:ext cx="4023360" cy="420624"/>
          </a:xfrm>
          <a:prstGeom prst="rect">
            <a:avLst/>
          </a:prstGeom>
          <a:solidFill>
            <a:srgbClr val="F8FAFC"/>
          </a:solidFill>
          <a:ln w="12700">
            <a:solidFill>
              <a:srgbClr val="E2E8F0"/>
            </a:solidFill>
            <a:prstDash val="solid"/>
          </a:ln>
        </p:spPr>
      </p:sp>
      <p:sp>
        <p:nvSpPr>
          <p:cNvPr id="17" name="Text 15"/>
          <p:cNvSpPr/>
          <p:nvPr/>
        </p:nvSpPr>
        <p:spPr>
          <a:xfrm>
            <a:off x="694944" y="2103120"/>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Hub rent and utilities</a:t>
            </a:r>
            <a:endParaRPr lang="en-US" sz="1400" dirty="0"/>
          </a:p>
        </p:txBody>
      </p:sp>
      <p:sp>
        <p:nvSpPr>
          <p:cNvPr id="18" name="Shape 16"/>
          <p:cNvSpPr/>
          <p:nvPr/>
        </p:nvSpPr>
        <p:spPr>
          <a:xfrm>
            <a:off x="4590288" y="2103120"/>
            <a:ext cx="1828800" cy="420624"/>
          </a:xfrm>
          <a:prstGeom prst="rect">
            <a:avLst/>
          </a:prstGeom>
          <a:solidFill>
            <a:srgbClr val="F8FAFC"/>
          </a:solidFill>
          <a:ln w="12700">
            <a:solidFill>
              <a:srgbClr val="E2E8F0"/>
            </a:solidFill>
            <a:prstDash val="solid"/>
          </a:ln>
        </p:spPr>
      </p:sp>
      <p:sp>
        <p:nvSpPr>
          <p:cNvPr id="19" name="Text 17"/>
          <p:cNvSpPr/>
          <p:nvPr/>
        </p:nvSpPr>
        <p:spPr>
          <a:xfrm>
            <a:off x="4718304" y="2103120"/>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120,000</a:t>
            </a:r>
            <a:endParaRPr lang="en-US" sz="1400" dirty="0"/>
          </a:p>
        </p:txBody>
      </p:sp>
      <p:sp>
        <p:nvSpPr>
          <p:cNvPr id="20" name="Shape 18"/>
          <p:cNvSpPr/>
          <p:nvPr/>
        </p:nvSpPr>
        <p:spPr>
          <a:xfrm>
            <a:off x="566928" y="2523744"/>
            <a:ext cx="4023360" cy="420624"/>
          </a:xfrm>
          <a:prstGeom prst="rect">
            <a:avLst/>
          </a:prstGeom>
          <a:solidFill>
            <a:srgbClr val="FFFFFF"/>
          </a:solidFill>
          <a:ln w="12700">
            <a:solidFill>
              <a:srgbClr val="E2E8F0"/>
            </a:solidFill>
            <a:prstDash val="solid"/>
          </a:ln>
        </p:spPr>
      </p:sp>
      <p:sp>
        <p:nvSpPr>
          <p:cNvPr id="21" name="Text 19"/>
          <p:cNvSpPr/>
          <p:nvPr/>
        </p:nvSpPr>
        <p:spPr>
          <a:xfrm>
            <a:off x="694944" y="2523744"/>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Salaries, 9 staff</a:t>
            </a:r>
            <a:endParaRPr lang="en-US" sz="1400" dirty="0"/>
          </a:p>
        </p:txBody>
      </p:sp>
      <p:sp>
        <p:nvSpPr>
          <p:cNvPr id="22" name="Shape 20"/>
          <p:cNvSpPr/>
          <p:nvPr/>
        </p:nvSpPr>
        <p:spPr>
          <a:xfrm>
            <a:off x="4590288" y="2523744"/>
            <a:ext cx="1828800" cy="420624"/>
          </a:xfrm>
          <a:prstGeom prst="rect">
            <a:avLst/>
          </a:prstGeom>
          <a:solidFill>
            <a:srgbClr val="FFFFFF"/>
          </a:solidFill>
          <a:ln w="12700">
            <a:solidFill>
              <a:srgbClr val="E2E8F0"/>
            </a:solidFill>
            <a:prstDash val="solid"/>
          </a:ln>
        </p:spPr>
      </p:sp>
      <p:sp>
        <p:nvSpPr>
          <p:cNvPr id="23" name="Text 21"/>
          <p:cNvSpPr/>
          <p:nvPr/>
        </p:nvSpPr>
        <p:spPr>
          <a:xfrm>
            <a:off x="4718304" y="2523744"/>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270,000</a:t>
            </a:r>
            <a:endParaRPr lang="en-US" sz="1400" dirty="0"/>
          </a:p>
        </p:txBody>
      </p:sp>
      <p:sp>
        <p:nvSpPr>
          <p:cNvPr id="24" name="Shape 22"/>
          <p:cNvSpPr/>
          <p:nvPr/>
        </p:nvSpPr>
        <p:spPr>
          <a:xfrm>
            <a:off x="566928" y="2944368"/>
            <a:ext cx="4023360" cy="420624"/>
          </a:xfrm>
          <a:prstGeom prst="rect">
            <a:avLst/>
          </a:prstGeom>
          <a:solidFill>
            <a:srgbClr val="F8FAFC"/>
          </a:solidFill>
          <a:ln w="12700">
            <a:solidFill>
              <a:srgbClr val="E2E8F0"/>
            </a:solidFill>
            <a:prstDash val="solid"/>
          </a:ln>
        </p:spPr>
      </p:sp>
      <p:sp>
        <p:nvSpPr>
          <p:cNvPr id="25" name="Text 23"/>
          <p:cNvSpPr/>
          <p:nvPr/>
        </p:nvSpPr>
        <p:spPr>
          <a:xfrm>
            <a:off x="694944" y="2944368"/>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Battery replacement</a:t>
            </a:r>
            <a:endParaRPr lang="en-US" sz="1400" dirty="0"/>
          </a:p>
        </p:txBody>
      </p:sp>
      <p:sp>
        <p:nvSpPr>
          <p:cNvPr id="26" name="Shape 24"/>
          <p:cNvSpPr/>
          <p:nvPr/>
        </p:nvSpPr>
        <p:spPr>
          <a:xfrm>
            <a:off x="4590288" y="2944368"/>
            <a:ext cx="1828800" cy="420624"/>
          </a:xfrm>
          <a:prstGeom prst="rect">
            <a:avLst/>
          </a:prstGeom>
          <a:solidFill>
            <a:srgbClr val="F8FAFC"/>
          </a:solidFill>
          <a:ln w="12700">
            <a:solidFill>
              <a:srgbClr val="E2E8F0"/>
            </a:solidFill>
            <a:prstDash val="solid"/>
          </a:ln>
        </p:spPr>
      </p:sp>
      <p:sp>
        <p:nvSpPr>
          <p:cNvPr id="27" name="Text 25"/>
          <p:cNvSpPr/>
          <p:nvPr/>
        </p:nvSpPr>
        <p:spPr>
          <a:xfrm>
            <a:off x="4718304" y="2944368"/>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60,000</a:t>
            </a:r>
            <a:endParaRPr lang="en-US" sz="1400" dirty="0"/>
          </a:p>
        </p:txBody>
      </p:sp>
      <p:sp>
        <p:nvSpPr>
          <p:cNvPr id="28" name="Shape 26"/>
          <p:cNvSpPr/>
          <p:nvPr/>
        </p:nvSpPr>
        <p:spPr>
          <a:xfrm>
            <a:off x="566928" y="3364992"/>
            <a:ext cx="4023360" cy="420624"/>
          </a:xfrm>
          <a:prstGeom prst="rect">
            <a:avLst/>
          </a:prstGeom>
          <a:solidFill>
            <a:srgbClr val="FFFFFF"/>
          </a:solidFill>
          <a:ln w="12700">
            <a:solidFill>
              <a:srgbClr val="E2E8F0"/>
            </a:solidFill>
            <a:prstDash val="solid"/>
          </a:ln>
        </p:spPr>
      </p:sp>
      <p:sp>
        <p:nvSpPr>
          <p:cNvPr id="29" name="Text 27"/>
          <p:cNvSpPr/>
          <p:nvPr/>
        </p:nvSpPr>
        <p:spPr>
          <a:xfrm>
            <a:off x="694944" y="3364992"/>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Connectivity and cloud</a:t>
            </a:r>
            <a:endParaRPr lang="en-US" sz="1400" dirty="0"/>
          </a:p>
        </p:txBody>
      </p:sp>
      <p:sp>
        <p:nvSpPr>
          <p:cNvPr id="30" name="Shape 28"/>
          <p:cNvSpPr/>
          <p:nvPr/>
        </p:nvSpPr>
        <p:spPr>
          <a:xfrm>
            <a:off x="4590288" y="3364992"/>
            <a:ext cx="1828800" cy="420624"/>
          </a:xfrm>
          <a:prstGeom prst="rect">
            <a:avLst/>
          </a:prstGeom>
          <a:solidFill>
            <a:srgbClr val="FFFFFF"/>
          </a:solidFill>
          <a:ln w="12700">
            <a:solidFill>
              <a:srgbClr val="E2E8F0"/>
            </a:solidFill>
            <a:prstDash val="solid"/>
          </a:ln>
        </p:spPr>
      </p:sp>
      <p:sp>
        <p:nvSpPr>
          <p:cNvPr id="31" name="Text 29"/>
          <p:cNvSpPr/>
          <p:nvPr/>
        </p:nvSpPr>
        <p:spPr>
          <a:xfrm>
            <a:off x="4718304" y="3364992"/>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25,000</a:t>
            </a:r>
            <a:endParaRPr lang="en-US" sz="1400" dirty="0"/>
          </a:p>
        </p:txBody>
      </p:sp>
      <p:sp>
        <p:nvSpPr>
          <p:cNvPr id="32" name="Shape 30"/>
          <p:cNvSpPr/>
          <p:nvPr/>
        </p:nvSpPr>
        <p:spPr>
          <a:xfrm>
            <a:off x="566928" y="3785616"/>
            <a:ext cx="4023360" cy="420624"/>
          </a:xfrm>
          <a:prstGeom prst="rect">
            <a:avLst/>
          </a:prstGeom>
          <a:solidFill>
            <a:srgbClr val="F8FAFC"/>
          </a:solidFill>
          <a:ln w="12700">
            <a:solidFill>
              <a:srgbClr val="E2E8F0"/>
            </a:solidFill>
            <a:prstDash val="solid"/>
          </a:ln>
        </p:spPr>
      </p:sp>
      <p:sp>
        <p:nvSpPr>
          <p:cNvPr id="33" name="Text 31"/>
          <p:cNvSpPr/>
          <p:nvPr/>
        </p:nvSpPr>
        <p:spPr>
          <a:xfrm>
            <a:off x="694944" y="3785616"/>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 inference, at launch volume</a:t>
            </a:r>
            <a:endParaRPr lang="en-US" sz="1400" dirty="0"/>
          </a:p>
        </p:txBody>
      </p:sp>
      <p:sp>
        <p:nvSpPr>
          <p:cNvPr id="34" name="Shape 32"/>
          <p:cNvSpPr/>
          <p:nvPr/>
        </p:nvSpPr>
        <p:spPr>
          <a:xfrm>
            <a:off x="4590288" y="3785616"/>
            <a:ext cx="1828800" cy="420624"/>
          </a:xfrm>
          <a:prstGeom prst="rect">
            <a:avLst/>
          </a:prstGeom>
          <a:solidFill>
            <a:srgbClr val="F8FAFC"/>
          </a:solidFill>
          <a:ln w="12700">
            <a:solidFill>
              <a:srgbClr val="E2E8F0"/>
            </a:solidFill>
            <a:prstDash val="solid"/>
          </a:ln>
        </p:spPr>
      </p:sp>
      <p:sp>
        <p:nvSpPr>
          <p:cNvPr id="35" name="Text 33"/>
          <p:cNvSpPr/>
          <p:nvPr/>
        </p:nvSpPr>
        <p:spPr>
          <a:xfrm>
            <a:off x="4718304" y="3785616"/>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18,000</a:t>
            </a:r>
            <a:endParaRPr lang="en-US" sz="1400" dirty="0"/>
          </a:p>
        </p:txBody>
      </p:sp>
      <p:sp>
        <p:nvSpPr>
          <p:cNvPr id="36" name="Shape 34"/>
          <p:cNvSpPr/>
          <p:nvPr/>
        </p:nvSpPr>
        <p:spPr>
          <a:xfrm>
            <a:off x="566928" y="4206240"/>
            <a:ext cx="4023360" cy="420624"/>
          </a:xfrm>
          <a:prstGeom prst="rect">
            <a:avLst/>
          </a:prstGeom>
          <a:solidFill>
            <a:srgbClr val="FFFFFF"/>
          </a:solidFill>
          <a:ln w="12700">
            <a:solidFill>
              <a:srgbClr val="E2E8F0"/>
            </a:solidFill>
            <a:prstDash val="solid"/>
          </a:ln>
        </p:spPr>
      </p:sp>
      <p:sp>
        <p:nvSpPr>
          <p:cNvPr id="37" name="Text 35"/>
          <p:cNvSpPr/>
          <p:nvPr/>
        </p:nvSpPr>
        <p:spPr>
          <a:xfrm>
            <a:off x="694944" y="4206240"/>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Insurance and maintenance</a:t>
            </a:r>
            <a:endParaRPr lang="en-US" sz="1400" dirty="0"/>
          </a:p>
        </p:txBody>
      </p:sp>
      <p:sp>
        <p:nvSpPr>
          <p:cNvPr id="38" name="Shape 36"/>
          <p:cNvSpPr/>
          <p:nvPr/>
        </p:nvSpPr>
        <p:spPr>
          <a:xfrm>
            <a:off x="4590288" y="4206240"/>
            <a:ext cx="1828800" cy="420624"/>
          </a:xfrm>
          <a:prstGeom prst="rect">
            <a:avLst/>
          </a:prstGeom>
          <a:solidFill>
            <a:srgbClr val="FFFFFF"/>
          </a:solidFill>
          <a:ln w="12700">
            <a:solidFill>
              <a:srgbClr val="E2E8F0"/>
            </a:solidFill>
            <a:prstDash val="solid"/>
          </a:ln>
        </p:spPr>
      </p:sp>
      <p:sp>
        <p:nvSpPr>
          <p:cNvPr id="39" name="Text 37"/>
          <p:cNvSpPr/>
          <p:nvPr/>
        </p:nvSpPr>
        <p:spPr>
          <a:xfrm>
            <a:off x="4718304" y="4206240"/>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40,000</a:t>
            </a:r>
            <a:endParaRPr lang="en-US" sz="1400" dirty="0"/>
          </a:p>
        </p:txBody>
      </p:sp>
      <p:sp>
        <p:nvSpPr>
          <p:cNvPr id="40" name="Shape 38"/>
          <p:cNvSpPr/>
          <p:nvPr/>
        </p:nvSpPr>
        <p:spPr>
          <a:xfrm>
            <a:off x="566928" y="4626864"/>
            <a:ext cx="4023360" cy="420624"/>
          </a:xfrm>
          <a:prstGeom prst="rect">
            <a:avLst/>
          </a:prstGeom>
          <a:solidFill>
            <a:srgbClr val="F8FAFC"/>
          </a:solidFill>
          <a:ln w="12700">
            <a:solidFill>
              <a:srgbClr val="E2E8F0"/>
            </a:solidFill>
            <a:prstDash val="solid"/>
          </a:ln>
        </p:spPr>
      </p:sp>
      <p:sp>
        <p:nvSpPr>
          <p:cNvPr id="41" name="Text 39"/>
          <p:cNvSpPr/>
          <p:nvPr/>
        </p:nvSpPr>
        <p:spPr>
          <a:xfrm>
            <a:off x="694944" y="4626864"/>
            <a:ext cx="3767328" cy="42062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build, 40 pads at Tk 4,000</a:t>
            </a:r>
            <a:endParaRPr lang="en-US" sz="1400" dirty="0"/>
          </a:p>
        </p:txBody>
      </p:sp>
      <p:sp>
        <p:nvSpPr>
          <p:cNvPr id="42" name="Shape 40"/>
          <p:cNvSpPr/>
          <p:nvPr/>
        </p:nvSpPr>
        <p:spPr>
          <a:xfrm>
            <a:off x="4590288" y="4626864"/>
            <a:ext cx="1828800" cy="420624"/>
          </a:xfrm>
          <a:prstGeom prst="rect">
            <a:avLst/>
          </a:prstGeom>
          <a:solidFill>
            <a:srgbClr val="F8FAFC"/>
          </a:solidFill>
          <a:ln w="12700">
            <a:solidFill>
              <a:srgbClr val="E2E8F0"/>
            </a:solidFill>
            <a:prstDash val="solid"/>
          </a:ln>
        </p:spPr>
      </p:sp>
      <p:sp>
        <p:nvSpPr>
          <p:cNvPr id="43" name="Text 41"/>
          <p:cNvSpPr/>
          <p:nvPr/>
        </p:nvSpPr>
        <p:spPr>
          <a:xfrm>
            <a:off x="4718304" y="4626864"/>
            <a:ext cx="1572768" cy="42062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160,000</a:t>
            </a:r>
            <a:endParaRPr lang="en-US" sz="1400" dirty="0"/>
          </a:p>
        </p:txBody>
      </p:sp>
      <p:sp>
        <p:nvSpPr>
          <p:cNvPr id="44" name="Shape 42"/>
          <p:cNvSpPr/>
          <p:nvPr/>
        </p:nvSpPr>
        <p:spPr>
          <a:xfrm>
            <a:off x="566928" y="5102352"/>
            <a:ext cx="5852160" cy="548640"/>
          </a:xfrm>
          <a:prstGeom prst="rect">
            <a:avLst/>
          </a:prstGeom>
          <a:solidFill>
            <a:srgbClr val="FDE8EA"/>
          </a:solidFill>
          <a:ln w="12700">
            <a:solidFill>
              <a:srgbClr val="800020"/>
            </a:solidFill>
            <a:prstDash val="solid"/>
          </a:ln>
        </p:spPr>
      </p:sp>
      <p:sp>
        <p:nvSpPr>
          <p:cNvPr id="45" name="Text 43"/>
          <p:cNvSpPr/>
          <p:nvPr/>
        </p:nvSpPr>
        <p:spPr>
          <a:xfrm>
            <a:off x="694944" y="5102352"/>
            <a:ext cx="4023360" cy="54864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Total monthly fixed cost per hub</a:t>
            </a:r>
            <a:endParaRPr lang="en-US" sz="1400" dirty="0"/>
          </a:p>
        </p:txBody>
      </p:sp>
      <p:sp>
        <p:nvSpPr>
          <p:cNvPr id="46" name="Text 44"/>
          <p:cNvSpPr/>
          <p:nvPr/>
        </p:nvSpPr>
        <p:spPr>
          <a:xfrm>
            <a:off x="4590288" y="5102352"/>
            <a:ext cx="1700784" cy="548640"/>
          </a:xfrm>
          <a:prstGeom prst="rect">
            <a:avLst/>
          </a:prstGeom>
          <a:noFill/>
          <a:ln/>
        </p:spPr>
        <p:txBody>
          <a:bodyPr wrap="square" lIns="0" tIns="0" rIns="0" bIns="0" rtlCol="0" anchor="ctr"/>
          <a:lstStyle/>
          <a:p>
            <a:pPr algn="r" indent="0" marL="0">
              <a:buNone/>
            </a:pPr>
            <a:r>
              <a:rPr lang="en-US" sz="1600" b="1" dirty="0">
                <a:solidFill>
                  <a:srgbClr val="800020"/>
                </a:solidFill>
                <a:latin typeface="Calibri" pitchFamily="34" charset="0"/>
                <a:ea typeface="Calibri" pitchFamily="34" charset="-122"/>
                <a:cs typeface="Calibri" pitchFamily="34" charset="-120"/>
              </a:rPr>
              <a:t>Tk 873,000</a:t>
            </a:r>
            <a:endParaRPr lang="en-US" sz="1600" dirty="0"/>
          </a:p>
        </p:txBody>
      </p:sp>
      <p:pic>
        <p:nvPicPr>
          <p:cNvPr id="47" name="Image 0" descr="/Users/nafiskabbo/development/presentation-hum/media/img/drone_launch.jpg">    </p:cNvPr>
          <p:cNvPicPr>
            <a:picLocks noChangeAspect="1"/>
          </p:cNvPicPr>
          <p:nvPr/>
        </p:nvPicPr>
        <p:blipFill>
          <a:blip r:embed="rId1"/>
          <a:srcRect l="0" r="0" t="0" b="0"/>
          <a:stretch/>
        </p:blipFill>
        <p:spPr>
          <a:xfrm>
            <a:off x="6876288" y="1298448"/>
            <a:ext cx="4745736" cy="2432304"/>
          </a:xfrm>
          <a:prstGeom prst="rect">
            <a:avLst/>
          </a:prstGeom>
        </p:spPr>
      </p:pic>
      <p:sp>
        <p:nvSpPr>
          <p:cNvPr id="48" name="Text 45"/>
          <p:cNvSpPr/>
          <p:nvPr/>
        </p:nvSpPr>
        <p:spPr>
          <a:xfrm>
            <a:off x="6876288" y="3767328"/>
            <a:ext cx="4745736" cy="384048"/>
          </a:xfrm>
          <a:prstGeom prst="rect">
            <a:avLst/>
          </a:prstGeom>
          <a:noFill/>
          <a:ln/>
        </p:spPr>
        <p:txBody>
          <a:bodyPr wrap="square" lIns="0" tIns="0" rIns="0" bIns="0" rtlCol="0" anchor="t"/>
          <a:lstStyle/>
          <a:p>
            <a:pPr indent="0" marL="0">
              <a:lnSpc>
                <a:spcPts val="1500"/>
              </a:lnSpc>
              <a:buNone/>
            </a:pPr>
            <a:r>
              <a:rPr lang="en-US" sz="1200" i="1" dirty="0">
                <a:solidFill>
                  <a:srgbClr val="64748B"/>
                </a:solidFill>
                <a:latin typeface="Calibri" pitchFamily="34" charset="0"/>
                <a:ea typeface="Calibri" pitchFamily="34" charset="-122"/>
                <a:cs typeface="Calibri" pitchFamily="34" charset="-120"/>
              </a:rPr>
              <a:t>Zipline drone on its launch rail. CC BY-SA 4.0, Wikimedia Commons</a:t>
            </a:r>
            <a:endParaRPr lang="en-US" sz="1200" dirty="0"/>
          </a:p>
        </p:txBody>
      </p:sp>
      <p:sp>
        <p:nvSpPr>
          <p:cNvPr id="49" name="Shape 46"/>
          <p:cNvSpPr/>
          <p:nvPr/>
        </p:nvSpPr>
        <p:spPr>
          <a:xfrm>
            <a:off x="6876288" y="4096512"/>
            <a:ext cx="4745736" cy="1188720"/>
          </a:xfrm>
          <a:prstGeom prst="roundRect">
            <a:avLst>
              <a:gd name="adj" fmla="val 3846"/>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0" name="Text 47"/>
          <p:cNvSpPr/>
          <p:nvPr/>
        </p:nvSpPr>
        <p:spPr>
          <a:xfrm>
            <a:off x="7004304" y="4187952"/>
            <a:ext cx="4489704" cy="274320"/>
          </a:xfrm>
          <a:prstGeom prst="rect">
            <a:avLst/>
          </a:prstGeom>
          <a:noFill/>
          <a:ln/>
        </p:spPr>
        <p:txBody>
          <a:bodyPr wrap="square" lIns="0" tIns="0" rIns="0" bIns="0" rtlCol="0" anchor="ctr"/>
          <a:lstStyle/>
          <a:p>
            <a:pPr indent="0" marL="0">
              <a:buNone/>
            </a:pPr>
            <a:r>
              <a:rPr lang="en-US" sz="1600" b="1" dirty="0">
                <a:solidFill>
                  <a:srgbClr val="334155"/>
                </a:solidFill>
                <a:latin typeface="Calibri" pitchFamily="34" charset="0"/>
                <a:ea typeface="Calibri" pitchFamily="34" charset="-122"/>
                <a:cs typeface="Calibri" pitchFamily="34" charset="-120"/>
              </a:rPr>
              <a:t>What this number is not</a:t>
            </a:r>
            <a:endParaRPr lang="en-US" sz="1600" dirty="0"/>
          </a:p>
        </p:txBody>
      </p:sp>
      <p:sp>
        <p:nvSpPr>
          <p:cNvPr id="51" name="Text 48"/>
          <p:cNvSpPr/>
          <p:nvPr/>
        </p:nvSpPr>
        <p:spPr>
          <a:xfrm>
            <a:off x="7022592" y="4517136"/>
            <a:ext cx="4453128" cy="65836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It is one hub, not the company</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It excludes growth capex and founders pay</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6. Unit Economics and Break-Even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Unit economics decide whether this works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Per delivery, in Rajshahi, at launch volumes</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Model assumption. Range shown because every input is an estimate at this stage</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24</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8" name="Shape 6"/>
          <p:cNvSpPr/>
          <p:nvPr/>
        </p:nvSpPr>
        <p:spPr>
          <a:xfrm>
            <a:off x="566928" y="1298448"/>
            <a:ext cx="3200400" cy="384048"/>
          </a:xfrm>
          <a:prstGeom prst="rect">
            <a:avLst/>
          </a:prstGeom>
          <a:solidFill>
            <a:srgbClr val="0F172A"/>
          </a:solidFill>
          <a:ln w="12700">
            <a:solidFill>
              <a:srgbClr val="333333"/>
            </a:solidFill>
            <a:prstDash val="solid"/>
          </a:ln>
        </p:spPr>
      </p:sp>
      <p:sp>
        <p:nvSpPr>
          <p:cNvPr id="9" name="Text 7"/>
          <p:cNvSpPr/>
          <p:nvPr/>
        </p:nvSpPr>
        <p:spPr>
          <a:xfrm>
            <a:off x="694944" y="1298448"/>
            <a:ext cx="29443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Line</a:t>
            </a:r>
            <a:endParaRPr lang="en-US" sz="1400" dirty="0"/>
          </a:p>
        </p:txBody>
      </p:sp>
      <p:sp>
        <p:nvSpPr>
          <p:cNvPr id="10" name="Shape 8"/>
          <p:cNvSpPr/>
          <p:nvPr/>
        </p:nvSpPr>
        <p:spPr>
          <a:xfrm>
            <a:off x="3767328" y="1298448"/>
            <a:ext cx="1463040" cy="384048"/>
          </a:xfrm>
          <a:prstGeom prst="rect">
            <a:avLst/>
          </a:prstGeom>
          <a:solidFill>
            <a:srgbClr val="0F172A"/>
          </a:solidFill>
          <a:ln w="12700">
            <a:solidFill>
              <a:srgbClr val="333333"/>
            </a:solidFill>
            <a:prstDash val="solid"/>
          </a:ln>
        </p:spPr>
      </p:sp>
      <p:sp>
        <p:nvSpPr>
          <p:cNvPr id="11" name="Text 9"/>
          <p:cNvSpPr/>
          <p:nvPr/>
        </p:nvSpPr>
        <p:spPr>
          <a:xfrm>
            <a:off x="3895344" y="1298448"/>
            <a:ext cx="12070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Amount</a:t>
            </a:r>
            <a:endParaRPr lang="en-US" sz="1400" dirty="0"/>
          </a:p>
        </p:txBody>
      </p:sp>
      <p:sp>
        <p:nvSpPr>
          <p:cNvPr id="12" name="Shape 10"/>
          <p:cNvSpPr/>
          <p:nvPr/>
        </p:nvSpPr>
        <p:spPr>
          <a:xfrm>
            <a:off x="5230368" y="1298448"/>
            <a:ext cx="6391656" cy="384048"/>
          </a:xfrm>
          <a:prstGeom prst="rect">
            <a:avLst/>
          </a:prstGeom>
          <a:solidFill>
            <a:srgbClr val="0F172A"/>
          </a:solidFill>
          <a:ln w="12700">
            <a:solidFill>
              <a:srgbClr val="333333"/>
            </a:solidFill>
            <a:prstDash val="solid"/>
          </a:ln>
        </p:spPr>
      </p:sp>
      <p:sp>
        <p:nvSpPr>
          <p:cNvPr id="13" name="Text 11"/>
          <p:cNvSpPr/>
          <p:nvPr/>
        </p:nvSpPr>
        <p:spPr>
          <a:xfrm>
            <a:off x="5358384" y="1298448"/>
            <a:ext cx="613562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Note</a:t>
            </a:r>
            <a:endParaRPr lang="en-US" sz="1400" dirty="0"/>
          </a:p>
        </p:txBody>
      </p:sp>
      <p:sp>
        <p:nvSpPr>
          <p:cNvPr id="14" name="Shape 12"/>
          <p:cNvSpPr/>
          <p:nvPr/>
        </p:nvSpPr>
        <p:spPr>
          <a:xfrm>
            <a:off x="566928" y="1682496"/>
            <a:ext cx="3200400" cy="475488"/>
          </a:xfrm>
          <a:prstGeom prst="rect">
            <a:avLst/>
          </a:prstGeom>
          <a:solidFill>
            <a:srgbClr val="FFFFFF"/>
          </a:solidFill>
          <a:ln w="12700">
            <a:solidFill>
              <a:srgbClr val="E2E8F0"/>
            </a:solidFill>
            <a:prstDash val="solid"/>
          </a:ln>
        </p:spPr>
      </p:sp>
      <p:sp>
        <p:nvSpPr>
          <p:cNvPr id="15" name="Text 13"/>
          <p:cNvSpPr/>
          <p:nvPr/>
        </p:nvSpPr>
        <p:spPr>
          <a:xfrm>
            <a:off x="694944" y="1682496"/>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Delivery fee collected</a:t>
            </a:r>
            <a:endParaRPr lang="en-US" sz="1400" dirty="0"/>
          </a:p>
        </p:txBody>
      </p:sp>
      <p:sp>
        <p:nvSpPr>
          <p:cNvPr id="16" name="Shape 14"/>
          <p:cNvSpPr/>
          <p:nvPr/>
        </p:nvSpPr>
        <p:spPr>
          <a:xfrm>
            <a:off x="3767328" y="1682496"/>
            <a:ext cx="1463040" cy="475488"/>
          </a:xfrm>
          <a:prstGeom prst="rect">
            <a:avLst/>
          </a:prstGeom>
          <a:solidFill>
            <a:srgbClr val="FFFFFF"/>
          </a:solidFill>
          <a:ln w="12700">
            <a:solidFill>
              <a:srgbClr val="E2E8F0"/>
            </a:solidFill>
            <a:prstDash val="solid"/>
          </a:ln>
        </p:spPr>
      </p:sp>
      <p:sp>
        <p:nvSpPr>
          <p:cNvPr id="17" name="Text 15"/>
          <p:cNvSpPr/>
          <p:nvPr/>
        </p:nvSpPr>
        <p:spPr>
          <a:xfrm>
            <a:off x="3895344" y="1682496"/>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90</a:t>
            </a:r>
            <a:endParaRPr lang="en-US" sz="1400" dirty="0"/>
          </a:p>
        </p:txBody>
      </p:sp>
      <p:sp>
        <p:nvSpPr>
          <p:cNvPr id="18" name="Shape 16"/>
          <p:cNvSpPr/>
          <p:nvPr/>
        </p:nvSpPr>
        <p:spPr>
          <a:xfrm>
            <a:off x="5230368" y="1682496"/>
            <a:ext cx="6391656" cy="475488"/>
          </a:xfrm>
          <a:prstGeom prst="rect">
            <a:avLst/>
          </a:prstGeom>
          <a:solidFill>
            <a:srgbClr val="FFFFFF"/>
          </a:solidFill>
          <a:ln w="12700">
            <a:solidFill>
              <a:srgbClr val="E2E8F0"/>
            </a:solidFill>
            <a:prstDash val="solid"/>
          </a:ln>
        </p:spPr>
      </p:sp>
      <p:sp>
        <p:nvSpPr>
          <p:cNvPr id="19" name="Text 17"/>
          <p:cNvSpPr/>
          <p:nvPr/>
        </p:nvSpPr>
        <p:spPr>
          <a:xfrm>
            <a:off x="5358384" y="1682496"/>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The only certain line in the model</a:t>
            </a:r>
            <a:endParaRPr lang="en-US" sz="1400" dirty="0"/>
          </a:p>
        </p:txBody>
      </p:sp>
      <p:sp>
        <p:nvSpPr>
          <p:cNvPr id="20" name="Shape 18"/>
          <p:cNvSpPr/>
          <p:nvPr/>
        </p:nvSpPr>
        <p:spPr>
          <a:xfrm>
            <a:off x="566928" y="1682496"/>
            <a:ext cx="64008" cy="475488"/>
          </a:xfrm>
          <a:prstGeom prst="rect">
            <a:avLst/>
          </a:prstGeom>
          <a:solidFill>
            <a:srgbClr val="800020"/>
          </a:solidFill>
          <a:ln w="12700">
            <a:solidFill>
              <a:srgbClr val="333333"/>
            </a:solidFill>
            <a:prstDash val="solid"/>
          </a:ln>
        </p:spPr>
      </p:sp>
      <p:sp>
        <p:nvSpPr>
          <p:cNvPr id="21" name="Shape 19"/>
          <p:cNvSpPr/>
          <p:nvPr/>
        </p:nvSpPr>
        <p:spPr>
          <a:xfrm>
            <a:off x="566928" y="2157984"/>
            <a:ext cx="3200400" cy="475488"/>
          </a:xfrm>
          <a:prstGeom prst="rect">
            <a:avLst/>
          </a:prstGeom>
          <a:solidFill>
            <a:srgbClr val="F8FAFC"/>
          </a:solidFill>
          <a:ln w="12700">
            <a:solidFill>
              <a:srgbClr val="E2E8F0"/>
            </a:solidFill>
            <a:prstDash val="solid"/>
          </a:ln>
        </p:spPr>
      </p:sp>
      <p:sp>
        <p:nvSpPr>
          <p:cNvPr id="22" name="Text 20"/>
          <p:cNvSpPr/>
          <p:nvPr/>
        </p:nvSpPr>
        <p:spPr>
          <a:xfrm>
            <a:off x="694944" y="2157984"/>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hosting, after month 9</a:t>
            </a:r>
            <a:endParaRPr lang="en-US" sz="1400" dirty="0"/>
          </a:p>
        </p:txBody>
      </p:sp>
      <p:sp>
        <p:nvSpPr>
          <p:cNvPr id="23" name="Shape 21"/>
          <p:cNvSpPr/>
          <p:nvPr/>
        </p:nvSpPr>
        <p:spPr>
          <a:xfrm>
            <a:off x="3767328" y="2157984"/>
            <a:ext cx="1463040" cy="475488"/>
          </a:xfrm>
          <a:prstGeom prst="rect">
            <a:avLst/>
          </a:prstGeom>
          <a:solidFill>
            <a:srgbClr val="F8FAFC"/>
          </a:solidFill>
          <a:ln w="12700">
            <a:solidFill>
              <a:srgbClr val="E2E8F0"/>
            </a:solidFill>
            <a:prstDash val="solid"/>
          </a:ln>
        </p:spPr>
      </p:sp>
      <p:sp>
        <p:nvSpPr>
          <p:cNvPr id="24" name="Text 22"/>
          <p:cNvSpPr/>
          <p:nvPr/>
        </p:nvSpPr>
        <p:spPr>
          <a:xfrm>
            <a:off x="3895344" y="2157984"/>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a:t>
            </a:r>
            <a:endParaRPr lang="en-US" sz="1400" dirty="0"/>
          </a:p>
        </p:txBody>
      </p:sp>
      <p:sp>
        <p:nvSpPr>
          <p:cNvPr id="25" name="Shape 23"/>
          <p:cNvSpPr/>
          <p:nvPr/>
        </p:nvSpPr>
        <p:spPr>
          <a:xfrm>
            <a:off x="5230368" y="2157984"/>
            <a:ext cx="6391656" cy="475488"/>
          </a:xfrm>
          <a:prstGeom prst="rect">
            <a:avLst/>
          </a:prstGeom>
          <a:solidFill>
            <a:srgbClr val="F8FAFC"/>
          </a:solidFill>
          <a:ln w="12700">
            <a:solidFill>
              <a:srgbClr val="E2E8F0"/>
            </a:solidFill>
            <a:prstDash val="solid"/>
          </a:ln>
        </p:spPr>
      </p:sp>
      <p:sp>
        <p:nvSpPr>
          <p:cNvPr id="26" name="Text 24"/>
          <p:cNvSpPr/>
          <p:nvPr/>
        </p:nvSpPr>
        <p:spPr>
          <a:xfrm>
            <a:off x="5358384" y="2157984"/>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Net of what the host pays us</a:t>
            </a:r>
            <a:endParaRPr lang="en-US" sz="1400" dirty="0"/>
          </a:p>
        </p:txBody>
      </p:sp>
      <p:sp>
        <p:nvSpPr>
          <p:cNvPr id="27" name="Shape 25"/>
          <p:cNvSpPr/>
          <p:nvPr/>
        </p:nvSpPr>
        <p:spPr>
          <a:xfrm>
            <a:off x="566928" y="2157984"/>
            <a:ext cx="64008" cy="475488"/>
          </a:xfrm>
          <a:prstGeom prst="rect">
            <a:avLst/>
          </a:prstGeom>
          <a:solidFill>
            <a:srgbClr val="800020"/>
          </a:solidFill>
          <a:ln w="12700">
            <a:solidFill>
              <a:srgbClr val="333333"/>
            </a:solidFill>
            <a:prstDash val="solid"/>
          </a:ln>
        </p:spPr>
      </p:sp>
      <p:sp>
        <p:nvSpPr>
          <p:cNvPr id="28" name="Shape 26"/>
          <p:cNvSpPr/>
          <p:nvPr/>
        </p:nvSpPr>
        <p:spPr>
          <a:xfrm>
            <a:off x="566928" y="2633472"/>
            <a:ext cx="3200400" cy="475488"/>
          </a:xfrm>
          <a:prstGeom prst="rect">
            <a:avLst/>
          </a:prstGeom>
          <a:solidFill>
            <a:srgbClr val="FFFFFF"/>
          </a:solidFill>
          <a:ln w="12700">
            <a:solidFill>
              <a:srgbClr val="E2E8F0"/>
            </a:solidFill>
            <a:prstDash val="solid"/>
          </a:ln>
        </p:spPr>
      </p:sp>
      <p:sp>
        <p:nvSpPr>
          <p:cNvPr id="29" name="Text 27"/>
          <p:cNvSpPr/>
          <p:nvPr/>
        </p:nvSpPr>
        <p:spPr>
          <a:xfrm>
            <a:off x="694944" y="2633472"/>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Variable cost, per flight</a:t>
            </a:r>
            <a:endParaRPr lang="en-US" sz="1400" dirty="0"/>
          </a:p>
        </p:txBody>
      </p:sp>
      <p:sp>
        <p:nvSpPr>
          <p:cNvPr id="30" name="Shape 28"/>
          <p:cNvSpPr/>
          <p:nvPr/>
        </p:nvSpPr>
        <p:spPr>
          <a:xfrm>
            <a:off x="3767328" y="2633472"/>
            <a:ext cx="1463040" cy="475488"/>
          </a:xfrm>
          <a:prstGeom prst="rect">
            <a:avLst/>
          </a:prstGeom>
          <a:solidFill>
            <a:srgbClr val="FFFFFF"/>
          </a:solidFill>
          <a:ln w="12700">
            <a:solidFill>
              <a:srgbClr val="E2E8F0"/>
            </a:solidFill>
            <a:prstDash val="solid"/>
          </a:ln>
        </p:spPr>
      </p:sp>
      <p:sp>
        <p:nvSpPr>
          <p:cNvPr id="31" name="Text 29"/>
          <p:cNvSpPr/>
          <p:nvPr/>
        </p:nvSpPr>
        <p:spPr>
          <a:xfrm>
            <a:off x="3895344" y="2633472"/>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46</a:t>
            </a:r>
            <a:endParaRPr lang="en-US" sz="1400" dirty="0"/>
          </a:p>
        </p:txBody>
      </p:sp>
      <p:sp>
        <p:nvSpPr>
          <p:cNvPr id="32" name="Shape 30"/>
          <p:cNvSpPr/>
          <p:nvPr/>
        </p:nvSpPr>
        <p:spPr>
          <a:xfrm>
            <a:off x="5230368" y="2633472"/>
            <a:ext cx="6391656" cy="475488"/>
          </a:xfrm>
          <a:prstGeom prst="rect">
            <a:avLst/>
          </a:prstGeom>
          <a:solidFill>
            <a:srgbClr val="FFFFFF"/>
          </a:solidFill>
          <a:ln w="12700">
            <a:solidFill>
              <a:srgbClr val="E2E8F0"/>
            </a:solidFill>
            <a:prstDash val="solid"/>
          </a:ln>
        </p:spPr>
      </p:sp>
      <p:sp>
        <p:nvSpPr>
          <p:cNvPr id="33" name="Text 31"/>
          <p:cNvSpPr/>
          <p:nvPr/>
        </p:nvSpPr>
        <p:spPr>
          <a:xfrm>
            <a:off x="5358384" y="2633472"/>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Electricity, wear, connectivity, support time</a:t>
            </a:r>
            <a:endParaRPr lang="en-US" sz="1400" dirty="0"/>
          </a:p>
        </p:txBody>
      </p:sp>
      <p:sp>
        <p:nvSpPr>
          <p:cNvPr id="34" name="Shape 32"/>
          <p:cNvSpPr/>
          <p:nvPr/>
        </p:nvSpPr>
        <p:spPr>
          <a:xfrm>
            <a:off x="566928" y="2633472"/>
            <a:ext cx="64008" cy="475488"/>
          </a:xfrm>
          <a:prstGeom prst="rect">
            <a:avLst/>
          </a:prstGeom>
          <a:solidFill>
            <a:srgbClr val="800020"/>
          </a:solidFill>
          <a:ln w="12700">
            <a:solidFill>
              <a:srgbClr val="333333"/>
            </a:solidFill>
            <a:prstDash val="solid"/>
          </a:ln>
        </p:spPr>
      </p:sp>
      <p:sp>
        <p:nvSpPr>
          <p:cNvPr id="35" name="Shape 33"/>
          <p:cNvSpPr/>
          <p:nvPr/>
        </p:nvSpPr>
        <p:spPr>
          <a:xfrm>
            <a:off x="566928" y="3108960"/>
            <a:ext cx="3200400" cy="475488"/>
          </a:xfrm>
          <a:prstGeom prst="rect">
            <a:avLst/>
          </a:prstGeom>
          <a:solidFill>
            <a:srgbClr val="F8FAFC"/>
          </a:solidFill>
          <a:ln w="12700">
            <a:solidFill>
              <a:srgbClr val="E2E8F0"/>
            </a:solidFill>
            <a:prstDash val="solid"/>
          </a:ln>
        </p:spPr>
      </p:sp>
      <p:sp>
        <p:nvSpPr>
          <p:cNvPr id="36" name="Text 34"/>
          <p:cNvSpPr/>
          <p:nvPr/>
        </p:nvSpPr>
        <p:spPr>
          <a:xfrm>
            <a:off x="694944" y="3108960"/>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 inference, per flight</a:t>
            </a:r>
            <a:endParaRPr lang="en-US" sz="1400" dirty="0"/>
          </a:p>
        </p:txBody>
      </p:sp>
      <p:sp>
        <p:nvSpPr>
          <p:cNvPr id="37" name="Shape 35"/>
          <p:cNvSpPr/>
          <p:nvPr/>
        </p:nvSpPr>
        <p:spPr>
          <a:xfrm>
            <a:off x="3767328" y="3108960"/>
            <a:ext cx="1463040" cy="475488"/>
          </a:xfrm>
          <a:prstGeom prst="rect">
            <a:avLst/>
          </a:prstGeom>
          <a:solidFill>
            <a:srgbClr val="F8FAFC"/>
          </a:solidFill>
          <a:ln w="12700">
            <a:solidFill>
              <a:srgbClr val="E2E8F0"/>
            </a:solidFill>
            <a:prstDash val="solid"/>
          </a:ln>
        </p:spPr>
      </p:sp>
      <p:sp>
        <p:nvSpPr>
          <p:cNvPr id="38" name="Text 36"/>
          <p:cNvSpPr/>
          <p:nvPr/>
        </p:nvSpPr>
        <p:spPr>
          <a:xfrm>
            <a:off x="3895344" y="3108960"/>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a:t>
            </a:r>
            <a:endParaRPr lang="en-US" sz="1400" dirty="0"/>
          </a:p>
        </p:txBody>
      </p:sp>
      <p:sp>
        <p:nvSpPr>
          <p:cNvPr id="39" name="Shape 37"/>
          <p:cNvSpPr/>
          <p:nvPr/>
        </p:nvSpPr>
        <p:spPr>
          <a:xfrm>
            <a:off x="5230368" y="3108960"/>
            <a:ext cx="6391656" cy="475488"/>
          </a:xfrm>
          <a:prstGeom prst="rect">
            <a:avLst/>
          </a:prstGeom>
          <a:solidFill>
            <a:srgbClr val="F8FAFC"/>
          </a:solidFill>
          <a:ln w="12700">
            <a:solidFill>
              <a:srgbClr val="E2E8F0"/>
            </a:solidFill>
            <a:prstDash val="solid"/>
          </a:ln>
        </p:spPr>
      </p:sp>
      <p:sp>
        <p:nvSpPr>
          <p:cNvPr id="40" name="Text 38"/>
          <p:cNvSpPr/>
          <p:nvPr/>
        </p:nvSpPr>
        <p:spPr>
          <a:xfrm>
            <a:off x="5358384" y="3108960"/>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Escalation only, so it stays under a taka</a:t>
            </a:r>
            <a:endParaRPr lang="en-US" sz="1400" dirty="0"/>
          </a:p>
        </p:txBody>
      </p:sp>
      <p:sp>
        <p:nvSpPr>
          <p:cNvPr id="41" name="Shape 39"/>
          <p:cNvSpPr/>
          <p:nvPr/>
        </p:nvSpPr>
        <p:spPr>
          <a:xfrm>
            <a:off x="566928" y="3108960"/>
            <a:ext cx="64008" cy="475488"/>
          </a:xfrm>
          <a:prstGeom prst="rect">
            <a:avLst/>
          </a:prstGeom>
          <a:solidFill>
            <a:srgbClr val="800020"/>
          </a:solidFill>
          <a:ln w="12700">
            <a:solidFill>
              <a:srgbClr val="333333"/>
            </a:solidFill>
            <a:prstDash val="solid"/>
          </a:ln>
        </p:spPr>
      </p:sp>
      <p:sp>
        <p:nvSpPr>
          <p:cNvPr id="42" name="Shape 40"/>
          <p:cNvSpPr/>
          <p:nvPr/>
        </p:nvSpPr>
        <p:spPr>
          <a:xfrm>
            <a:off x="566928" y="3584448"/>
            <a:ext cx="3200400" cy="475488"/>
          </a:xfrm>
          <a:prstGeom prst="rect">
            <a:avLst/>
          </a:prstGeom>
          <a:solidFill>
            <a:srgbClr val="FFFFFF"/>
          </a:solidFill>
          <a:ln w="12700">
            <a:solidFill>
              <a:srgbClr val="E2E8F0"/>
            </a:solidFill>
            <a:prstDash val="solid"/>
          </a:ln>
        </p:spPr>
      </p:sp>
      <p:sp>
        <p:nvSpPr>
          <p:cNvPr id="43" name="Text 41"/>
          <p:cNvSpPr/>
          <p:nvPr/>
        </p:nvSpPr>
        <p:spPr>
          <a:xfrm>
            <a:off x="694944" y="3584448"/>
            <a:ext cx="2944368" cy="47548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flight</a:t>
            </a:r>
            <a:endParaRPr lang="en-US" sz="1400" dirty="0"/>
          </a:p>
        </p:txBody>
      </p:sp>
      <p:sp>
        <p:nvSpPr>
          <p:cNvPr id="44" name="Shape 42"/>
          <p:cNvSpPr/>
          <p:nvPr/>
        </p:nvSpPr>
        <p:spPr>
          <a:xfrm>
            <a:off x="3767328" y="3584448"/>
            <a:ext cx="1463040" cy="475488"/>
          </a:xfrm>
          <a:prstGeom prst="rect">
            <a:avLst/>
          </a:prstGeom>
          <a:solidFill>
            <a:srgbClr val="FFFFFF"/>
          </a:solidFill>
          <a:ln w="12700">
            <a:solidFill>
              <a:srgbClr val="E2E8F0"/>
            </a:solidFill>
            <a:prstDash val="solid"/>
          </a:ln>
        </p:spPr>
      </p:sp>
      <p:sp>
        <p:nvSpPr>
          <p:cNvPr id="45" name="Text 43"/>
          <p:cNvSpPr/>
          <p:nvPr/>
        </p:nvSpPr>
        <p:spPr>
          <a:xfrm>
            <a:off x="3895344" y="3584448"/>
            <a:ext cx="1207008"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46" name="Shape 44"/>
          <p:cNvSpPr/>
          <p:nvPr/>
        </p:nvSpPr>
        <p:spPr>
          <a:xfrm>
            <a:off x="5230368" y="3584448"/>
            <a:ext cx="6391656" cy="475488"/>
          </a:xfrm>
          <a:prstGeom prst="rect">
            <a:avLst/>
          </a:prstGeom>
          <a:solidFill>
            <a:srgbClr val="FFFFFF"/>
          </a:solidFill>
          <a:ln w="12700">
            <a:solidFill>
              <a:srgbClr val="E2E8F0"/>
            </a:solidFill>
            <a:prstDash val="solid"/>
          </a:ln>
        </p:spPr>
      </p:sp>
      <p:sp>
        <p:nvSpPr>
          <p:cNvPr id="47" name="Text 45"/>
          <p:cNvSpPr/>
          <p:nvPr/>
        </p:nvSpPr>
        <p:spPr>
          <a:xfrm>
            <a:off x="5358384" y="3584448"/>
            <a:ext cx="6135624" cy="47548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Before any hub fixed cost</a:t>
            </a:r>
            <a:endParaRPr lang="en-US" sz="1400" dirty="0"/>
          </a:p>
        </p:txBody>
      </p:sp>
      <p:sp>
        <p:nvSpPr>
          <p:cNvPr id="48" name="Shape 46"/>
          <p:cNvSpPr/>
          <p:nvPr/>
        </p:nvSpPr>
        <p:spPr>
          <a:xfrm>
            <a:off x="566928" y="3584448"/>
            <a:ext cx="64008" cy="475488"/>
          </a:xfrm>
          <a:prstGeom prst="rect">
            <a:avLst/>
          </a:prstGeom>
          <a:solidFill>
            <a:srgbClr val="166534"/>
          </a:solidFill>
          <a:ln w="12700">
            <a:solidFill>
              <a:srgbClr val="333333"/>
            </a:solidFill>
            <a:prstDash val="solid"/>
          </a:ln>
        </p:spPr>
      </p:sp>
      <p:sp>
        <p:nvSpPr>
          <p:cNvPr id="49" name="Text 47"/>
          <p:cNvSpPr/>
          <p:nvPr/>
        </p:nvSpPr>
        <p:spPr>
          <a:xfrm>
            <a:off x="566928" y="4242816"/>
            <a:ext cx="11057839" cy="310896"/>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Tk 43 per flight before hub costs. That is the whole question, and the next slide answers it.</a:t>
            </a:r>
            <a:endParaRPr lang="en-US" sz="1800" dirty="0"/>
          </a:p>
        </p:txBody>
      </p:sp>
      <p:sp>
        <p:nvSpPr>
          <p:cNvPr id="50" name="Shape 48"/>
          <p:cNvSpPr/>
          <p:nvPr/>
        </p:nvSpPr>
        <p:spPr>
          <a:xfrm>
            <a:off x="566928" y="4718304"/>
            <a:ext cx="2558720" cy="1243584"/>
          </a:xfrm>
          <a:prstGeom prst="roundRect">
            <a:avLst>
              <a:gd name="adj" fmla="val 3676"/>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1" name="Text 49"/>
          <p:cNvSpPr/>
          <p:nvPr/>
        </p:nvSpPr>
        <p:spPr>
          <a:xfrm>
            <a:off x="713232" y="4846320"/>
            <a:ext cx="2266112" cy="420624"/>
          </a:xfrm>
          <a:prstGeom prst="rect">
            <a:avLst/>
          </a:prstGeom>
          <a:noFill/>
          <a:ln/>
        </p:spPr>
        <p:txBody>
          <a:bodyPr wrap="square" lIns="0" tIns="0" rIns="0" bIns="0" rtlCol="0" anchor="ctr"/>
          <a:lstStyle/>
          <a:p>
            <a:pPr indent="0" marL="0">
              <a:buNone/>
            </a:pPr>
            <a:r>
              <a:rPr lang="en-US" sz="2500" b="1" dirty="0">
                <a:solidFill>
                  <a:srgbClr val="B45309"/>
                </a:solidFill>
                <a:latin typeface="Century Schoolbook" pitchFamily="34" charset="0"/>
                <a:ea typeface="Century Schoolbook" pitchFamily="34" charset="-122"/>
                <a:cs typeface="Century Schoolbook" pitchFamily="34" charset="-120"/>
              </a:rPr>
              <a:t>Tk 20,290</a:t>
            </a:r>
            <a:endParaRPr lang="en-US" sz="2500" dirty="0"/>
          </a:p>
        </p:txBody>
      </p:sp>
      <p:sp>
        <p:nvSpPr>
          <p:cNvPr id="52" name="Text 50"/>
          <p:cNvSpPr/>
          <p:nvPr/>
        </p:nvSpPr>
        <p:spPr>
          <a:xfrm>
            <a:off x="713232"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Monthly fixed cost, per hub</a:t>
            </a:r>
            <a:endParaRPr lang="en-US" sz="1400" dirty="0"/>
          </a:p>
        </p:txBody>
      </p:sp>
      <p:sp>
        <p:nvSpPr>
          <p:cNvPr id="53" name="Shape 51"/>
          <p:cNvSpPr/>
          <p:nvPr/>
        </p:nvSpPr>
        <p:spPr>
          <a:xfrm>
            <a:off x="3399968" y="4718304"/>
            <a:ext cx="2558720" cy="1243584"/>
          </a:xfrm>
          <a:prstGeom prst="roundRect">
            <a:avLst>
              <a:gd name="adj" fmla="val 3676"/>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4" name="Text 52"/>
          <p:cNvSpPr/>
          <p:nvPr/>
        </p:nvSpPr>
        <p:spPr>
          <a:xfrm>
            <a:off x="3546272" y="4846320"/>
            <a:ext cx="2266112" cy="420624"/>
          </a:xfrm>
          <a:prstGeom prst="rect">
            <a:avLst/>
          </a:prstGeom>
          <a:noFill/>
          <a:ln/>
        </p:spPr>
        <p:txBody>
          <a:bodyPr wrap="square" lIns="0" tIns="0" rIns="0" bIns="0" rtlCol="0" anchor="ctr"/>
          <a:lstStyle/>
          <a:p>
            <a:pPr indent="0" marL="0">
              <a:buNone/>
            </a:pPr>
            <a:r>
              <a:rPr lang="en-US" sz="2500" b="1" dirty="0">
                <a:solidFill>
                  <a:srgbClr val="800020"/>
                </a:solidFill>
                <a:latin typeface="Century Schoolbook" pitchFamily="34" charset="0"/>
                <a:ea typeface="Century Schoolbook" pitchFamily="34" charset="-122"/>
                <a:cs typeface="Century Schoolbook" pitchFamily="34" charset="-120"/>
              </a:rPr>
              <a:t>471</a:t>
            </a:r>
            <a:endParaRPr lang="en-US" sz="2500" dirty="0"/>
          </a:p>
        </p:txBody>
      </p:sp>
      <p:sp>
        <p:nvSpPr>
          <p:cNvPr id="55" name="Text 53"/>
          <p:cNvSpPr/>
          <p:nvPr/>
        </p:nvSpPr>
        <p:spPr>
          <a:xfrm>
            <a:off x="3546272"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Flights a month to cover one hub</a:t>
            </a:r>
            <a:endParaRPr lang="en-US" sz="1400" dirty="0"/>
          </a:p>
        </p:txBody>
      </p:sp>
      <p:sp>
        <p:nvSpPr>
          <p:cNvPr id="56" name="Shape 54"/>
          <p:cNvSpPr/>
          <p:nvPr/>
        </p:nvSpPr>
        <p:spPr>
          <a:xfrm>
            <a:off x="6233008" y="4718304"/>
            <a:ext cx="2558720" cy="1243584"/>
          </a:xfrm>
          <a:prstGeom prst="roundRect">
            <a:avLst>
              <a:gd name="adj" fmla="val 3676"/>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57" name="Text 55"/>
          <p:cNvSpPr/>
          <p:nvPr/>
        </p:nvSpPr>
        <p:spPr>
          <a:xfrm>
            <a:off x="6379312" y="4846320"/>
            <a:ext cx="2266112" cy="420624"/>
          </a:xfrm>
          <a:prstGeom prst="rect">
            <a:avLst/>
          </a:prstGeom>
          <a:noFill/>
          <a:ln/>
        </p:spPr>
        <p:txBody>
          <a:bodyPr wrap="square" lIns="0" tIns="0" rIns="0" bIns="0" rtlCol="0" anchor="ctr"/>
          <a:lstStyle/>
          <a:p>
            <a:pPr indent="0" marL="0">
              <a:buNone/>
            </a:pPr>
            <a:r>
              <a:rPr lang="en-US" sz="2500" b="1" dirty="0">
                <a:solidFill>
                  <a:srgbClr val="800020"/>
                </a:solidFill>
                <a:latin typeface="Century Schoolbook" pitchFamily="34" charset="0"/>
                <a:ea typeface="Century Schoolbook" pitchFamily="34" charset="-122"/>
                <a:cs typeface="Century Schoolbook" pitchFamily="34" charset="-120"/>
              </a:rPr>
              <a:t>16</a:t>
            </a:r>
            <a:endParaRPr lang="en-US" sz="2500" dirty="0"/>
          </a:p>
        </p:txBody>
      </p:sp>
      <p:sp>
        <p:nvSpPr>
          <p:cNvPr id="58" name="Text 56"/>
          <p:cNvSpPr/>
          <p:nvPr/>
        </p:nvSpPr>
        <p:spPr>
          <a:xfrm>
            <a:off x="6379312"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Flights a day, across all six aircraft</a:t>
            </a:r>
            <a:endParaRPr lang="en-US" sz="1400" dirty="0"/>
          </a:p>
        </p:txBody>
      </p:sp>
      <p:sp>
        <p:nvSpPr>
          <p:cNvPr id="59" name="Shape 57"/>
          <p:cNvSpPr/>
          <p:nvPr/>
        </p:nvSpPr>
        <p:spPr>
          <a:xfrm>
            <a:off x="9066047" y="4718304"/>
            <a:ext cx="2558720" cy="1243584"/>
          </a:xfrm>
          <a:prstGeom prst="roundRect">
            <a:avLst>
              <a:gd name="adj" fmla="val 3676"/>
            </a:avLst>
          </a:prstGeom>
          <a:solidFill>
            <a:srgbClr val="FFFBEB"/>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60" name="Text 58"/>
          <p:cNvSpPr/>
          <p:nvPr/>
        </p:nvSpPr>
        <p:spPr>
          <a:xfrm>
            <a:off x="9212351" y="4846320"/>
            <a:ext cx="2266112" cy="420624"/>
          </a:xfrm>
          <a:prstGeom prst="rect">
            <a:avLst/>
          </a:prstGeom>
          <a:noFill/>
          <a:ln/>
        </p:spPr>
        <p:txBody>
          <a:bodyPr wrap="square" lIns="0" tIns="0" rIns="0" bIns="0" rtlCol="0" anchor="ctr"/>
          <a:lstStyle/>
          <a:p>
            <a:pPr indent="0" marL="0">
              <a:buNone/>
            </a:pPr>
            <a:r>
              <a:rPr lang="en-US" sz="2500" b="1" dirty="0">
                <a:solidFill>
                  <a:srgbClr val="166534"/>
                </a:solidFill>
                <a:latin typeface="Century Schoolbook" pitchFamily="34" charset="0"/>
                <a:ea typeface="Century Schoolbook" pitchFamily="34" charset="-122"/>
                <a:cs typeface="Century Schoolbook" pitchFamily="34" charset="-120"/>
              </a:rPr>
              <a:t>3</a:t>
            </a:r>
            <a:endParaRPr lang="en-US" sz="2500" dirty="0"/>
          </a:p>
        </p:txBody>
      </p:sp>
      <p:sp>
        <p:nvSpPr>
          <p:cNvPr id="61" name="Text 59"/>
          <p:cNvSpPr/>
          <p:nvPr/>
        </p:nvSpPr>
        <p:spPr>
          <a:xfrm>
            <a:off x="9212351" y="5285232"/>
            <a:ext cx="2266112" cy="621792"/>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Flights per aircraft per day, with margin for weather</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6. Unit Economics and Break-Even</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Break even is a density problem</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Rajshahi has the units, Dhaka has the density</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25</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pic>
        <p:nvPicPr>
          <p:cNvPr id="7" name="Image 0" descr="/Users/nafiskabbo/development/presentation-hum/media/motion/corridor.jpg">    </p:cNvPr>
          <p:cNvPicPr>
            <a:picLocks noChangeAspect="1"/>
          </p:cNvPicPr>
          <p:nvPr/>
        </p:nvPicPr>
        <p:blipFill>
          <a:blip r:embed="rId1"/>
          <a:srcRect l="0" r="0" t="0" b="0"/>
          <a:stretch/>
        </p:blipFill>
        <p:spPr>
          <a:xfrm>
            <a:off x="566928" y="1298448"/>
            <a:ext cx="5577840" cy="3017520"/>
          </a:xfrm>
          <a:prstGeom prst="rect">
            <a:avLst/>
          </a:prstGeom>
        </p:spPr>
      </p:pic>
      <p:pic>
        <p:nvPicPr>
          <p:cNvPr id="4"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566928" y="1298448"/>
            <a:ext cx="5577840" cy="3017520"/>
          </a:xfrm>
          <a:prstGeom prst="rect">
            <a:avLst/>
          </a:prstGeom>
        </p:spPr>
      </p:pic>
      <p:sp>
        <p:nvSpPr>
          <p:cNvPr id="9" name="Shape 5"/>
          <p:cNvSpPr/>
          <p:nvPr/>
        </p:nvSpPr>
        <p:spPr>
          <a:xfrm>
            <a:off x="6419088" y="1298448"/>
            <a:ext cx="2377440" cy="384048"/>
          </a:xfrm>
          <a:prstGeom prst="rect">
            <a:avLst/>
          </a:prstGeom>
          <a:solidFill>
            <a:srgbClr val="0F172A"/>
          </a:solidFill>
          <a:ln w="12700">
            <a:solidFill>
              <a:srgbClr val="333333"/>
            </a:solidFill>
            <a:prstDash val="solid"/>
          </a:ln>
        </p:spPr>
      </p:sp>
      <p:sp>
        <p:nvSpPr>
          <p:cNvPr id="10" name="Text 6"/>
          <p:cNvSpPr/>
          <p:nvPr/>
        </p:nvSpPr>
        <p:spPr>
          <a:xfrm>
            <a:off x="6547104" y="1298448"/>
            <a:ext cx="2121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break even</a:t>
            </a:r>
            <a:endParaRPr lang="en-US" sz="1400" dirty="0"/>
          </a:p>
        </p:txBody>
      </p:sp>
      <p:sp>
        <p:nvSpPr>
          <p:cNvPr id="11" name="Shape 7"/>
          <p:cNvSpPr/>
          <p:nvPr/>
        </p:nvSpPr>
        <p:spPr>
          <a:xfrm>
            <a:off x="8796528" y="1298448"/>
            <a:ext cx="1417320" cy="384048"/>
          </a:xfrm>
          <a:prstGeom prst="rect">
            <a:avLst/>
          </a:prstGeom>
          <a:solidFill>
            <a:srgbClr val="0F172A"/>
          </a:solidFill>
          <a:ln w="12700">
            <a:solidFill>
              <a:srgbClr val="333333"/>
            </a:solidFill>
            <a:prstDash val="solid"/>
          </a:ln>
        </p:spPr>
      </p:sp>
      <p:sp>
        <p:nvSpPr>
          <p:cNvPr id="12" name="Text 8"/>
          <p:cNvSpPr/>
          <p:nvPr/>
        </p:nvSpPr>
        <p:spPr>
          <a:xfrm>
            <a:off x="8924544" y="1298448"/>
            <a:ext cx="116128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Rajshahi</a:t>
            </a:r>
            <a:endParaRPr lang="en-US" sz="1400" dirty="0"/>
          </a:p>
        </p:txBody>
      </p:sp>
      <p:sp>
        <p:nvSpPr>
          <p:cNvPr id="13" name="Shape 9"/>
          <p:cNvSpPr/>
          <p:nvPr/>
        </p:nvSpPr>
        <p:spPr>
          <a:xfrm>
            <a:off x="10213848" y="1298448"/>
            <a:ext cx="1408176" cy="384048"/>
          </a:xfrm>
          <a:prstGeom prst="rect">
            <a:avLst/>
          </a:prstGeom>
          <a:solidFill>
            <a:srgbClr val="0F172A"/>
          </a:solidFill>
          <a:ln w="12700">
            <a:solidFill>
              <a:srgbClr val="333333"/>
            </a:solidFill>
            <a:prstDash val="solid"/>
          </a:ln>
        </p:spPr>
      </p:sp>
      <p:sp>
        <p:nvSpPr>
          <p:cNvPr id="14" name="Text 10"/>
          <p:cNvSpPr/>
          <p:nvPr/>
        </p:nvSpPr>
        <p:spPr>
          <a:xfrm>
            <a:off x="10341864" y="1298448"/>
            <a:ext cx="115214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Dhaka</a:t>
            </a:r>
            <a:endParaRPr lang="en-US" sz="1400" dirty="0"/>
          </a:p>
        </p:txBody>
      </p:sp>
      <p:sp>
        <p:nvSpPr>
          <p:cNvPr id="15" name="Shape 11"/>
          <p:cNvSpPr/>
          <p:nvPr/>
        </p:nvSpPr>
        <p:spPr>
          <a:xfrm>
            <a:off x="6419088" y="1682496"/>
            <a:ext cx="2377440" cy="438912"/>
          </a:xfrm>
          <a:prstGeom prst="rect">
            <a:avLst/>
          </a:prstGeom>
          <a:solidFill>
            <a:srgbClr val="FFFFFF"/>
          </a:solidFill>
          <a:ln w="12700">
            <a:solidFill>
              <a:srgbClr val="E2E8F0"/>
            </a:solidFill>
            <a:prstDash val="solid"/>
          </a:ln>
        </p:spPr>
      </p:sp>
      <p:sp>
        <p:nvSpPr>
          <p:cNvPr id="16" name="Text 12"/>
          <p:cNvSpPr/>
          <p:nvPr/>
        </p:nvSpPr>
        <p:spPr>
          <a:xfrm>
            <a:off x="6547104" y="1682496"/>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Flights a day, all hubs</a:t>
            </a:r>
            <a:endParaRPr lang="en-US" sz="1400" dirty="0"/>
          </a:p>
        </p:txBody>
      </p:sp>
      <p:sp>
        <p:nvSpPr>
          <p:cNvPr id="17" name="Shape 13"/>
          <p:cNvSpPr/>
          <p:nvPr/>
        </p:nvSpPr>
        <p:spPr>
          <a:xfrm>
            <a:off x="8796528" y="1682496"/>
            <a:ext cx="1417320" cy="438912"/>
          </a:xfrm>
          <a:prstGeom prst="rect">
            <a:avLst/>
          </a:prstGeom>
          <a:solidFill>
            <a:srgbClr val="FFFFFF"/>
          </a:solidFill>
          <a:ln w="12700">
            <a:solidFill>
              <a:srgbClr val="E2E8F0"/>
            </a:solidFill>
            <a:prstDash val="solid"/>
          </a:ln>
        </p:spPr>
      </p:sp>
      <p:sp>
        <p:nvSpPr>
          <p:cNvPr id="18" name="Text 14"/>
          <p:cNvSpPr/>
          <p:nvPr/>
        </p:nvSpPr>
        <p:spPr>
          <a:xfrm>
            <a:off x="8924544" y="1682496"/>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16</a:t>
            </a:r>
            <a:endParaRPr lang="en-US" sz="1400" dirty="0"/>
          </a:p>
        </p:txBody>
      </p:sp>
      <p:sp>
        <p:nvSpPr>
          <p:cNvPr id="19" name="Shape 15"/>
          <p:cNvSpPr/>
          <p:nvPr/>
        </p:nvSpPr>
        <p:spPr>
          <a:xfrm>
            <a:off x="10213848" y="1682496"/>
            <a:ext cx="1408176" cy="438912"/>
          </a:xfrm>
          <a:prstGeom prst="rect">
            <a:avLst/>
          </a:prstGeom>
          <a:solidFill>
            <a:srgbClr val="FFFFFF"/>
          </a:solidFill>
          <a:ln w="12700">
            <a:solidFill>
              <a:srgbClr val="E2E8F0"/>
            </a:solidFill>
            <a:prstDash val="solid"/>
          </a:ln>
        </p:spPr>
      </p:sp>
      <p:sp>
        <p:nvSpPr>
          <p:cNvPr id="20" name="Text 16"/>
          <p:cNvSpPr/>
          <p:nvPr/>
        </p:nvSpPr>
        <p:spPr>
          <a:xfrm>
            <a:off x="10341864" y="1682496"/>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34</a:t>
            </a:r>
            <a:endParaRPr lang="en-US" sz="1400" dirty="0"/>
          </a:p>
        </p:txBody>
      </p:sp>
      <p:sp>
        <p:nvSpPr>
          <p:cNvPr id="21" name="Shape 17"/>
          <p:cNvSpPr/>
          <p:nvPr/>
        </p:nvSpPr>
        <p:spPr>
          <a:xfrm>
            <a:off x="6419088" y="1682496"/>
            <a:ext cx="64008" cy="438912"/>
          </a:xfrm>
          <a:prstGeom prst="rect">
            <a:avLst/>
          </a:prstGeom>
          <a:solidFill>
            <a:srgbClr val="800020"/>
          </a:solidFill>
          <a:ln w="12700">
            <a:solidFill>
              <a:srgbClr val="333333"/>
            </a:solidFill>
            <a:prstDash val="solid"/>
          </a:ln>
        </p:spPr>
      </p:sp>
      <p:sp>
        <p:nvSpPr>
          <p:cNvPr id="22" name="Shape 18"/>
          <p:cNvSpPr/>
          <p:nvPr/>
        </p:nvSpPr>
        <p:spPr>
          <a:xfrm>
            <a:off x="6419088" y="2121408"/>
            <a:ext cx="2377440" cy="438912"/>
          </a:xfrm>
          <a:prstGeom prst="rect">
            <a:avLst/>
          </a:prstGeom>
          <a:solidFill>
            <a:srgbClr val="F8FAFC"/>
          </a:solidFill>
          <a:ln w="12700">
            <a:solidFill>
              <a:srgbClr val="E2E8F0"/>
            </a:solidFill>
            <a:prstDash val="solid"/>
          </a:ln>
        </p:spPr>
      </p:sp>
      <p:sp>
        <p:nvSpPr>
          <p:cNvPr id="23" name="Text 19"/>
          <p:cNvSpPr/>
          <p:nvPr/>
        </p:nvSpPr>
        <p:spPr>
          <a:xfrm>
            <a:off x="6547104" y="2121408"/>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Flights per aircraft</a:t>
            </a:r>
            <a:endParaRPr lang="en-US" sz="1400" dirty="0"/>
          </a:p>
        </p:txBody>
      </p:sp>
      <p:sp>
        <p:nvSpPr>
          <p:cNvPr id="24" name="Shape 20"/>
          <p:cNvSpPr/>
          <p:nvPr/>
        </p:nvSpPr>
        <p:spPr>
          <a:xfrm>
            <a:off x="8796528" y="2121408"/>
            <a:ext cx="1417320" cy="438912"/>
          </a:xfrm>
          <a:prstGeom prst="rect">
            <a:avLst/>
          </a:prstGeom>
          <a:solidFill>
            <a:srgbClr val="F8FAFC"/>
          </a:solidFill>
          <a:ln w="12700">
            <a:solidFill>
              <a:srgbClr val="E2E8F0"/>
            </a:solidFill>
            <a:prstDash val="solid"/>
          </a:ln>
        </p:spPr>
      </p:sp>
      <p:sp>
        <p:nvSpPr>
          <p:cNvPr id="25" name="Text 21"/>
          <p:cNvSpPr/>
          <p:nvPr/>
        </p:nvSpPr>
        <p:spPr>
          <a:xfrm>
            <a:off x="8924544" y="2121408"/>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3</a:t>
            </a:r>
            <a:endParaRPr lang="en-US" sz="1400" dirty="0"/>
          </a:p>
        </p:txBody>
      </p:sp>
      <p:sp>
        <p:nvSpPr>
          <p:cNvPr id="26" name="Shape 22"/>
          <p:cNvSpPr/>
          <p:nvPr/>
        </p:nvSpPr>
        <p:spPr>
          <a:xfrm>
            <a:off x="10213848" y="2121408"/>
            <a:ext cx="1408176" cy="438912"/>
          </a:xfrm>
          <a:prstGeom prst="rect">
            <a:avLst/>
          </a:prstGeom>
          <a:solidFill>
            <a:srgbClr val="F8FAFC"/>
          </a:solidFill>
          <a:ln w="12700">
            <a:solidFill>
              <a:srgbClr val="E2E8F0"/>
            </a:solidFill>
            <a:prstDash val="solid"/>
          </a:ln>
        </p:spPr>
      </p:sp>
      <p:sp>
        <p:nvSpPr>
          <p:cNvPr id="27" name="Text 23"/>
          <p:cNvSpPr/>
          <p:nvPr/>
        </p:nvSpPr>
        <p:spPr>
          <a:xfrm>
            <a:off x="10341864" y="2121408"/>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6</a:t>
            </a:r>
            <a:endParaRPr lang="en-US" sz="1400" dirty="0"/>
          </a:p>
        </p:txBody>
      </p:sp>
      <p:sp>
        <p:nvSpPr>
          <p:cNvPr id="28" name="Shape 24"/>
          <p:cNvSpPr/>
          <p:nvPr/>
        </p:nvSpPr>
        <p:spPr>
          <a:xfrm>
            <a:off x="6419088" y="2121408"/>
            <a:ext cx="64008" cy="438912"/>
          </a:xfrm>
          <a:prstGeom prst="rect">
            <a:avLst/>
          </a:prstGeom>
          <a:solidFill>
            <a:srgbClr val="800020"/>
          </a:solidFill>
          <a:ln w="12700">
            <a:solidFill>
              <a:srgbClr val="333333"/>
            </a:solidFill>
            <a:prstDash val="solid"/>
          </a:ln>
        </p:spPr>
      </p:sp>
      <p:sp>
        <p:nvSpPr>
          <p:cNvPr id="29" name="Shape 25"/>
          <p:cNvSpPr/>
          <p:nvPr/>
        </p:nvSpPr>
        <p:spPr>
          <a:xfrm>
            <a:off x="6419088" y="2560320"/>
            <a:ext cx="2377440" cy="438912"/>
          </a:xfrm>
          <a:prstGeom prst="rect">
            <a:avLst/>
          </a:prstGeom>
          <a:solidFill>
            <a:srgbClr val="FFFFFF"/>
          </a:solidFill>
          <a:ln w="12700">
            <a:solidFill>
              <a:srgbClr val="E2E8F0"/>
            </a:solidFill>
            <a:prstDash val="solid"/>
          </a:ln>
        </p:spPr>
      </p:sp>
      <p:sp>
        <p:nvSpPr>
          <p:cNvPr id="30" name="Text 26"/>
          <p:cNvSpPr/>
          <p:nvPr/>
        </p:nvSpPr>
        <p:spPr>
          <a:xfrm>
            <a:off x="6547104" y="2560320"/>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flight</a:t>
            </a:r>
            <a:endParaRPr lang="en-US" sz="1400" dirty="0"/>
          </a:p>
        </p:txBody>
      </p:sp>
      <p:sp>
        <p:nvSpPr>
          <p:cNvPr id="31" name="Shape 27"/>
          <p:cNvSpPr/>
          <p:nvPr/>
        </p:nvSpPr>
        <p:spPr>
          <a:xfrm>
            <a:off x="8796528" y="2560320"/>
            <a:ext cx="1417320" cy="438912"/>
          </a:xfrm>
          <a:prstGeom prst="rect">
            <a:avLst/>
          </a:prstGeom>
          <a:solidFill>
            <a:srgbClr val="FFFFFF"/>
          </a:solidFill>
          <a:ln w="12700">
            <a:solidFill>
              <a:srgbClr val="E2E8F0"/>
            </a:solidFill>
            <a:prstDash val="solid"/>
          </a:ln>
        </p:spPr>
      </p:sp>
      <p:sp>
        <p:nvSpPr>
          <p:cNvPr id="32" name="Text 28"/>
          <p:cNvSpPr/>
          <p:nvPr/>
        </p:nvSpPr>
        <p:spPr>
          <a:xfrm>
            <a:off x="8924544" y="2560320"/>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33" name="Shape 29"/>
          <p:cNvSpPr/>
          <p:nvPr/>
        </p:nvSpPr>
        <p:spPr>
          <a:xfrm>
            <a:off x="10213848" y="2560320"/>
            <a:ext cx="1408176" cy="438912"/>
          </a:xfrm>
          <a:prstGeom prst="rect">
            <a:avLst/>
          </a:prstGeom>
          <a:solidFill>
            <a:srgbClr val="FFFFFF"/>
          </a:solidFill>
          <a:ln w="12700">
            <a:solidFill>
              <a:srgbClr val="E2E8F0"/>
            </a:solidFill>
            <a:prstDash val="solid"/>
          </a:ln>
        </p:spPr>
      </p:sp>
      <p:sp>
        <p:nvSpPr>
          <p:cNvPr id="34" name="Text 30"/>
          <p:cNvSpPr/>
          <p:nvPr/>
        </p:nvSpPr>
        <p:spPr>
          <a:xfrm>
            <a:off x="10341864" y="2560320"/>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a:t>
            </a:r>
            <a:endParaRPr lang="en-US" sz="1400" dirty="0"/>
          </a:p>
        </p:txBody>
      </p:sp>
      <p:sp>
        <p:nvSpPr>
          <p:cNvPr id="35" name="Shape 31"/>
          <p:cNvSpPr/>
          <p:nvPr/>
        </p:nvSpPr>
        <p:spPr>
          <a:xfrm>
            <a:off x="6419088" y="2560320"/>
            <a:ext cx="64008" cy="438912"/>
          </a:xfrm>
          <a:prstGeom prst="rect">
            <a:avLst/>
          </a:prstGeom>
          <a:solidFill>
            <a:srgbClr val="800020"/>
          </a:solidFill>
          <a:ln w="12700">
            <a:solidFill>
              <a:srgbClr val="333333"/>
            </a:solidFill>
            <a:prstDash val="solid"/>
          </a:ln>
        </p:spPr>
      </p:sp>
      <p:sp>
        <p:nvSpPr>
          <p:cNvPr id="36" name="Shape 32"/>
          <p:cNvSpPr/>
          <p:nvPr/>
        </p:nvSpPr>
        <p:spPr>
          <a:xfrm>
            <a:off x="6419088" y="2999232"/>
            <a:ext cx="2377440" cy="438912"/>
          </a:xfrm>
          <a:prstGeom prst="rect">
            <a:avLst/>
          </a:prstGeom>
          <a:solidFill>
            <a:srgbClr val="F8FAFC"/>
          </a:solidFill>
          <a:ln w="12700">
            <a:solidFill>
              <a:srgbClr val="E2E8F0"/>
            </a:solidFill>
            <a:prstDash val="solid"/>
          </a:ln>
        </p:spPr>
      </p:sp>
      <p:sp>
        <p:nvSpPr>
          <p:cNvPr id="37" name="Text 33"/>
          <p:cNvSpPr/>
          <p:nvPr/>
        </p:nvSpPr>
        <p:spPr>
          <a:xfrm>
            <a:off x="6547104" y="2999232"/>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Contribution per month</a:t>
            </a:r>
            <a:endParaRPr lang="en-US" sz="1400" dirty="0"/>
          </a:p>
        </p:txBody>
      </p:sp>
      <p:sp>
        <p:nvSpPr>
          <p:cNvPr id="38" name="Shape 34"/>
          <p:cNvSpPr/>
          <p:nvPr/>
        </p:nvSpPr>
        <p:spPr>
          <a:xfrm>
            <a:off x="8796528" y="2999232"/>
            <a:ext cx="1417320" cy="438912"/>
          </a:xfrm>
          <a:prstGeom prst="rect">
            <a:avLst/>
          </a:prstGeom>
          <a:solidFill>
            <a:srgbClr val="F8FAFC"/>
          </a:solidFill>
          <a:ln w="12700">
            <a:solidFill>
              <a:srgbClr val="E2E8F0"/>
            </a:solidFill>
            <a:prstDash val="solid"/>
          </a:ln>
        </p:spPr>
      </p:sp>
      <p:sp>
        <p:nvSpPr>
          <p:cNvPr id="39" name="Text 35"/>
          <p:cNvSpPr/>
          <p:nvPr/>
        </p:nvSpPr>
        <p:spPr>
          <a:xfrm>
            <a:off x="8924544" y="2999232"/>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20,600</a:t>
            </a:r>
            <a:endParaRPr lang="en-US" sz="1400" dirty="0"/>
          </a:p>
        </p:txBody>
      </p:sp>
      <p:sp>
        <p:nvSpPr>
          <p:cNvPr id="40" name="Shape 36"/>
          <p:cNvSpPr/>
          <p:nvPr/>
        </p:nvSpPr>
        <p:spPr>
          <a:xfrm>
            <a:off x="10213848" y="2999232"/>
            <a:ext cx="1408176" cy="438912"/>
          </a:xfrm>
          <a:prstGeom prst="rect">
            <a:avLst/>
          </a:prstGeom>
          <a:solidFill>
            <a:srgbClr val="F8FAFC"/>
          </a:solidFill>
          <a:ln w="12700">
            <a:solidFill>
              <a:srgbClr val="E2E8F0"/>
            </a:solidFill>
            <a:prstDash val="solid"/>
          </a:ln>
        </p:spPr>
      </p:sp>
      <p:sp>
        <p:nvSpPr>
          <p:cNvPr id="41" name="Text 37"/>
          <p:cNvSpPr/>
          <p:nvPr/>
        </p:nvSpPr>
        <p:spPr>
          <a:xfrm>
            <a:off x="10341864" y="2999232"/>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44,000</a:t>
            </a:r>
            <a:endParaRPr lang="en-US" sz="1400" dirty="0"/>
          </a:p>
        </p:txBody>
      </p:sp>
      <p:sp>
        <p:nvSpPr>
          <p:cNvPr id="42" name="Shape 38"/>
          <p:cNvSpPr/>
          <p:nvPr/>
        </p:nvSpPr>
        <p:spPr>
          <a:xfrm>
            <a:off x="6419088" y="2999232"/>
            <a:ext cx="64008" cy="438912"/>
          </a:xfrm>
          <a:prstGeom prst="rect">
            <a:avLst/>
          </a:prstGeom>
          <a:solidFill>
            <a:srgbClr val="800020"/>
          </a:solidFill>
          <a:ln w="12700">
            <a:solidFill>
              <a:srgbClr val="333333"/>
            </a:solidFill>
            <a:prstDash val="solid"/>
          </a:ln>
        </p:spPr>
      </p:sp>
      <p:sp>
        <p:nvSpPr>
          <p:cNvPr id="43" name="Shape 39"/>
          <p:cNvSpPr/>
          <p:nvPr/>
        </p:nvSpPr>
        <p:spPr>
          <a:xfrm>
            <a:off x="6419088" y="3438144"/>
            <a:ext cx="2377440" cy="438912"/>
          </a:xfrm>
          <a:prstGeom prst="rect">
            <a:avLst/>
          </a:prstGeom>
          <a:solidFill>
            <a:srgbClr val="FFFFFF"/>
          </a:solidFill>
          <a:ln w="12700">
            <a:solidFill>
              <a:srgbClr val="E2E8F0"/>
            </a:solidFill>
            <a:prstDash val="solid"/>
          </a:ln>
        </p:spPr>
      </p:sp>
      <p:sp>
        <p:nvSpPr>
          <p:cNvPr id="44" name="Text 40"/>
          <p:cNvSpPr/>
          <p:nvPr/>
        </p:nvSpPr>
        <p:spPr>
          <a:xfrm>
            <a:off x="6547104" y="3438144"/>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Fixed cost per hub</a:t>
            </a:r>
            <a:endParaRPr lang="en-US" sz="1400" dirty="0"/>
          </a:p>
        </p:txBody>
      </p:sp>
      <p:sp>
        <p:nvSpPr>
          <p:cNvPr id="45" name="Shape 41"/>
          <p:cNvSpPr/>
          <p:nvPr/>
        </p:nvSpPr>
        <p:spPr>
          <a:xfrm>
            <a:off x="8796528" y="3438144"/>
            <a:ext cx="1417320" cy="438912"/>
          </a:xfrm>
          <a:prstGeom prst="rect">
            <a:avLst/>
          </a:prstGeom>
          <a:solidFill>
            <a:srgbClr val="FFFFFF"/>
          </a:solidFill>
          <a:ln w="12700">
            <a:solidFill>
              <a:srgbClr val="E2E8F0"/>
            </a:solidFill>
            <a:prstDash val="solid"/>
          </a:ln>
        </p:spPr>
      </p:sp>
      <p:sp>
        <p:nvSpPr>
          <p:cNvPr id="46" name="Text 42"/>
          <p:cNvSpPr/>
          <p:nvPr/>
        </p:nvSpPr>
        <p:spPr>
          <a:xfrm>
            <a:off x="8924544" y="3438144"/>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20,290</a:t>
            </a:r>
            <a:endParaRPr lang="en-US" sz="1400" dirty="0"/>
          </a:p>
        </p:txBody>
      </p:sp>
      <p:sp>
        <p:nvSpPr>
          <p:cNvPr id="47" name="Shape 43"/>
          <p:cNvSpPr/>
          <p:nvPr/>
        </p:nvSpPr>
        <p:spPr>
          <a:xfrm>
            <a:off x="10213848" y="3438144"/>
            <a:ext cx="1408176" cy="438912"/>
          </a:xfrm>
          <a:prstGeom prst="rect">
            <a:avLst/>
          </a:prstGeom>
          <a:solidFill>
            <a:srgbClr val="FFFFFF"/>
          </a:solidFill>
          <a:ln w="12700">
            <a:solidFill>
              <a:srgbClr val="E2E8F0"/>
            </a:solidFill>
            <a:prstDash val="solid"/>
          </a:ln>
        </p:spPr>
      </p:sp>
      <p:sp>
        <p:nvSpPr>
          <p:cNvPr id="48" name="Text 44"/>
          <p:cNvSpPr/>
          <p:nvPr/>
        </p:nvSpPr>
        <p:spPr>
          <a:xfrm>
            <a:off x="10341864" y="3438144"/>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20,290</a:t>
            </a:r>
            <a:endParaRPr lang="en-US" sz="1400" dirty="0"/>
          </a:p>
        </p:txBody>
      </p:sp>
      <p:sp>
        <p:nvSpPr>
          <p:cNvPr id="49" name="Shape 45"/>
          <p:cNvSpPr/>
          <p:nvPr/>
        </p:nvSpPr>
        <p:spPr>
          <a:xfrm>
            <a:off x="6419088" y="3438144"/>
            <a:ext cx="64008" cy="438912"/>
          </a:xfrm>
          <a:prstGeom prst="rect">
            <a:avLst/>
          </a:prstGeom>
          <a:solidFill>
            <a:srgbClr val="800020"/>
          </a:solidFill>
          <a:ln w="12700">
            <a:solidFill>
              <a:srgbClr val="333333"/>
            </a:solidFill>
            <a:prstDash val="solid"/>
          </a:ln>
        </p:spPr>
      </p:sp>
      <p:sp>
        <p:nvSpPr>
          <p:cNvPr id="50" name="Shape 46"/>
          <p:cNvSpPr/>
          <p:nvPr/>
        </p:nvSpPr>
        <p:spPr>
          <a:xfrm>
            <a:off x="6419088" y="3877056"/>
            <a:ext cx="2377440" cy="438912"/>
          </a:xfrm>
          <a:prstGeom prst="rect">
            <a:avLst/>
          </a:prstGeom>
          <a:solidFill>
            <a:srgbClr val="F8FAFC"/>
          </a:solidFill>
          <a:ln w="12700">
            <a:solidFill>
              <a:srgbClr val="E2E8F0"/>
            </a:solidFill>
            <a:prstDash val="solid"/>
          </a:ln>
        </p:spPr>
      </p:sp>
      <p:sp>
        <p:nvSpPr>
          <p:cNvPr id="51" name="Text 47"/>
          <p:cNvSpPr/>
          <p:nvPr/>
        </p:nvSpPr>
        <p:spPr>
          <a:xfrm>
            <a:off x="6547104" y="3877056"/>
            <a:ext cx="2121408" cy="438912"/>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Operating result</a:t>
            </a:r>
            <a:endParaRPr lang="en-US" sz="1400" dirty="0"/>
          </a:p>
        </p:txBody>
      </p:sp>
      <p:sp>
        <p:nvSpPr>
          <p:cNvPr id="52" name="Shape 48"/>
          <p:cNvSpPr/>
          <p:nvPr/>
        </p:nvSpPr>
        <p:spPr>
          <a:xfrm>
            <a:off x="8796528" y="3877056"/>
            <a:ext cx="1417320" cy="438912"/>
          </a:xfrm>
          <a:prstGeom prst="rect">
            <a:avLst/>
          </a:prstGeom>
          <a:solidFill>
            <a:srgbClr val="F8FAFC"/>
          </a:solidFill>
          <a:ln w="12700">
            <a:solidFill>
              <a:srgbClr val="E2E8F0"/>
            </a:solidFill>
            <a:prstDash val="solid"/>
          </a:ln>
        </p:spPr>
      </p:sp>
      <p:sp>
        <p:nvSpPr>
          <p:cNvPr id="53" name="Text 49"/>
          <p:cNvSpPr/>
          <p:nvPr/>
        </p:nvSpPr>
        <p:spPr>
          <a:xfrm>
            <a:off x="8924544" y="3877056"/>
            <a:ext cx="1161288"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310</a:t>
            </a:r>
            <a:endParaRPr lang="en-US" sz="1400" dirty="0"/>
          </a:p>
        </p:txBody>
      </p:sp>
      <p:sp>
        <p:nvSpPr>
          <p:cNvPr id="54" name="Shape 50"/>
          <p:cNvSpPr/>
          <p:nvPr/>
        </p:nvSpPr>
        <p:spPr>
          <a:xfrm>
            <a:off x="10213848" y="3877056"/>
            <a:ext cx="1408176" cy="438912"/>
          </a:xfrm>
          <a:prstGeom prst="rect">
            <a:avLst/>
          </a:prstGeom>
          <a:solidFill>
            <a:srgbClr val="F8FAFC"/>
          </a:solidFill>
          <a:ln w="12700">
            <a:solidFill>
              <a:srgbClr val="E2E8F0"/>
            </a:solidFill>
            <a:prstDash val="solid"/>
          </a:ln>
        </p:spPr>
      </p:sp>
      <p:sp>
        <p:nvSpPr>
          <p:cNvPr id="55" name="Text 51"/>
          <p:cNvSpPr/>
          <p:nvPr/>
        </p:nvSpPr>
        <p:spPr>
          <a:xfrm>
            <a:off x="10341864" y="3877056"/>
            <a:ext cx="1152144" cy="438912"/>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23,700</a:t>
            </a:r>
            <a:endParaRPr lang="en-US" sz="1400" dirty="0"/>
          </a:p>
        </p:txBody>
      </p:sp>
      <p:sp>
        <p:nvSpPr>
          <p:cNvPr id="56" name="Shape 52"/>
          <p:cNvSpPr/>
          <p:nvPr/>
        </p:nvSpPr>
        <p:spPr>
          <a:xfrm>
            <a:off x="6419088" y="3877056"/>
            <a:ext cx="64008" cy="438912"/>
          </a:xfrm>
          <a:prstGeom prst="rect">
            <a:avLst/>
          </a:prstGeom>
          <a:solidFill>
            <a:srgbClr val="166534"/>
          </a:solidFill>
          <a:ln w="12700">
            <a:solidFill>
              <a:srgbClr val="333333"/>
            </a:solidFill>
            <a:prstDash val="solid"/>
          </a:ln>
        </p:spPr>
      </p:sp>
      <p:sp>
        <p:nvSpPr>
          <p:cNvPr id="57" name="Text 53"/>
          <p:cNvSpPr/>
          <p:nvPr/>
        </p:nvSpPr>
        <p:spPr>
          <a:xfrm>
            <a:off x="566928" y="4590288"/>
            <a:ext cx="11057839" cy="548640"/>
          </a:xfrm>
          <a:prstGeom prst="rect">
            <a:avLst/>
          </a:prstGeom>
          <a:noFill/>
          <a:ln/>
        </p:spPr>
        <p:txBody>
          <a:bodyPr wrap="square" lIns="0" tIns="0" rIns="0" bIns="0" rtlCol="0" anchor="t"/>
          <a:lstStyle/>
          <a:p>
            <a:pPr indent="0" marL="0">
              <a:lnSpc>
                <a:spcPts val="1900"/>
              </a:lnSpc>
              <a:buNone/>
            </a:pPr>
            <a:r>
              <a:rPr lang="en-US" sz="1400" dirty="0">
                <a:solidFill>
                  <a:srgbClr val="0F172A"/>
                </a:solidFill>
                <a:latin typeface="Calibri" pitchFamily="34" charset="0"/>
                <a:ea typeface="Calibri" pitchFamily="34" charset="-122"/>
                <a:cs typeface="Calibri" pitchFamily="34" charset="-120"/>
              </a:rPr>
              <a:t>Rajshahi reaches break even on a thin margin. Dhaka reaches it with room to survive a bad month. We launch in the hard city to learn cheaply, and we scale in the dense one to earn.</a:t>
            </a:r>
            <a:endParaRPr lang="en-US" sz="1400" dirty="0"/>
          </a:p>
        </p:txBody>
      </p:sp>
      <p:sp>
        <p:nvSpPr>
          <p:cNvPr id="58" name="Shape 54"/>
          <p:cNvSpPr/>
          <p:nvPr/>
        </p:nvSpPr>
        <p:spPr>
          <a:xfrm>
            <a:off x="566928" y="5175504"/>
            <a:ext cx="11057839" cy="530352"/>
          </a:xfrm>
          <a:prstGeom prst="roundRect">
            <a:avLst>
              <a:gd name="adj" fmla="val 8621"/>
            </a:avLst>
          </a:prstGeom>
          <a:solidFill>
            <a:srgbClr val="FFFBEB"/>
          </a:solidFill>
          <a:ln w="12700">
            <a:solidFill>
              <a:srgbClr val="E2E8F0"/>
            </a:solidFill>
            <a:prstDash val="solid"/>
          </a:ln>
        </p:spPr>
      </p:sp>
      <p:sp>
        <p:nvSpPr>
          <p:cNvPr id="59" name="Text 55"/>
          <p:cNvSpPr/>
          <p:nvPr/>
        </p:nvSpPr>
        <p:spPr>
          <a:xfrm>
            <a:off x="786384" y="5175504"/>
            <a:ext cx="10618927" cy="530352"/>
          </a:xfrm>
          <a:prstGeom prst="rect">
            <a:avLst/>
          </a:prstGeom>
          <a:noFill/>
          <a:ln/>
        </p:spPr>
        <p:txBody>
          <a:bodyPr wrap="square" lIns="0" tIns="0" rIns="0" bIns="0" rtlCol="0" anchor="ctr"/>
          <a:lstStyle/>
          <a:p>
            <a:pPr indent="0" marL="0">
              <a:buNone/>
            </a:pPr>
            <a:r>
              <a:rPr lang="en-US" sz="1400" b="1" dirty="0">
                <a:solidFill>
                  <a:srgbClr val="B45309"/>
                </a:solidFill>
                <a:latin typeface="Calibri" pitchFamily="34" charset="0"/>
                <a:ea typeface="Calibri" pitchFamily="34" charset="-122"/>
                <a:cs typeface="Calibri" pitchFamily="34" charset="-120"/>
              </a:rPr>
              <a:t>The honest limit: if a hub runs under twelve flights a day, it loses money. Density is the constraint, not demand.</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Internal Strengths and Weaknesses</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SWOT internal</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Knowing our own limits is the cheapest advantage we can buy.</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25</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Internal strengths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Resources and capabilities we genuinely control</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26</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1316736"/>
          </a:xfrm>
          <a:prstGeom prst="rect">
            <a:avLst/>
          </a:prstGeom>
          <a:solidFill>
            <a:srgbClr val="166534"/>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Vision first architecture</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safety path never needs a network, so a link drop is a slower delivery, not an unsafe one</a:t>
            </a:r>
            <a:endParaRPr lang="en-US" sz="1400" dirty="0"/>
          </a:p>
        </p:txBody>
      </p:sp>
      <p:sp>
        <p:nvSpPr>
          <p:cNvPr id="11" name="Shape 9"/>
          <p:cNvSpPr/>
          <p:nvPr/>
        </p:nvSpPr>
        <p:spPr>
          <a:xfrm>
            <a:off x="6242152"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6242152" y="1298448"/>
            <a:ext cx="73152" cy="1316736"/>
          </a:xfrm>
          <a:prstGeom prst="rect">
            <a:avLst/>
          </a:prstGeom>
          <a:solidFill>
            <a:srgbClr val="166534"/>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Escalation design</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then Jev, then GLM, so the costly reasoning model runs on a minority of flights</a:t>
            </a:r>
            <a:endParaRPr lang="en-US" sz="1400" dirty="0"/>
          </a:p>
        </p:txBody>
      </p:sp>
      <p:sp>
        <p:nvSpPr>
          <p:cNvPr id="15" name="Shape 13"/>
          <p:cNvSpPr/>
          <p:nvPr/>
        </p:nvSpPr>
        <p:spPr>
          <a:xfrm>
            <a:off x="566928"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761488"/>
            <a:ext cx="73152" cy="1316736"/>
          </a:xfrm>
          <a:prstGeom prst="rect">
            <a:avLst/>
          </a:prstGeom>
          <a:solidFill>
            <a:srgbClr val="166534"/>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Corridor, not a road</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corridor ignores congestion, so the promise does not depend on traffic</a:t>
            </a:r>
            <a:endParaRPr lang="en-US" sz="1400" dirty="0"/>
          </a:p>
        </p:txBody>
      </p:sp>
      <p:sp>
        <p:nvSpPr>
          <p:cNvPr id="19" name="Shape 17"/>
          <p:cNvSpPr/>
          <p:nvPr/>
        </p:nvSpPr>
        <p:spPr>
          <a:xfrm>
            <a:off x="6242152"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6242152" y="2761488"/>
            <a:ext cx="73152" cy="1316736"/>
          </a:xfrm>
          <a:prstGeom prst="rect">
            <a:avLst/>
          </a:prstGeom>
          <a:solidFill>
            <a:srgbClr val="166534"/>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Pad based landing</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Delivery ends at a pad we install and maintain, not on a balcony we do not control</a:t>
            </a:r>
            <a:endParaRPr lang="en-US" sz="1400" dirty="0"/>
          </a:p>
        </p:txBody>
      </p:sp>
      <p:sp>
        <p:nvSpPr>
          <p:cNvPr id="23" name="Shape 21"/>
          <p:cNvSpPr/>
          <p:nvPr/>
        </p:nvSpPr>
        <p:spPr>
          <a:xfrm>
            <a:off x="566928"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224528"/>
            <a:ext cx="73152" cy="1316736"/>
          </a:xfrm>
          <a:prstGeom prst="rect">
            <a:avLst/>
          </a:prstGeom>
          <a:solidFill>
            <a:srgbClr val="166534"/>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Local cost base</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Rajshahi rents and salaries are materially below Dhaka, which lowers the cost of learning</a:t>
            </a:r>
            <a:endParaRPr lang="en-US" sz="1400" dirty="0"/>
          </a:p>
        </p:txBody>
      </p:sp>
      <p:sp>
        <p:nvSpPr>
          <p:cNvPr id="27" name="Shape 25"/>
          <p:cNvSpPr/>
          <p:nvPr/>
        </p:nvSpPr>
        <p:spPr>
          <a:xfrm>
            <a:off x="6242152"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6242152" y="4224528"/>
            <a:ext cx="73152" cy="1316736"/>
          </a:xfrm>
          <a:prstGeom prst="rect">
            <a:avLst/>
          </a:prstGeom>
          <a:solidFill>
            <a:srgbClr val="166534"/>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Founder operator access</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 team that can design corridors, negotiate pads and hold an engineering conversation with vendors</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Internal weaknesses, and the plan against each</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Stated plainly, because a SWOT that flatters itself is useless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27</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743200" cy="384048"/>
          </a:xfrm>
          <a:prstGeom prst="rect">
            <a:avLst/>
          </a:prstGeom>
          <a:solidFill>
            <a:srgbClr val="0F172A"/>
          </a:solidFill>
          <a:ln w="12700">
            <a:solidFill>
              <a:srgbClr val="333333"/>
            </a:solidFill>
            <a:prstDash val="solid"/>
          </a:ln>
        </p:spPr>
      </p:sp>
      <p:sp>
        <p:nvSpPr>
          <p:cNvPr id="8" name="Text 6"/>
          <p:cNvSpPr/>
          <p:nvPr/>
        </p:nvSpPr>
        <p:spPr>
          <a:xfrm>
            <a:off x="694944" y="129844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Weakness</a:t>
            </a:r>
            <a:endParaRPr lang="en-US" sz="1400" dirty="0"/>
          </a:p>
        </p:txBody>
      </p:sp>
      <p:sp>
        <p:nvSpPr>
          <p:cNvPr id="9" name="Shape 7"/>
          <p:cNvSpPr/>
          <p:nvPr/>
        </p:nvSpPr>
        <p:spPr>
          <a:xfrm>
            <a:off x="3310128" y="1298448"/>
            <a:ext cx="4023360" cy="384048"/>
          </a:xfrm>
          <a:prstGeom prst="rect">
            <a:avLst/>
          </a:prstGeom>
          <a:solidFill>
            <a:srgbClr val="0F172A"/>
          </a:solidFill>
          <a:ln w="12700">
            <a:solidFill>
              <a:srgbClr val="333333"/>
            </a:solidFill>
            <a:prstDash val="solid"/>
          </a:ln>
        </p:spPr>
      </p:sp>
      <p:sp>
        <p:nvSpPr>
          <p:cNvPr id="10" name="Text 8"/>
          <p:cNvSpPr/>
          <p:nvPr/>
        </p:nvSpPr>
        <p:spPr>
          <a:xfrm>
            <a:off x="3438144" y="1298448"/>
            <a:ext cx="37673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it really means</a:t>
            </a:r>
            <a:endParaRPr lang="en-US" sz="1400" dirty="0"/>
          </a:p>
        </p:txBody>
      </p:sp>
      <p:sp>
        <p:nvSpPr>
          <p:cNvPr id="11" name="Shape 9"/>
          <p:cNvSpPr/>
          <p:nvPr/>
        </p:nvSpPr>
        <p:spPr>
          <a:xfrm>
            <a:off x="7333488" y="1298448"/>
            <a:ext cx="4288536" cy="384048"/>
          </a:xfrm>
          <a:prstGeom prst="rect">
            <a:avLst/>
          </a:prstGeom>
          <a:solidFill>
            <a:srgbClr val="0F172A"/>
          </a:solidFill>
          <a:ln w="12700">
            <a:solidFill>
              <a:srgbClr val="333333"/>
            </a:solidFill>
            <a:prstDash val="solid"/>
          </a:ln>
        </p:spPr>
      </p:sp>
      <p:sp>
        <p:nvSpPr>
          <p:cNvPr id="12" name="Text 10"/>
          <p:cNvSpPr/>
          <p:nvPr/>
        </p:nvSpPr>
        <p:spPr>
          <a:xfrm>
            <a:off x="7461504" y="1298448"/>
            <a:ext cx="403250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Our response</a:t>
            </a:r>
            <a:endParaRPr lang="en-US" sz="1400" dirty="0"/>
          </a:p>
        </p:txBody>
      </p:sp>
      <p:sp>
        <p:nvSpPr>
          <p:cNvPr id="13" name="Shape 11"/>
          <p:cNvSpPr/>
          <p:nvPr/>
        </p:nvSpPr>
        <p:spPr>
          <a:xfrm>
            <a:off x="566928" y="1682496"/>
            <a:ext cx="2743200" cy="694944"/>
          </a:xfrm>
          <a:prstGeom prst="rect">
            <a:avLst/>
          </a:prstGeom>
          <a:solidFill>
            <a:srgbClr val="FFFFFF"/>
          </a:solidFill>
          <a:ln w="12700">
            <a:solidFill>
              <a:srgbClr val="E2E8F0"/>
            </a:solidFill>
            <a:prstDash val="solid"/>
          </a:ln>
        </p:spPr>
      </p:sp>
      <p:sp>
        <p:nvSpPr>
          <p:cNvPr id="14" name="Text 12"/>
          <p:cNvSpPr/>
          <p:nvPr/>
        </p:nvSpPr>
        <p:spPr>
          <a:xfrm>
            <a:off x="694944" y="1682496"/>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No operating history</a:t>
            </a:r>
            <a:endParaRPr lang="en-US" sz="1400" dirty="0"/>
          </a:p>
        </p:txBody>
      </p:sp>
      <p:sp>
        <p:nvSpPr>
          <p:cNvPr id="15" name="Shape 13"/>
          <p:cNvSpPr/>
          <p:nvPr/>
        </p:nvSpPr>
        <p:spPr>
          <a:xfrm>
            <a:off x="3310128" y="1682496"/>
            <a:ext cx="4023360" cy="694944"/>
          </a:xfrm>
          <a:prstGeom prst="rect">
            <a:avLst/>
          </a:prstGeom>
          <a:solidFill>
            <a:srgbClr val="FFFFFF"/>
          </a:solidFill>
          <a:ln w="12700">
            <a:solidFill>
              <a:srgbClr val="E2E8F0"/>
            </a:solidFill>
            <a:prstDash val="solid"/>
          </a:ln>
        </p:spPr>
      </p:sp>
      <p:sp>
        <p:nvSpPr>
          <p:cNvPr id="16" name="Text 14"/>
          <p:cNvSpPr/>
          <p:nvPr/>
        </p:nvSpPr>
        <p:spPr>
          <a:xfrm>
            <a:off x="3438144" y="1682496"/>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 CAAB approval, no live corridor, no proven unit economics</a:t>
            </a:r>
            <a:endParaRPr lang="en-US" sz="1400" dirty="0"/>
          </a:p>
        </p:txBody>
      </p:sp>
      <p:sp>
        <p:nvSpPr>
          <p:cNvPr id="17" name="Shape 15"/>
          <p:cNvSpPr/>
          <p:nvPr/>
        </p:nvSpPr>
        <p:spPr>
          <a:xfrm>
            <a:off x="7333488" y="1682496"/>
            <a:ext cx="4288536" cy="694944"/>
          </a:xfrm>
          <a:prstGeom prst="rect">
            <a:avLst/>
          </a:prstGeom>
          <a:solidFill>
            <a:srgbClr val="FFFFFF"/>
          </a:solidFill>
          <a:ln w="12700">
            <a:solidFill>
              <a:srgbClr val="E2E8F0"/>
            </a:solidFill>
            <a:prstDash val="solid"/>
          </a:ln>
        </p:spPr>
      </p:sp>
      <p:sp>
        <p:nvSpPr>
          <p:cNvPr id="18" name="Text 16"/>
          <p:cNvSpPr/>
          <p:nvPr/>
        </p:nvSpPr>
        <p:spPr>
          <a:xfrm>
            <a:off x="7461504" y="1682496"/>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Single hub pilot in Rajshahi before any expansion</a:t>
            </a:r>
            <a:endParaRPr lang="en-US" sz="1400" dirty="0"/>
          </a:p>
        </p:txBody>
      </p:sp>
      <p:sp>
        <p:nvSpPr>
          <p:cNvPr id="19" name="Shape 17"/>
          <p:cNvSpPr/>
          <p:nvPr/>
        </p:nvSpPr>
        <p:spPr>
          <a:xfrm>
            <a:off x="566928" y="1682496"/>
            <a:ext cx="64008" cy="694944"/>
          </a:xfrm>
          <a:prstGeom prst="rect">
            <a:avLst/>
          </a:prstGeom>
          <a:solidFill>
            <a:srgbClr val="800020"/>
          </a:solidFill>
          <a:ln w="12700">
            <a:solidFill>
              <a:srgbClr val="333333"/>
            </a:solidFill>
            <a:prstDash val="solid"/>
          </a:ln>
        </p:spPr>
      </p:sp>
      <p:sp>
        <p:nvSpPr>
          <p:cNvPr id="20" name="Shape 18"/>
          <p:cNvSpPr/>
          <p:nvPr/>
        </p:nvSpPr>
        <p:spPr>
          <a:xfrm>
            <a:off x="566928" y="2377440"/>
            <a:ext cx="2743200" cy="694944"/>
          </a:xfrm>
          <a:prstGeom prst="rect">
            <a:avLst/>
          </a:prstGeom>
          <a:solidFill>
            <a:srgbClr val="F8FAFC"/>
          </a:solidFill>
          <a:ln w="12700">
            <a:solidFill>
              <a:srgbClr val="E2E8F0"/>
            </a:solidFill>
            <a:prstDash val="solid"/>
          </a:ln>
        </p:spPr>
      </p:sp>
      <p:sp>
        <p:nvSpPr>
          <p:cNvPr id="21" name="Text 19"/>
          <p:cNvSpPr/>
          <p:nvPr/>
        </p:nvSpPr>
        <p:spPr>
          <a:xfrm>
            <a:off x="694944" y="2377440"/>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No regulatory approval</a:t>
            </a:r>
            <a:endParaRPr lang="en-US" sz="1400" dirty="0"/>
          </a:p>
        </p:txBody>
      </p:sp>
      <p:sp>
        <p:nvSpPr>
          <p:cNvPr id="22" name="Shape 20"/>
          <p:cNvSpPr/>
          <p:nvPr/>
        </p:nvSpPr>
        <p:spPr>
          <a:xfrm>
            <a:off x="3310128" y="2377440"/>
            <a:ext cx="4023360" cy="694944"/>
          </a:xfrm>
          <a:prstGeom prst="rect">
            <a:avLst/>
          </a:prstGeom>
          <a:solidFill>
            <a:srgbClr val="F8FAFC"/>
          </a:solidFill>
          <a:ln w="12700">
            <a:solidFill>
              <a:srgbClr val="E2E8F0"/>
            </a:solidFill>
            <a:prstDash val="solid"/>
          </a:ln>
        </p:spPr>
      </p:sp>
      <p:sp>
        <p:nvSpPr>
          <p:cNvPr id="23" name="Text 21"/>
          <p:cNvSpPr/>
          <p:nvPr/>
        </p:nvSpPr>
        <p:spPr>
          <a:xfrm>
            <a:off x="3438144" y="2377440"/>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Bangladeshi airspace is closed to this use and no precedent exists</a:t>
            </a:r>
            <a:endParaRPr lang="en-US" sz="1400" dirty="0"/>
          </a:p>
        </p:txBody>
      </p:sp>
      <p:sp>
        <p:nvSpPr>
          <p:cNvPr id="24" name="Shape 22"/>
          <p:cNvSpPr/>
          <p:nvPr/>
        </p:nvSpPr>
        <p:spPr>
          <a:xfrm>
            <a:off x="7333488" y="2377440"/>
            <a:ext cx="4288536" cy="694944"/>
          </a:xfrm>
          <a:prstGeom prst="rect">
            <a:avLst/>
          </a:prstGeom>
          <a:solidFill>
            <a:srgbClr val="F8FAFC"/>
          </a:solidFill>
          <a:ln w="12700">
            <a:solidFill>
              <a:srgbClr val="E2E8F0"/>
            </a:solidFill>
            <a:prstDash val="solid"/>
          </a:ln>
        </p:spPr>
      </p:sp>
      <p:sp>
        <p:nvSpPr>
          <p:cNvPr id="25" name="Text 23"/>
          <p:cNvSpPr/>
          <p:nvPr/>
        </p:nvSpPr>
        <p:spPr>
          <a:xfrm>
            <a:off x="7461504" y="2377440"/>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Pre-application meeting with CAAB, before hardware is ordered</a:t>
            </a:r>
            <a:endParaRPr lang="en-US" sz="1400" dirty="0"/>
          </a:p>
        </p:txBody>
      </p:sp>
      <p:sp>
        <p:nvSpPr>
          <p:cNvPr id="26" name="Shape 24"/>
          <p:cNvSpPr/>
          <p:nvPr/>
        </p:nvSpPr>
        <p:spPr>
          <a:xfrm>
            <a:off x="566928" y="2377440"/>
            <a:ext cx="64008" cy="694944"/>
          </a:xfrm>
          <a:prstGeom prst="rect">
            <a:avLst/>
          </a:prstGeom>
          <a:solidFill>
            <a:srgbClr val="800020"/>
          </a:solidFill>
          <a:ln w="12700">
            <a:solidFill>
              <a:srgbClr val="333333"/>
            </a:solidFill>
            <a:prstDash val="solid"/>
          </a:ln>
        </p:spPr>
      </p:sp>
      <p:sp>
        <p:nvSpPr>
          <p:cNvPr id="27" name="Shape 25"/>
          <p:cNvSpPr/>
          <p:nvPr/>
        </p:nvSpPr>
        <p:spPr>
          <a:xfrm>
            <a:off x="566928" y="3072384"/>
            <a:ext cx="2743200" cy="694944"/>
          </a:xfrm>
          <a:prstGeom prst="rect">
            <a:avLst/>
          </a:prstGeom>
          <a:solidFill>
            <a:srgbClr val="FFFFFF"/>
          </a:solidFill>
          <a:ln w="12700">
            <a:solidFill>
              <a:srgbClr val="E2E8F0"/>
            </a:solidFill>
            <a:prstDash val="solid"/>
          </a:ln>
        </p:spPr>
      </p:sp>
      <p:sp>
        <p:nvSpPr>
          <p:cNvPr id="28" name="Text 26"/>
          <p:cNvSpPr/>
          <p:nvPr/>
        </p:nvSpPr>
        <p:spPr>
          <a:xfrm>
            <a:off x="694944" y="3072384"/>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Capital hungry</a:t>
            </a:r>
            <a:endParaRPr lang="en-US" sz="1400" dirty="0"/>
          </a:p>
        </p:txBody>
      </p:sp>
      <p:sp>
        <p:nvSpPr>
          <p:cNvPr id="29" name="Shape 27"/>
          <p:cNvSpPr/>
          <p:nvPr/>
        </p:nvSpPr>
        <p:spPr>
          <a:xfrm>
            <a:off x="3310128" y="3072384"/>
            <a:ext cx="4023360" cy="694944"/>
          </a:xfrm>
          <a:prstGeom prst="rect">
            <a:avLst/>
          </a:prstGeom>
          <a:solidFill>
            <a:srgbClr val="FFFFFF"/>
          </a:solidFill>
          <a:ln w="12700">
            <a:solidFill>
              <a:srgbClr val="E2E8F0"/>
            </a:solidFill>
            <a:prstDash val="solid"/>
          </a:ln>
        </p:spPr>
      </p:sp>
      <p:sp>
        <p:nvSpPr>
          <p:cNvPr id="30" name="Text 28"/>
          <p:cNvSpPr/>
          <p:nvPr/>
        </p:nvSpPr>
        <p:spPr>
          <a:xfrm>
            <a:off x="3438144" y="3072384"/>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Pads, hubs and airframes are paid for long before revenue arrives</a:t>
            </a:r>
            <a:endParaRPr lang="en-US" sz="1400" dirty="0"/>
          </a:p>
        </p:txBody>
      </p:sp>
      <p:sp>
        <p:nvSpPr>
          <p:cNvPr id="31" name="Shape 29"/>
          <p:cNvSpPr/>
          <p:nvPr/>
        </p:nvSpPr>
        <p:spPr>
          <a:xfrm>
            <a:off x="7333488" y="3072384"/>
            <a:ext cx="4288536" cy="694944"/>
          </a:xfrm>
          <a:prstGeom prst="rect">
            <a:avLst/>
          </a:prstGeom>
          <a:solidFill>
            <a:srgbClr val="FFFFFF"/>
          </a:solidFill>
          <a:ln w="12700">
            <a:solidFill>
              <a:srgbClr val="E2E8F0"/>
            </a:solidFill>
            <a:prstDash val="solid"/>
          </a:ln>
        </p:spPr>
      </p:sp>
      <p:sp>
        <p:nvSpPr>
          <p:cNvPr id="32" name="Text 30"/>
          <p:cNvSpPr/>
          <p:nvPr/>
        </p:nvSpPr>
        <p:spPr>
          <a:xfrm>
            <a:off x="7461504" y="3072384"/>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Start with two corridors and one hub, not a city wide plan</a:t>
            </a:r>
            <a:endParaRPr lang="en-US" sz="1400" dirty="0"/>
          </a:p>
        </p:txBody>
      </p:sp>
      <p:sp>
        <p:nvSpPr>
          <p:cNvPr id="33" name="Shape 31"/>
          <p:cNvSpPr/>
          <p:nvPr/>
        </p:nvSpPr>
        <p:spPr>
          <a:xfrm>
            <a:off x="566928" y="3072384"/>
            <a:ext cx="64008" cy="694944"/>
          </a:xfrm>
          <a:prstGeom prst="rect">
            <a:avLst/>
          </a:prstGeom>
          <a:solidFill>
            <a:srgbClr val="800020"/>
          </a:solidFill>
          <a:ln w="12700">
            <a:solidFill>
              <a:srgbClr val="333333"/>
            </a:solidFill>
            <a:prstDash val="solid"/>
          </a:ln>
        </p:spPr>
      </p:sp>
      <p:sp>
        <p:nvSpPr>
          <p:cNvPr id="34" name="Shape 32"/>
          <p:cNvSpPr/>
          <p:nvPr/>
        </p:nvSpPr>
        <p:spPr>
          <a:xfrm>
            <a:off x="566928" y="3767328"/>
            <a:ext cx="2743200" cy="694944"/>
          </a:xfrm>
          <a:prstGeom prst="rect">
            <a:avLst/>
          </a:prstGeom>
          <a:solidFill>
            <a:srgbClr val="F8FAFC"/>
          </a:solidFill>
          <a:ln w="12700">
            <a:solidFill>
              <a:srgbClr val="E2E8F0"/>
            </a:solidFill>
            <a:prstDash val="solid"/>
          </a:ln>
        </p:spPr>
      </p:sp>
      <p:sp>
        <p:nvSpPr>
          <p:cNvPr id="35" name="Text 33"/>
          <p:cNvSpPr/>
          <p:nvPr/>
        </p:nvSpPr>
        <p:spPr>
          <a:xfrm>
            <a:off x="694944" y="3767328"/>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Weather exposure</a:t>
            </a:r>
            <a:endParaRPr lang="en-US" sz="1400" dirty="0"/>
          </a:p>
        </p:txBody>
      </p:sp>
      <p:sp>
        <p:nvSpPr>
          <p:cNvPr id="36" name="Shape 34"/>
          <p:cNvSpPr/>
          <p:nvPr/>
        </p:nvSpPr>
        <p:spPr>
          <a:xfrm>
            <a:off x="3310128" y="3767328"/>
            <a:ext cx="4023360" cy="694944"/>
          </a:xfrm>
          <a:prstGeom prst="rect">
            <a:avLst/>
          </a:prstGeom>
          <a:solidFill>
            <a:srgbClr val="F8FAFC"/>
          </a:solidFill>
          <a:ln w="12700">
            <a:solidFill>
              <a:srgbClr val="E2E8F0"/>
            </a:solidFill>
            <a:prstDash val="solid"/>
          </a:ln>
        </p:spPr>
      </p:sp>
      <p:sp>
        <p:nvSpPr>
          <p:cNvPr id="37" name="Text 35"/>
          <p:cNvSpPr/>
          <p:nvPr/>
        </p:nvSpPr>
        <p:spPr>
          <a:xfrm>
            <a:off x="3438144" y="3767328"/>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Monsoon and low visibility stop flights outright</a:t>
            </a:r>
            <a:endParaRPr lang="en-US" sz="1400" dirty="0"/>
          </a:p>
        </p:txBody>
      </p:sp>
      <p:sp>
        <p:nvSpPr>
          <p:cNvPr id="38" name="Shape 36"/>
          <p:cNvSpPr/>
          <p:nvPr/>
        </p:nvSpPr>
        <p:spPr>
          <a:xfrm>
            <a:off x="7333488" y="3767328"/>
            <a:ext cx="4288536" cy="694944"/>
          </a:xfrm>
          <a:prstGeom prst="rect">
            <a:avLst/>
          </a:prstGeom>
          <a:solidFill>
            <a:srgbClr val="F8FAFC"/>
          </a:solidFill>
          <a:ln w="12700">
            <a:solidFill>
              <a:srgbClr val="E2E8F0"/>
            </a:solidFill>
            <a:prstDash val="solid"/>
          </a:ln>
        </p:spPr>
      </p:sp>
      <p:sp>
        <p:nvSpPr>
          <p:cNvPr id="39" name="Text 37"/>
          <p:cNvSpPr/>
          <p:nvPr/>
        </p:nvSpPr>
        <p:spPr>
          <a:xfrm>
            <a:off x="7461504" y="3767328"/>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Design corridors for the worst month, not the average one</a:t>
            </a:r>
            <a:endParaRPr lang="en-US" sz="1400" dirty="0"/>
          </a:p>
        </p:txBody>
      </p:sp>
      <p:sp>
        <p:nvSpPr>
          <p:cNvPr id="40" name="Shape 38"/>
          <p:cNvSpPr/>
          <p:nvPr/>
        </p:nvSpPr>
        <p:spPr>
          <a:xfrm>
            <a:off x="566928" y="3767328"/>
            <a:ext cx="64008" cy="694944"/>
          </a:xfrm>
          <a:prstGeom prst="rect">
            <a:avLst/>
          </a:prstGeom>
          <a:solidFill>
            <a:srgbClr val="800020"/>
          </a:solidFill>
          <a:ln w="12700">
            <a:solidFill>
              <a:srgbClr val="333333"/>
            </a:solidFill>
            <a:prstDash val="solid"/>
          </a:ln>
        </p:spPr>
      </p:sp>
      <p:sp>
        <p:nvSpPr>
          <p:cNvPr id="41" name="Shape 39"/>
          <p:cNvSpPr/>
          <p:nvPr/>
        </p:nvSpPr>
        <p:spPr>
          <a:xfrm>
            <a:off x="566928" y="4462272"/>
            <a:ext cx="2743200" cy="694944"/>
          </a:xfrm>
          <a:prstGeom prst="rect">
            <a:avLst/>
          </a:prstGeom>
          <a:solidFill>
            <a:srgbClr val="FFFFFF"/>
          </a:solidFill>
          <a:ln w="12700">
            <a:solidFill>
              <a:srgbClr val="E2E8F0"/>
            </a:solidFill>
            <a:prstDash val="solid"/>
          </a:ln>
        </p:spPr>
      </p:sp>
      <p:sp>
        <p:nvSpPr>
          <p:cNvPr id="42" name="Text 40"/>
          <p:cNvSpPr/>
          <p:nvPr/>
        </p:nvSpPr>
        <p:spPr>
          <a:xfrm>
            <a:off x="694944" y="4462272"/>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Model dependency</a:t>
            </a:r>
            <a:endParaRPr lang="en-US" sz="1400" dirty="0"/>
          </a:p>
        </p:txBody>
      </p:sp>
      <p:sp>
        <p:nvSpPr>
          <p:cNvPr id="43" name="Shape 41"/>
          <p:cNvSpPr/>
          <p:nvPr/>
        </p:nvSpPr>
        <p:spPr>
          <a:xfrm>
            <a:off x="3310128" y="4462272"/>
            <a:ext cx="4023360" cy="694944"/>
          </a:xfrm>
          <a:prstGeom prst="rect">
            <a:avLst/>
          </a:prstGeom>
          <a:solidFill>
            <a:srgbClr val="FFFFFF"/>
          </a:solidFill>
          <a:ln w="12700">
            <a:solidFill>
              <a:srgbClr val="E2E8F0"/>
            </a:solidFill>
            <a:prstDash val="solid"/>
          </a:ln>
        </p:spPr>
      </p:sp>
      <p:sp>
        <p:nvSpPr>
          <p:cNvPr id="44" name="Text 42"/>
          <p:cNvSpPr/>
          <p:nvPr/>
        </p:nvSpPr>
        <p:spPr>
          <a:xfrm>
            <a:off x="3438144" y="4462272"/>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Jev is hosted and closed, so the fastest tier is not ours</a:t>
            </a:r>
            <a:endParaRPr lang="en-US" sz="1400" dirty="0"/>
          </a:p>
        </p:txBody>
      </p:sp>
      <p:sp>
        <p:nvSpPr>
          <p:cNvPr id="45" name="Shape 43"/>
          <p:cNvSpPr/>
          <p:nvPr/>
        </p:nvSpPr>
        <p:spPr>
          <a:xfrm>
            <a:off x="7333488" y="4462272"/>
            <a:ext cx="4288536" cy="694944"/>
          </a:xfrm>
          <a:prstGeom prst="rect">
            <a:avLst/>
          </a:prstGeom>
          <a:solidFill>
            <a:srgbClr val="FFFFFF"/>
          </a:solidFill>
          <a:ln w="12700">
            <a:solidFill>
              <a:srgbClr val="E2E8F0"/>
            </a:solidFill>
            <a:prstDash val="solid"/>
          </a:ln>
        </p:spPr>
      </p:sp>
      <p:sp>
        <p:nvSpPr>
          <p:cNvPr id="46" name="Text 44"/>
          <p:cNvSpPr/>
          <p:nvPr/>
        </p:nvSpPr>
        <p:spPr>
          <a:xfrm>
            <a:off x="7461504" y="4462272"/>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Keep a deterministic rule set that reproduces its decisions</a:t>
            </a:r>
            <a:endParaRPr lang="en-US" sz="1400" dirty="0"/>
          </a:p>
        </p:txBody>
      </p:sp>
      <p:sp>
        <p:nvSpPr>
          <p:cNvPr id="47" name="Shape 45"/>
          <p:cNvSpPr/>
          <p:nvPr/>
        </p:nvSpPr>
        <p:spPr>
          <a:xfrm>
            <a:off x="566928" y="4462272"/>
            <a:ext cx="64008" cy="694944"/>
          </a:xfrm>
          <a:prstGeom prst="rect">
            <a:avLst/>
          </a:prstGeom>
          <a:solidFill>
            <a:srgbClr val="800020"/>
          </a:solidFill>
          <a:ln w="12700">
            <a:solidFill>
              <a:srgbClr val="333333"/>
            </a:solidFill>
            <a:prstDash val="solid"/>
          </a:ln>
        </p:spPr>
      </p:sp>
      <p:sp>
        <p:nvSpPr>
          <p:cNvPr id="48" name="Shape 46"/>
          <p:cNvSpPr/>
          <p:nvPr/>
        </p:nvSpPr>
        <p:spPr>
          <a:xfrm>
            <a:off x="566928" y="5157216"/>
            <a:ext cx="2743200" cy="694944"/>
          </a:xfrm>
          <a:prstGeom prst="rect">
            <a:avLst/>
          </a:prstGeom>
          <a:solidFill>
            <a:srgbClr val="F8FAFC"/>
          </a:solidFill>
          <a:ln w="12700">
            <a:solidFill>
              <a:srgbClr val="E2E8F0"/>
            </a:solidFill>
            <a:prstDash val="solid"/>
          </a:ln>
        </p:spPr>
      </p:sp>
      <p:sp>
        <p:nvSpPr>
          <p:cNvPr id="49" name="Text 47"/>
          <p:cNvSpPr/>
          <p:nvPr/>
        </p:nvSpPr>
        <p:spPr>
          <a:xfrm>
            <a:off x="694944" y="5157216"/>
            <a:ext cx="2487168" cy="69494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Team of eight</a:t>
            </a:r>
            <a:endParaRPr lang="en-US" sz="1400" dirty="0"/>
          </a:p>
        </p:txBody>
      </p:sp>
      <p:sp>
        <p:nvSpPr>
          <p:cNvPr id="50" name="Shape 48"/>
          <p:cNvSpPr/>
          <p:nvPr/>
        </p:nvSpPr>
        <p:spPr>
          <a:xfrm>
            <a:off x="3310128" y="5157216"/>
            <a:ext cx="4023360" cy="694944"/>
          </a:xfrm>
          <a:prstGeom prst="rect">
            <a:avLst/>
          </a:prstGeom>
          <a:solidFill>
            <a:srgbClr val="F8FAFC"/>
          </a:solidFill>
          <a:ln w="12700">
            <a:solidFill>
              <a:srgbClr val="E2E8F0"/>
            </a:solidFill>
            <a:prstDash val="solid"/>
          </a:ln>
        </p:spPr>
      </p:sp>
      <p:sp>
        <p:nvSpPr>
          <p:cNvPr id="51" name="Text 49"/>
          <p:cNvSpPr/>
          <p:nvPr/>
        </p:nvSpPr>
        <p:spPr>
          <a:xfrm>
            <a:off x="3438144" y="5157216"/>
            <a:ext cx="3767328"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 dedicated safety engineer, no legal counsel, no regulator relations</a:t>
            </a:r>
            <a:endParaRPr lang="en-US" sz="1400" dirty="0"/>
          </a:p>
        </p:txBody>
      </p:sp>
      <p:sp>
        <p:nvSpPr>
          <p:cNvPr id="52" name="Shape 50"/>
          <p:cNvSpPr/>
          <p:nvPr/>
        </p:nvSpPr>
        <p:spPr>
          <a:xfrm>
            <a:off x="7333488" y="5157216"/>
            <a:ext cx="4288536" cy="694944"/>
          </a:xfrm>
          <a:prstGeom prst="rect">
            <a:avLst/>
          </a:prstGeom>
          <a:solidFill>
            <a:srgbClr val="F8FAFC"/>
          </a:solidFill>
          <a:ln w="12700">
            <a:solidFill>
              <a:srgbClr val="E2E8F0"/>
            </a:solidFill>
            <a:prstDash val="solid"/>
          </a:ln>
        </p:spPr>
      </p:sp>
      <p:sp>
        <p:nvSpPr>
          <p:cNvPr id="53" name="Text 51"/>
          <p:cNvSpPr/>
          <p:nvPr/>
        </p:nvSpPr>
        <p:spPr>
          <a:xfrm>
            <a:off x="7461504" y="5157216"/>
            <a:ext cx="4032504" cy="69494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Named owners for every risk, reviewed monthly</a:t>
            </a:r>
            <a:endParaRPr lang="en-US" sz="1400" dirty="0"/>
          </a:p>
        </p:txBody>
      </p:sp>
      <p:sp>
        <p:nvSpPr>
          <p:cNvPr id="54" name="Shape 52"/>
          <p:cNvSpPr/>
          <p:nvPr/>
        </p:nvSpPr>
        <p:spPr>
          <a:xfrm>
            <a:off x="566928" y="5157216"/>
            <a:ext cx="64008" cy="694944"/>
          </a:xfrm>
          <a:prstGeom prst="rect">
            <a:avLst/>
          </a:prstGeom>
          <a:solidFill>
            <a:srgbClr val="800020"/>
          </a:solidFill>
          <a:ln w="12700">
            <a:solidFill>
              <a:srgbClr val="333333"/>
            </a:solidFill>
            <a:prstDash val="solid"/>
          </a:ln>
        </p:spPr>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7. Internal Strengths and Weaknesses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Every strength has a limit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Which is why the SWOT is one argument, not four lists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28</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377440" cy="384048"/>
          </a:xfrm>
          <a:prstGeom prst="rect">
            <a:avLst/>
          </a:prstGeom>
          <a:solidFill>
            <a:srgbClr val="0F172A"/>
          </a:solidFill>
          <a:ln w="12700">
            <a:solidFill>
              <a:srgbClr val="333333"/>
            </a:solidFill>
            <a:prstDash val="solid"/>
          </a:ln>
        </p:spPr>
      </p:sp>
      <p:sp>
        <p:nvSpPr>
          <p:cNvPr id="8" name="Text 6"/>
          <p:cNvSpPr/>
          <p:nvPr/>
        </p:nvSpPr>
        <p:spPr>
          <a:xfrm>
            <a:off x="694944" y="1298448"/>
            <a:ext cx="2121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p>
        </p:txBody>
      </p:sp>
      <p:sp>
        <p:nvSpPr>
          <p:cNvPr id="9" name="Shape 7"/>
          <p:cNvSpPr/>
          <p:nvPr/>
        </p:nvSpPr>
        <p:spPr>
          <a:xfrm>
            <a:off x="2944368" y="1298448"/>
            <a:ext cx="2286000" cy="384048"/>
          </a:xfrm>
          <a:prstGeom prst="rect">
            <a:avLst/>
          </a:prstGeom>
          <a:solidFill>
            <a:srgbClr val="0F172A"/>
          </a:solidFill>
          <a:ln w="12700">
            <a:solidFill>
              <a:srgbClr val="333333"/>
            </a:solidFill>
            <a:prstDash val="solid"/>
          </a:ln>
        </p:spPr>
      </p:sp>
      <p:sp>
        <p:nvSpPr>
          <p:cNvPr id="10" name="Text 8"/>
          <p:cNvSpPr/>
          <p:nvPr/>
        </p:nvSpPr>
        <p:spPr>
          <a:xfrm>
            <a:off x="3072384" y="1298448"/>
            <a:ext cx="20299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Why it helps</a:t>
            </a:r>
            <a:endParaRPr lang="en-US" sz="1400" dirty="0"/>
          </a:p>
        </p:txBody>
      </p:sp>
      <p:sp>
        <p:nvSpPr>
          <p:cNvPr id="11" name="Shape 9"/>
          <p:cNvSpPr/>
          <p:nvPr/>
        </p:nvSpPr>
        <p:spPr>
          <a:xfrm>
            <a:off x="523036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535838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Its limit</a:t>
            </a:r>
            <a:endParaRPr lang="en-US" sz="1400" dirty="0"/>
          </a:p>
        </p:txBody>
      </p:sp>
      <p:sp>
        <p:nvSpPr>
          <p:cNvPr id="13" name="Shape 11"/>
          <p:cNvSpPr/>
          <p:nvPr/>
        </p:nvSpPr>
        <p:spPr>
          <a:xfrm>
            <a:off x="8156448" y="1298448"/>
            <a:ext cx="3465576" cy="384048"/>
          </a:xfrm>
          <a:prstGeom prst="rect">
            <a:avLst/>
          </a:prstGeom>
          <a:solidFill>
            <a:srgbClr val="0F172A"/>
          </a:solidFill>
          <a:ln w="12700">
            <a:solidFill>
              <a:srgbClr val="333333"/>
            </a:solidFill>
            <a:prstDash val="solid"/>
          </a:ln>
        </p:spPr>
      </p:sp>
      <p:sp>
        <p:nvSpPr>
          <p:cNvPr id="14" name="Text 12"/>
          <p:cNvSpPr/>
          <p:nvPr/>
        </p:nvSpPr>
        <p:spPr>
          <a:xfrm>
            <a:off x="8284464" y="1298448"/>
            <a:ext cx="320954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How we hold it</a:t>
            </a:r>
            <a:endParaRPr lang="en-US" sz="1400" dirty="0"/>
          </a:p>
        </p:txBody>
      </p:sp>
      <p:sp>
        <p:nvSpPr>
          <p:cNvPr id="15" name="Shape 13"/>
          <p:cNvSpPr/>
          <p:nvPr/>
        </p:nvSpPr>
        <p:spPr>
          <a:xfrm>
            <a:off x="566928" y="1682496"/>
            <a:ext cx="2377440" cy="566928"/>
          </a:xfrm>
          <a:prstGeom prst="rect">
            <a:avLst/>
          </a:prstGeom>
          <a:solidFill>
            <a:srgbClr val="FFFFFF"/>
          </a:solidFill>
          <a:ln w="12700">
            <a:solidFill>
              <a:srgbClr val="E2E8F0"/>
            </a:solidFill>
            <a:prstDash val="solid"/>
          </a:ln>
        </p:spPr>
      </p:sp>
      <p:sp>
        <p:nvSpPr>
          <p:cNvPr id="16" name="Text 14"/>
          <p:cNvSpPr/>
          <p:nvPr/>
        </p:nvSpPr>
        <p:spPr>
          <a:xfrm>
            <a:off x="694944" y="1682496"/>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first architecture</a:t>
            </a:r>
            <a:endParaRPr lang="en-US" sz="1400" dirty="0"/>
          </a:p>
        </p:txBody>
      </p:sp>
      <p:sp>
        <p:nvSpPr>
          <p:cNvPr id="17" name="Shape 15"/>
          <p:cNvSpPr/>
          <p:nvPr/>
        </p:nvSpPr>
        <p:spPr>
          <a:xfrm>
            <a:off x="2944368" y="1682496"/>
            <a:ext cx="2286000" cy="566928"/>
          </a:xfrm>
          <a:prstGeom prst="rect">
            <a:avLst/>
          </a:prstGeom>
          <a:solidFill>
            <a:srgbClr val="FFFFFF"/>
          </a:solidFill>
          <a:ln w="12700">
            <a:solidFill>
              <a:srgbClr val="E2E8F0"/>
            </a:solidFill>
            <a:prstDash val="solid"/>
          </a:ln>
        </p:spPr>
      </p:sp>
      <p:sp>
        <p:nvSpPr>
          <p:cNvPr id="18" name="Text 16"/>
          <p:cNvSpPr/>
          <p:nvPr/>
        </p:nvSpPr>
        <p:spPr>
          <a:xfrm>
            <a:off x="3072384" y="1682496"/>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Independent of the network</a:t>
            </a:r>
            <a:endParaRPr lang="en-US" sz="1400" dirty="0"/>
          </a:p>
        </p:txBody>
      </p:sp>
      <p:sp>
        <p:nvSpPr>
          <p:cNvPr id="19" name="Shape 17"/>
          <p:cNvSpPr/>
          <p:nvPr/>
        </p:nvSpPr>
        <p:spPr>
          <a:xfrm>
            <a:off x="5230368" y="1682496"/>
            <a:ext cx="2926080" cy="566928"/>
          </a:xfrm>
          <a:prstGeom prst="rect">
            <a:avLst/>
          </a:prstGeom>
          <a:solidFill>
            <a:srgbClr val="FFFFFF"/>
          </a:solidFill>
          <a:ln w="12700">
            <a:solidFill>
              <a:srgbClr val="E2E8F0"/>
            </a:solidFill>
            <a:prstDash val="solid"/>
          </a:ln>
        </p:spPr>
      </p:sp>
      <p:sp>
        <p:nvSpPr>
          <p:cNvPr id="20" name="Text 18"/>
          <p:cNvSpPr/>
          <p:nvPr/>
        </p:nvSpPr>
        <p:spPr>
          <a:xfrm>
            <a:off x="5358384" y="1682496"/>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Needs a fallback that is provably safe</a:t>
            </a:r>
            <a:endParaRPr lang="en-US" sz="1400" dirty="0"/>
          </a:p>
        </p:txBody>
      </p:sp>
      <p:sp>
        <p:nvSpPr>
          <p:cNvPr id="21" name="Shape 19"/>
          <p:cNvSpPr/>
          <p:nvPr/>
        </p:nvSpPr>
        <p:spPr>
          <a:xfrm>
            <a:off x="8156448" y="1682496"/>
            <a:ext cx="3465576" cy="566928"/>
          </a:xfrm>
          <a:prstGeom prst="rect">
            <a:avLst/>
          </a:prstGeom>
          <a:solidFill>
            <a:srgbClr val="FFFFFF"/>
          </a:solidFill>
          <a:ln w="12700">
            <a:solidFill>
              <a:srgbClr val="E2E8F0"/>
            </a:solidFill>
            <a:prstDash val="solid"/>
          </a:ln>
        </p:spPr>
      </p:sp>
      <p:sp>
        <p:nvSpPr>
          <p:cNvPr id="22" name="Text 20"/>
          <p:cNvSpPr/>
          <p:nvPr/>
        </p:nvSpPr>
        <p:spPr>
          <a:xfrm>
            <a:off x="8284464" y="1682496"/>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Fallback is local and deterministic</a:t>
            </a:r>
            <a:endParaRPr lang="en-US" sz="1400" dirty="0"/>
          </a:p>
        </p:txBody>
      </p:sp>
      <p:sp>
        <p:nvSpPr>
          <p:cNvPr id="23" name="Shape 21"/>
          <p:cNvSpPr/>
          <p:nvPr/>
        </p:nvSpPr>
        <p:spPr>
          <a:xfrm>
            <a:off x="566928" y="1682496"/>
            <a:ext cx="64008" cy="566928"/>
          </a:xfrm>
          <a:prstGeom prst="rect">
            <a:avLst/>
          </a:prstGeom>
          <a:solidFill>
            <a:srgbClr val="B45309"/>
          </a:solidFill>
          <a:ln w="12700">
            <a:solidFill>
              <a:srgbClr val="333333"/>
            </a:solidFill>
            <a:prstDash val="solid"/>
          </a:ln>
        </p:spPr>
      </p:sp>
      <p:sp>
        <p:nvSpPr>
          <p:cNvPr id="24" name="Shape 22"/>
          <p:cNvSpPr/>
          <p:nvPr/>
        </p:nvSpPr>
        <p:spPr>
          <a:xfrm>
            <a:off x="566928" y="2249424"/>
            <a:ext cx="2377440" cy="566928"/>
          </a:xfrm>
          <a:prstGeom prst="rect">
            <a:avLst/>
          </a:prstGeom>
          <a:solidFill>
            <a:srgbClr val="F8FAFC"/>
          </a:solidFill>
          <a:ln w="12700">
            <a:solidFill>
              <a:srgbClr val="E2E8F0"/>
            </a:solidFill>
            <a:prstDash val="solid"/>
          </a:ln>
        </p:spPr>
      </p:sp>
      <p:sp>
        <p:nvSpPr>
          <p:cNvPr id="25" name="Text 23"/>
          <p:cNvSpPr/>
          <p:nvPr/>
        </p:nvSpPr>
        <p:spPr>
          <a:xfrm>
            <a:off x="694944" y="2249424"/>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Escalation design</a:t>
            </a:r>
            <a:endParaRPr lang="en-US" sz="1400" dirty="0"/>
          </a:p>
        </p:txBody>
      </p:sp>
      <p:sp>
        <p:nvSpPr>
          <p:cNvPr id="26" name="Shape 24"/>
          <p:cNvSpPr/>
          <p:nvPr/>
        </p:nvSpPr>
        <p:spPr>
          <a:xfrm>
            <a:off x="2944368" y="2249424"/>
            <a:ext cx="2286000" cy="566928"/>
          </a:xfrm>
          <a:prstGeom prst="rect">
            <a:avLst/>
          </a:prstGeom>
          <a:solidFill>
            <a:srgbClr val="F8FAFC"/>
          </a:solidFill>
          <a:ln w="12700">
            <a:solidFill>
              <a:srgbClr val="E2E8F0"/>
            </a:solidFill>
            <a:prstDash val="solid"/>
          </a:ln>
        </p:spPr>
      </p:sp>
      <p:sp>
        <p:nvSpPr>
          <p:cNvPr id="27" name="Text 25"/>
          <p:cNvSpPr/>
          <p:nvPr/>
        </p:nvSpPr>
        <p:spPr>
          <a:xfrm>
            <a:off x="3072384" y="2249424"/>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 AI cost per flight</a:t>
            </a:r>
            <a:endParaRPr lang="en-US" sz="1400" dirty="0"/>
          </a:p>
        </p:txBody>
      </p:sp>
      <p:sp>
        <p:nvSpPr>
          <p:cNvPr id="28" name="Shape 26"/>
          <p:cNvSpPr/>
          <p:nvPr/>
        </p:nvSpPr>
        <p:spPr>
          <a:xfrm>
            <a:off x="5230368" y="2249424"/>
            <a:ext cx="2926080" cy="566928"/>
          </a:xfrm>
          <a:prstGeom prst="rect">
            <a:avLst/>
          </a:prstGeom>
          <a:solidFill>
            <a:srgbClr val="F8FAFC"/>
          </a:solidFill>
          <a:ln w="12700">
            <a:solidFill>
              <a:srgbClr val="E2E8F0"/>
            </a:solidFill>
            <a:prstDash val="solid"/>
          </a:ln>
        </p:spPr>
      </p:sp>
      <p:sp>
        <p:nvSpPr>
          <p:cNvPr id="29" name="Text 27"/>
          <p:cNvSpPr/>
          <p:nvPr/>
        </p:nvSpPr>
        <p:spPr>
          <a:xfrm>
            <a:off x="5358384" y="2249424"/>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Depends on two models behaving as tested</a:t>
            </a:r>
            <a:endParaRPr lang="en-US" sz="1400" dirty="0"/>
          </a:p>
        </p:txBody>
      </p:sp>
      <p:sp>
        <p:nvSpPr>
          <p:cNvPr id="30" name="Shape 28"/>
          <p:cNvSpPr/>
          <p:nvPr/>
        </p:nvSpPr>
        <p:spPr>
          <a:xfrm>
            <a:off x="8156448" y="2249424"/>
            <a:ext cx="3465576" cy="566928"/>
          </a:xfrm>
          <a:prstGeom prst="rect">
            <a:avLst/>
          </a:prstGeom>
          <a:solidFill>
            <a:srgbClr val="F8FAFC"/>
          </a:solidFill>
          <a:ln w="12700">
            <a:solidFill>
              <a:srgbClr val="E2E8F0"/>
            </a:solidFill>
            <a:prstDash val="solid"/>
          </a:ln>
        </p:spPr>
      </p:sp>
      <p:sp>
        <p:nvSpPr>
          <p:cNvPr id="31" name="Text 29"/>
          <p:cNvSpPr/>
          <p:nvPr/>
        </p:nvSpPr>
        <p:spPr>
          <a:xfrm>
            <a:off x="8284464" y="2249424"/>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Hub can fall back to Jev alone, or to rules</a:t>
            </a:r>
            <a:endParaRPr lang="en-US" sz="1400" dirty="0"/>
          </a:p>
        </p:txBody>
      </p:sp>
      <p:sp>
        <p:nvSpPr>
          <p:cNvPr id="32" name="Shape 30"/>
          <p:cNvSpPr/>
          <p:nvPr/>
        </p:nvSpPr>
        <p:spPr>
          <a:xfrm>
            <a:off x="566928" y="2249424"/>
            <a:ext cx="64008" cy="566928"/>
          </a:xfrm>
          <a:prstGeom prst="rect">
            <a:avLst/>
          </a:prstGeom>
          <a:solidFill>
            <a:srgbClr val="B45309"/>
          </a:solidFill>
          <a:ln w="12700">
            <a:solidFill>
              <a:srgbClr val="333333"/>
            </a:solidFill>
            <a:prstDash val="solid"/>
          </a:ln>
        </p:spPr>
      </p:sp>
      <p:sp>
        <p:nvSpPr>
          <p:cNvPr id="33" name="Shape 31"/>
          <p:cNvSpPr/>
          <p:nvPr/>
        </p:nvSpPr>
        <p:spPr>
          <a:xfrm>
            <a:off x="566928" y="2816352"/>
            <a:ext cx="2377440" cy="566928"/>
          </a:xfrm>
          <a:prstGeom prst="rect">
            <a:avLst/>
          </a:prstGeom>
          <a:solidFill>
            <a:srgbClr val="FFFFFF"/>
          </a:solidFill>
          <a:ln w="12700">
            <a:solidFill>
              <a:srgbClr val="E2E8F0"/>
            </a:solidFill>
            <a:prstDash val="solid"/>
          </a:ln>
        </p:spPr>
      </p:sp>
      <p:sp>
        <p:nvSpPr>
          <p:cNvPr id="34" name="Text 32"/>
          <p:cNvSpPr/>
          <p:nvPr/>
        </p:nvSpPr>
        <p:spPr>
          <a:xfrm>
            <a:off x="694944" y="2816352"/>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Corridor, not a road</a:t>
            </a:r>
            <a:endParaRPr lang="en-US" sz="1400" dirty="0"/>
          </a:p>
        </p:txBody>
      </p:sp>
      <p:sp>
        <p:nvSpPr>
          <p:cNvPr id="35" name="Shape 33"/>
          <p:cNvSpPr/>
          <p:nvPr/>
        </p:nvSpPr>
        <p:spPr>
          <a:xfrm>
            <a:off x="2944368" y="2816352"/>
            <a:ext cx="2286000" cy="566928"/>
          </a:xfrm>
          <a:prstGeom prst="rect">
            <a:avLst/>
          </a:prstGeom>
          <a:solidFill>
            <a:srgbClr val="FFFFFF"/>
          </a:solidFill>
          <a:ln w="12700">
            <a:solidFill>
              <a:srgbClr val="E2E8F0"/>
            </a:solidFill>
            <a:prstDash val="solid"/>
          </a:ln>
        </p:spPr>
      </p:sp>
      <p:sp>
        <p:nvSpPr>
          <p:cNvPr id="36" name="Text 34"/>
          <p:cNvSpPr/>
          <p:nvPr/>
        </p:nvSpPr>
        <p:spPr>
          <a:xfrm>
            <a:off x="3072384" y="2816352"/>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Predictable arrival time</a:t>
            </a:r>
            <a:endParaRPr lang="en-US" sz="1400" dirty="0"/>
          </a:p>
        </p:txBody>
      </p:sp>
      <p:sp>
        <p:nvSpPr>
          <p:cNvPr id="37" name="Shape 35"/>
          <p:cNvSpPr/>
          <p:nvPr/>
        </p:nvSpPr>
        <p:spPr>
          <a:xfrm>
            <a:off x="5230368" y="2816352"/>
            <a:ext cx="2926080" cy="566928"/>
          </a:xfrm>
          <a:prstGeom prst="rect">
            <a:avLst/>
          </a:prstGeom>
          <a:solidFill>
            <a:srgbClr val="FFFFFF"/>
          </a:solidFill>
          <a:ln w="12700">
            <a:solidFill>
              <a:srgbClr val="E2E8F0"/>
            </a:solidFill>
            <a:prstDash val="solid"/>
          </a:ln>
        </p:spPr>
      </p:sp>
      <p:sp>
        <p:nvSpPr>
          <p:cNvPr id="38" name="Text 36"/>
          <p:cNvSpPr/>
          <p:nvPr/>
        </p:nvSpPr>
        <p:spPr>
          <a:xfrm>
            <a:off x="5358384" y="2816352"/>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Needs pads, and pads need permission</a:t>
            </a:r>
            <a:endParaRPr lang="en-US" sz="1400" dirty="0"/>
          </a:p>
        </p:txBody>
      </p:sp>
      <p:sp>
        <p:nvSpPr>
          <p:cNvPr id="39" name="Shape 37"/>
          <p:cNvSpPr/>
          <p:nvPr/>
        </p:nvSpPr>
        <p:spPr>
          <a:xfrm>
            <a:off x="8156448" y="2816352"/>
            <a:ext cx="3465576" cy="566928"/>
          </a:xfrm>
          <a:prstGeom prst="rect">
            <a:avLst/>
          </a:prstGeom>
          <a:solidFill>
            <a:srgbClr val="FFFFFF"/>
          </a:solidFill>
          <a:ln w="12700">
            <a:solidFill>
              <a:srgbClr val="E2E8F0"/>
            </a:solidFill>
            <a:prstDash val="solid"/>
          </a:ln>
        </p:spPr>
      </p:sp>
      <p:sp>
        <p:nvSpPr>
          <p:cNvPr id="40" name="Text 38"/>
          <p:cNvSpPr/>
          <p:nvPr/>
        </p:nvSpPr>
        <p:spPr>
          <a:xfrm>
            <a:off x="8284464" y="2816352"/>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Pilot corridor sized to the pad budget</a:t>
            </a:r>
            <a:endParaRPr lang="en-US" sz="1400" dirty="0"/>
          </a:p>
        </p:txBody>
      </p:sp>
      <p:sp>
        <p:nvSpPr>
          <p:cNvPr id="41" name="Shape 39"/>
          <p:cNvSpPr/>
          <p:nvPr/>
        </p:nvSpPr>
        <p:spPr>
          <a:xfrm>
            <a:off x="566928" y="2816352"/>
            <a:ext cx="64008" cy="566928"/>
          </a:xfrm>
          <a:prstGeom prst="rect">
            <a:avLst/>
          </a:prstGeom>
          <a:solidFill>
            <a:srgbClr val="B45309"/>
          </a:solidFill>
          <a:ln w="12700">
            <a:solidFill>
              <a:srgbClr val="333333"/>
            </a:solidFill>
            <a:prstDash val="solid"/>
          </a:ln>
        </p:spPr>
      </p:sp>
      <p:sp>
        <p:nvSpPr>
          <p:cNvPr id="42" name="Shape 40"/>
          <p:cNvSpPr/>
          <p:nvPr/>
        </p:nvSpPr>
        <p:spPr>
          <a:xfrm>
            <a:off x="566928" y="3383280"/>
            <a:ext cx="2377440" cy="566928"/>
          </a:xfrm>
          <a:prstGeom prst="rect">
            <a:avLst/>
          </a:prstGeom>
          <a:solidFill>
            <a:srgbClr val="F8FAFC"/>
          </a:solidFill>
          <a:ln w="12700">
            <a:solidFill>
              <a:srgbClr val="E2E8F0"/>
            </a:solidFill>
            <a:prstDash val="solid"/>
          </a:ln>
        </p:spPr>
      </p:sp>
      <p:sp>
        <p:nvSpPr>
          <p:cNvPr id="43" name="Text 41"/>
          <p:cNvSpPr/>
          <p:nvPr/>
        </p:nvSpPr>
        <p:spPr>
          <a:xfrm>
            <a:off x="694944" y="3383280"/>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based landing</a:t>
            </a:r>
            <a:endParaRPr lang="en-US" sz="1400" dirty="0"/>
          </a:p>
        </p:txBody>
      </p:sp>
      <p:sp>
        <p:nvSpPr>
          <p:cNvPr id="44" name="Shape 42"/>
          <p:cNvSpPr/>
          <p:nvPr/>
        </p:nvSpPr>
        <p:spPr>
          <a:xfrm>
            <a:off x="2944368" y="3383280"/>
            <a:ext cx="2286000" cy="566928"/>
          </a:xfrm>
          <a:prstGeom prst="rect">
            <a:avLst/>
          </a:prstGeom>
          <a:solidFill>
            <a:srgbClr val="F8FAFC"/>
          </a:solidFill>
          <a:ln w="12700">
            <a:solidFill>
              <a:srgbClr val="E2E8F0"/>
            </a:solidFill>
            <a:prstDash val="solid"/>
          </a:ln>
        </p:spPr>
      </p:sp>
      <p:sp>
        <p:nvSpPr>
          <p:cNvPr id="45" name="Text 43"/>
          <p:cNvSpPr/>
          <p:nvPr/>
        </p:nvSpPr>
        <p:spPr>
          <a:xfrm>
            <a:off x="3072384" y="3383280"/>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Delivery lands where we control</a:t>
            </a:r>
            <a:endParaRPr lang="en-US" sz="1400" dirty="0"/>
          </a:p>
        </p:txBody>
      </p:sp>
      <p:sp>
        <p:nvSpPr>
          <p:cNvPr id="46" name="Shape 44"/>
          <p:cNvSpPr/>
          <p:nvPr/>
        </p:nvSpPr>
        <p:spPr>
          <a:xfrm>
            <a:off x="5230368" y="3383280"/>
            <a:ext cx="2926080" cy="566928"/>
          </a:xfrm>
          <a:prstGeom prst="rect">
            <a:avLst/>
          </a:prstGeom>
          <a:solidFill>
            <a:srgbClr val="F8FAFC"/>
          </a:solidFill>
          <a:ln w="12700">
            <a:solidFill>
              <a:srgbClr val="E2E8F0"/>
            </a:solidFill>
            <a:prstDash val="solid"/>
          </a:ln>
        </p:spPr>
      </p:sp>
      <p:sp>
        <p:nvSpPr>
          <p:cNvPr id="47" name="Text 45"/>
          <p:cNvSpPr/>
          <p:nvPr/>
        </p:nvSpPr>
        <p:spPr>
          <a:xfrm>
            <a:off x="5358384" y="3383280"/>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owner can withdraw consent</a:t>
            </a:r>
            <a:endParaRPr lang="en-US" sz="1400" dirty="0"/>
          </a:p>
        </p:txBody>
      </p:sp>
      <p:sp>
        <p:nvSpPr>
          <p:cNvPr id="48" name="Shape 46"/>
          <p:cNvSpPr/>
          <p:nvPr/>
        </p:nvSpPr>
        <p:spPr>
          <a:xfrm>
            <a:off x="8156448" y="3383280"/>
            <a:ext cx="3465576" cy="566928"/>
          </a:xfrm>
          <a:prstGeom prst="rect">
            <a:avLst/>
          </a:prstGeom>
          <a:solidFill>
            <a:srgbClr val="F8FAFC"/>
          </a:solidFill>
          <a:ln w="12700">
            <a:solidFill>
              <a:srgbClr val="E2E8F0"/>
            </a:solidFill>
            <a:prstDash val="solid"/>
          </a:ln>
        </p:spPr>
      </p:sp>
      <p:sp>
        <p:nvSpPr>
          <p:cNvPr id="49" name="Text 47"/>
          <p:cNvSpPr/>
          <p:nvPr/>
        </p:nvSpPr>
        <p:spPr>
          <a:xfrm>
            <a:off x="8284464" y="3383280"/>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Contracts hold a minimum term and a removal clause</a:t>
            </a:r>
            <a:endParaRPr lang="en-US" sz="1400" dirty="0"/>
          </a:p>
        </p:txBody>
      </p:sp>
      <p:sp>
        <p:nvSpPr>
          <p:cNvPr id="50" name="Shape 48"/>
          <p:cNvSpPr/>
          <p:nvPr/>
        </p:nvSpPr>
        <p:spPr>
          <a:xfrm>
            <a:off x="566928" y="3383280"/>
            <a:ext cx="64008" cy="566928"/>
          </a:xfrm>
          <a:prstGeom prst="rect">
            <a:avLst/>
          </a:prstGeom>
          <a:solidFill>
            <a:srgbClr val="B45309"/>
          </a:solidFill>
          <a:ln w="12700">
            <a:solidFill>
              <a:srgbClr val="333333"/>
            </a:solidFill>
            <a:prstDash val="solid"/>
          </a:ln>
        </p:spPr>
      </p:sp>
      <p:sp>
        <p:nvSpPr>
          <p:cNvPr id="51" name="Shape 49"/>
          <p:cNvSpPr/>
          <p:nvPr/>
        </p:nvSpPr>
        <p:spPr>
          <a:xfrm>
            <a:off x="566928" y="3950208"/>
            <a:ext cx="2377440" cy="566928"/>
          </a:xfrm>
          <a:prstGeom prst="rect">
            <a:avLst/>
          </a:prstGeom>
          <a:solidFill>
            <a:srgbClr val="FFFFFF"/>
          </a:solidFill>
          <a:ln w="12700">
            <a:solidFill>
              <a:srgbClr val="E2E8F0"/>
            </a:solidFill>
            <a:prstDash val="solid"/>
          </a:ln>
        </p:spPr>
      </p:sp>
      <p:sp>
        <p:nvSpPr>
          <p:cNvPr id="52" name="Text 50"/>
          <p:cNvSpPr/>
          <p:nvPr/>
        </p:nvSpPr>
        <p:spPr>
          <a:xfrm>
            <a:off x="694944" y="3950208"/>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Local cost base</a:t>
            </a:r>
            <a:endParaRPr lang="en-US" sz="1400" dirty="0"/>
          </a:p>
        </p:txBody>
      </p:sp>
      <p:sp>
        <p:nvSpPr>
          <p:cNvPr id="53" name="Shape 51"/>
          <p:cNvSpPr/>
          <p:nvPr/>
        </p:nvSpPr>
        <p:spPr>
          <a:xfrm>
            <a:off x="2944368" y="3950208"/>
            <a:ext cx="2286000" cy="566928"/>
          </a:xfrm>
          <a:prstGeom prst="rect">
            <a:avLst/>
          </a:prstGeom>
          <a:solidFill>
            <a:srgbClr val="FFFFFF"/>
          </a:solidFill>
          <a:ln w="12700">
            <a:solidFill>
              <a:srgbClr val="E2E8F0"/>
            </a:solidFill>
            <a:prstDash val="solid"/>
          </a:ln>
        </p:spPr>
      </p:sp>
      <p:sp>
        <p:nvSpPr>
          <p:cNvPr id="54" name="Text 52"/>
          <p:cNvSpPr/>
          <p:nvPr/>
        </p:nvSpPr>
        <p:spPr>
          <a:xfrm>
            <a:off x="3072384" y="3950208"/>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Lower fixed cost in Rajshahi</a:t>
            </a:r>
            <a:endParaRPr lang="en-US" sz="1400" dirty="0"/>
          </a:p>
        </p:txBody>
      </p:sp>
      <p:sp>
        <p:nvSpPr>
          <p:cNvPr id="55" name="Shape 53"/>
          <p:cNvSpPr/>
          <p:nvPr/>
        </p:nvSpPr>
        <p:spPr>
          <a:xfrm>
            <a:off x="5230368" y="3950208"/>
            <a:ext cx="2926080" cy="566928"/>
          </a:xfrm>
          <a:prstGeom prst="rect">
            <a:avLst/>
          </a:prstGeom>
          <a:solidFill>
            <a:srgbClr val="FFFFFF"/>
          </a:solidFill>
          <a:ln w="12700">
            <a:solidFill>
              <a:srgbClr val="E2E8F0"/>
            </a:solidFill>
            <a:prstDash val="solid"/>
          </a:ln>
        </p:spPr>
      </p:sp>
      <p:sp>
        <p:nvSpPr>
          <p:cNvPr id="56" name="Text 54"/>
          <p:cNvSpPr/>
          <p:nvPr/>
        </p:nvSpPr>
        <p:spPr>
          <a:xfrm>
            <a:off x="5358384" y="3950208"/>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Thinner margin if volume is low</a:t>
            </a:r>
            <a:endParaRPr lang="en-US" sz="1400" dirty="0"/>
          </a:p>
        </p:txBody>
      </p:sp>
      <p:sp>
        <p:nvSpPr>
          <p:cNvPr id="57" name="Shape 55"/>
          <p:cNvSpPr/>
          <p:nvPr/>
        </p:nvSpPr>
        <p:spPr>
          <a:xfrm>
            <a:off x="8156448" y="3950208"/>
            <a:ext cx="3465576" cy="566928"/>
          </a:xfrm>
          <a:prstGeom prst="rect">
            <a:avLst/>
          </a:prstGeom>
          <a:solidFill>
            <a:srgbClr val="FFFFFF"/>
          </a:solidFill>
          <a:ln w="12700">
            <a:solidFill>
              <a:srgbClr val="E2E8F0"/>
            </a:solidFill>
            <a:prstDash val="solid"/>
          </a:ln>
        </p:spPr>
      </p:sp>
      <p:sp>
        <p:nvSpPr>
          <p:cNvPr id="58" name="Text 56"/>
          <p:cNvSpPr/>
          <p:nvPr/>
        </p:nvSpPr>
        <p:spPr>
          <a:xfrm>
            <a:off x="8284464" y="3950208"/>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Break even shown at three flights per aircraft</a:t>
            </a:r>
            <a:endParaRPr lang="en-US" sz="1400" dirty="0"/>
          </a:p>
        </p:txBody>
      </p:sp>
      <p:sp>
        <p:nvSpPr>
          <p:cNvPr id="59" name="Shape 57"/>
          <p:cNvSpPr/>
          <p:nvPr/>
        </p:nvSpPr>
        <p:spPr>
          <a:xfrm>
            <a:off x="566928" y="3950208"/>
            <a:ext cx="64008" cy="566928"/>
          </a:xfrm>
          <a:prstGeom prst="rect">
            <a:avLst/>
          </a:prstGeom>
          <a:solidFill>
            <a:srgbClr val="B45309"/>
          </a:solidFill>
          <a:ln w="12700">
            <a:solidFill>
              <a:srgbClr val="333333"/>
            </a:solidFill>
            <a:prstDash val="solid"/>
          </a:ln>
        </p:spPr>
      </p:sp>
      <p:sp>
        <p:nvSpPr>
          <p:cNvPr id="60" name="Shape 58"/>
          <p:cNvSpPr/>
          <p:nvPr/>
        </p:nvSpPr>
        <p:spPr>
          <a:xfrm>
            <a:off x="566928" y="4517136"/>
            <a:ext cx="2377440" cy="566928"/>
          </a:xfrm>
          <a:prstGeom prst="rect">
            <a:avLst/>
          </a:prstGeom>
          <a:solidFill>
            <a:srgbClr val="F8FAFC"/>
          </a:solidFill>
          <a:ln w="12700">
            <a:solidFill>
              <a:srgbClr val="E2E8F0"/>
            </a:solidFill>
            <a:prstDash val="solid"/>
          </a:ln>
        </p:spPr>
      </p:sp>
      <p:sp>
        <p:nvSpPr>
          <p:cNvPr id="61" name="Text 59"/>
          <p:cNvSpPr/>
          <p:nvPr/>
        </p:nvSpPr>
        <p:spPr>
          <a:xfrm>
            <a:off x="694944" y="4517136"/>
            <a:ext cx="2121408" cy="566928"/>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Founder operator access</a:t>
            </a:r>
            <a:endParaRPr lang="en-US" sz="1400" dirty="0"/>
          </a:p>
        </p:txBody>
      </p:sp>
      <p:sp>
        <p:nvSpPr>
          <p:cNvPr id="62" name="Shape 60"/>
          <p:cNvSpPr/>
          <p:nvPr/>
        </p:nvSpPr>
        <p:spPr>
          <a:xfrm>
            <a:off x="2944368" y="4517136"/>
            <a:ext cx="2286000" cy="566928"/>
          </a:xfrm>
          <a:prstGeom prst="rect">
            <a:avLst/>
          </a:prstGeom>
          <a:solidFill>
            <a:srgbClr val="F8FAFC"/>
          </a:solidFill>
          <a:ln w="12700">
            <a:solidFill>
              <a:srgbClr val="E2E8F0"/>
            </a:solidFill>
            <a:prstDash val="solid"/>
          </a:ln>
        </p:spPr>
      </p:sp>
      <p:sp>
        <p:nvSpPr>
          <p:cNvPr id="63" name="Text 61"/>
          <p:cNvSpPr/>
          <p:nvPr/>
        </p:nvSpPr>
        <p:spPr>
          <a:xfrm>
            <a:off x="3072384" y="4517136"/>
            <a:ext cx="202996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Fast decisions on corridor and pad design</a:t>
            </a:r>
            <a:endParaRPr lang="en-US" sz="1400" dirty="0"/>
          </a:p>
        </p:txBody>
      </p:sp>
      <p:sp>
        <p:nvSpPr>
          <p:cNvPr id="64" name="Shape 62"/>
          <p:cNvSpPr/>
          <p:nvPr/>
        </p:nvSpPr>
        <p:spPr>
          <a:xfrm>
            <a:off x="5230368" y="4517136"/>
            <a:ext cx="2926080" cy="566928"/>
          </a:xfrm>
          <a:prstGeom prst="rect">
            <a:avLst/>
          </a:prstGeom>
          <a:solidFill>
            <a:srgbClr val="F8FAFC"/>
          </a:solidFill>
          <a:ln w="12700">
            <a:solidFill>
              <a:srgbClr val="E2E8F0"/>
            </a:solidFill>
            <a:prstDash val="solid"/>
          </a:ln>
        </p:spPr>
      </p:sp>
      <p:sp>
        <p:nvSpPr>
          <p:cNvPr id="65" name="Text 63"/>
          <p:cNvSpPr/>
          <p:nvPr/>
        </p:nvSpPr>
        <p:spPr>
          <a:xfrm>
            <a:off x="5358384" y="4517136"/>
            <a:ext cx="2670048"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Key person risk across eight founders</a:t>
            </a:r>
            <a:endParaRPr lang="en-US" sz="1400" dirty="0"/>
          </a:p>
        </p:txBody>
      </p:sp>
      <p:sp>
        <p:nvSpPr>
          <p:cNvPr id="66" name="Shape 64"/>
          <p:cNvSpPr/>
          <p:nvPr/>
        </p:nvSpPr>
        <p:spPr>
          <a:xfrm>
            <a:off x="8156448" y="4517136"/>
            <a:ext cx="3465576" cy="566928"/>
          </a:xfrm>
          <a:prstGeom prst="rect">
            <a:avLst/>
          </a:prstGeom>
          <a:solidFill>
            <a:srgbClr val="F8FAFC"/>
          </a:solidFill>
          <a:ln w="12700">
            <a:solidFill>
              <a:srgbClr val="E2E8F0"/>
            </a:solidFill>
            <a:prstDash val="solid"/>
          </a:ln>
        </p:spPr>
      </p:sp>
      <p:sp>
        <p:nvSpPr>
          <p:cNvPr id="67" name="Text 65"/>
          <p:cNvSpPr/>
          <p:nvPr/>
        </p:nvSpPr>
        <p:spPr>
          <a:xfrm>
            <a:off x="8284464" y="4517136"/>
            <a:ext cx="3209544" cy="566928"/>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Every critical process has a written owner</a:t>
            </a:r>
            <a:endParaRPr lang="en-US" sz="1400" dirty="0"/>
          </a:p>
        </p:txBody>
      </p:sp>
      <p:sp>
        <p:nvSpPr>
          <p:cNvPr id="68" name="Shape 66"/>
          <p:cNvSpPr/>
          <p:nvPr/>
        </p:nvSpPr>
        <p:spPr>
          <a:xfrm>
            <a:off x="566928" y="4517136"/>
            <a:ext cx="64008" cy="566928"/>
          </a:xfrm>
          <a:prstGeom prst="rect">
            <a:avLst/>
          </a:prstGeom>
          <a:solidFill>
            <a:srgbClr val="B45309"/>
          </a:solidFill>
          <a:ln w="12700">
            <a:solidFill>
              <a:srgbClr val="333333"/>
            </a:solidFill>
            <a:prstDash val="solid"/>
          </a:ln>
        </p:spPr>
      </p:sp>
      <p:sp>
        <p:nvSpPr>
          <p:cNvPr id="69" name="Text 67"/>
          <p:cNvSpPr/>
          <p:nvPr/>
        </p:nvSpPr>
        <p:spPr>
          <a:xfrm>
            <a:off x="566928" y="5230368"/>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A strength without a limit is optimism. Every one of ours has a named condition attached.</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External Opportunities and Threats</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SWOT external analysis</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The regulator is the largest single factor in this business.</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29</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External opportunities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Demand and conditions already moving in our favour</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30</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1316736"/>
          </a:xfrm>
          <a:prstGeom prst="rect">
            <a:avLst/>
          </a:prstGeom>
          <a:solidFill>
            <a:srgbClr val="166534"/>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A measured road problem</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74 minutes for a trip a drone flies in six, across 1.4 million daily journeys</a:t>
            </a:r>
            <a:endParaRPr lang="en-US" sz="1400" dirty="0"/>
          </a:p>
        </p:txBody>
      </p:sp>
      <p:sp>
        <p:nvSpPr>
          <p:cNvPr id="11" name="Shape 9"/>
          <p:cNvSpPr/>
          <p:nvPr/>
        </p:nvSpPr>
        <p:spPr>
          <a:xfrm>
            <a:off x="6242152" y="129844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6242152" y="1298448"/>
            <a:ext cx="73152" cy="1316736"/>
          </a:xfrm>
          <a:prstGeom prst="rect">
            <a:avLst/>
          </a:prstGeom>
          <a:solidFill>
            <a:srgbClr val="166534"/>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Delivery demand compounding</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Platform orders grew sharply through 2024 and 2025, and the ceiling is not in sight</a:t>
            </a:r>
            <a:endParaRPr lang="en-US" sz="1400" dirty="0"/>
          </a:p>
        </p:txBody>
      </p:sp>
      <p:sp>
        <p:nvSpPr>
          <p:cNvPr id="15" name="Shape 13"/>
          <p:cNvSpPr/>
          <p:nvPr/>
        </p:nvSpPr>
        <p:spPr>
          <a:xfrm>
            <a:off x="566928" y="276148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761488"/>
            <a:ext cx="73152" cy="1316736"/>
          </a:xfrm>
          <a:prstGeom prst="rect">
            <a:avLst/>
          </a:prstGeom>
          <a:solidFill>
            <a:srgbClr val="166534"/>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Bangladesh is ready for drone policy</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National Drone Policy 2026 framework exists, so the conversation can start</a:t>
            </a:r>
            <a:endParaRPr lang="en-US" sz="1400" dirty="0"/>
          </a:p>
        </p:txBody>
      </p:sp>
      <p:sp>
        <p:nvSpPr>
          <p:cNvPr id="19" name="Shape 17"/>
          <p:cNvSpPr/>
          <p:nvPr/>
        </p:nvSpPr>
        <p:spPr>
          <a:xfrm>
            <a:off x="6242152" y="276148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6242152" y="2761488"/>
            <a:ext cx="73152" cy="1316736"/>
          </a:xfrm>
          <a:prstGeom prst="rect">
            <a:avLst/>
          </a:prstGeom>
          <a:solidFill>
            <a:srgbClr val="166534"/>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Unreliable last mile</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Low rider availability in peripheral areas leaves demand that roads cannot serve</a:t>
            </a:r>
            <a:endParaRPr lang="en-US" sz="1400" dirty="0"/>
          </a:p>
        </p:txBody>
      </p:sp>
      <p:sp>
        <p:nvSpPr>
          <p:cNvPr id="23" name="Shape 21"/>
          <p:cNvSpPr/>
          <p:nvPr/>
        </p:nvSpPr>
        <p:spPr>
          <a:xfrm>
            <a:off x="566928" y="422452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224528"/>
            <a:ext cx="73152" cy="1316736"/>
          </a:xfrm>
          <a:prstGeom prst="rect">
            <a:avLst/>
          </a:prstGeom>
          <a:solidFill>
            <a:srgbClr val="166534"/>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Pad and rooftop space</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Terraced housing in both cities suits a pad model better than a tower block city</a:t>
            </a:r>
            <a:endParaRPr lang="en-US" sz="1400" dirty="0"/>
          </a:p>
        </p:txBody>
      </p:sp>
      <p:sp>
        <p:nvSpPr>
          <p:cNvPr id="27" name="Shape 25"/>
          <p:cNvSpPr/>
          <p:nvPr/>
        </p:nvSpPr>
        <p:spPr>
          <a:xfrm>
            <a:off x="6242152" y="4224528"/>
            <a:ext cx="5382616" cy="1316736"/>
          </a:xfrm>
          <a:prstGeom prst="roundRect">
            <a:avLst>
              <a:gd name="adj" fmla="val 3472"/>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6242152" y="4224528"/>
            <a:ext cx="73152" cy="1316736"/>
          </a:xfrm>
          <a:prstGeom prst="rect">
            <a:avLst/>
          </a:prstGeom>
          <a:solidFill>
            <a:srgbClr val="166534"/>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Corporate and NGO demand</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Medical and blood runs already travel by road at high cost and low speed</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External threats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Two of these can end the business on their own</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31</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1316736"/>
          </a:xfrm>
          <a:prstGeom prst="rect">
            <a:avLst/>
          </a:prstGeom>
          <a:solidFill>
            <a:srgbClr val="800020"/>
          </a:solidFill>
          <a:ln w="12700">
            <a:solidFill>
              <a:srgbClr val="333333"/>
            </a:solidFill>
            <a:prstDash val="solid"/>
          </a:ln>
        </p:spPr>
      </p:sp>
      <p:sp>
        <p:nvSpPr>
          <p:cNvPr id="9" name="Text 7"/>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CAAB refuses permission</a:t>
            </a:r>
            <a:endParaRPr lang="en-US" sz="1600" dirty="0"/>
          </a:p>
        </p:txBody>
      </p:sp>
      <p:sp>
        <p:nvSpPr>
          <p:cNvPr id="10" name="Text 8"/>
          <p:cNvSpPr/>
          <p:nvPr/>
        </p:nvSpPr>
        <p:spPr>
          <a:xfrm>
            <a:off x="786384"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No approval means no flights, and a hardware business with no revenue</a:t>
            </a:r>
            <a:endParaRPr lang="en-US" sz="1400" dirty="0"/>
          </a:p>
        </p:txBody>
      </p:sp>
      <p:sp>
        <p:nvSpPr>
          <p:cNvPr id="11" name="Shape 9"/>
          <p:cNvSpPr/>
          <p:nvPr/>
        </p:nvSpPr>
        <p:spPr>
          <a:xfrm>
            <a:off x="6242152" y="129844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6242152" y="1298448"/>
            <a:ext cx="73152" cy="1316736"/>
          </a:xfrm>
          <a:prstGeom prst="rect">
            <a:avLst/>
          </a:prstGeom>
          <a:solidFill>
            <a:srgbClr val="800020"/>
          </a:solidFill>
          <a:ln w="12700">
            <a:solidFill>
              <a:srgbClr val="333333"/>
            </a:solidFill>
            <a:prstDash val="solid"/>
          </a:ln>
        </p:spPr>
      </p:sp>
      <p:sp>
        <p:nvSpPr>
          <p:cNvPr id="13" name="Text 11"/>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Platform price response</a:t>
            </a:r>
            <a:endParaRPr lang="en-US" sz="1600" dirty="0"/>
          </a:p>
        </p:txBody>
      </p:sp>
      <p:sp>
        <p:nvSpPr>
          <p:cNvPr id="14" name="Text 12"/>
          <p:cNvSpPr/>
          <p:nvPr/>
        </p:nvSpPr>
        <p:spPr>
          <a:xfrm>
            <a:off x="6461608" y="175564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Pathao and foodpanda can subsidise delivery below our cost</a:t>
            </a:r>
            <a:endParaRPr lang="en-US" sz="1400" dirty="0"/>
          </a:p>
        </p:txBody>
      </p:sp>
      <p:sp>
        <p:nvSpPr>
          <p:cNvPr id="15" name="Shape 13"/>
          <p:cNvSpPr/>
          <p:nvPr/>
        </p:nvSpPr>
        <p:spPr>
          <a:xfrm>
            <a:off x="566928"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761488"/>
            <a:ext cx="73152" cy="1316736"/>
          </a:xfrm>
          <a:prstGeom prst="rect">
            <a:avLst/>
          </a:prstGeom>
          <a:solidFill>
            <a:srgbClr val="800020"/>
          </a:solidFill>
          <a:ln w="12700">
            <a:solidFill>
              <a:srgbClr val="333333"/>
            </a:solidFill>
            <a:prstDash val="solid"/>
          </a:ln>
        </p:spPr>
      </p:sp>
      <p:sp>
        <p:nvSpPr>
          <p:cNvPr id="17" name="Text 15"/>
          <p:cNvSpPr/>
          <p:nvPr/>
        </p:nvSpPr>
        <p:spPr>
          <a:xfrm>
            <a:off x="786384" y="287121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Airspace conflict</a:t>
            </a:r>
            <a:endParaRPr lang="en-US" sz="1600" dirty="0"/>
          </a:p>
        </p:txBody>
      </p:sp>
      <p:sp>
        <p:nvSpPr>
          <p:cNvPr id="18" name="Text 16"/>
          <p:cNvSpPr/>
          <p:nvPr/>
        </p:nvSpPr>
        <p:spPr>
          <a:xfrm>
            <a:off x="786384"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Military, police and utility corridors constrain where a corridor can go</a:t>
            </a:r>
            <a:endParaRPr lang="en-US" sz="1400" dirty="0"/>
          </a:p>
        </p:txBody>
      </p:sp>
      <p:sp>
        <p:nvSpPr>
          <p:cNvPr id="19" name="Shape 17"/>
          <p:cNvSpPr/>
          <p:nvPr/>
        </p:nvSpPr>
        <p:spPr>
          <a:xfrm>
            <a:off x="6242152" y="276148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6242152" y="2761488"/>
            <a:ext cx="73152" cy="1316736"/>
          </a:xfrm>
          <a:prstGeom prst="rect">
            <a:avLst/>
          </a:prstGeom>
          <a:solidFill>
            <a:srgbClr val="800020"/>
          </a:solidFill>
          <a:ln w="12700">
            <a:solidFill>
              <a:srgbClr val="333333"/>
            </a:solidFill>
            <a:prstDash val="solid"/>
          </a:ln>
        </p:spPr>
      </p:sp>
      <p:sp>
        <p:nvSpPr>
          <p:cNvPr id="21" name="Text 19"/>
          <p:cNvSpPr/>
          <p:nvPr/>
        </p:nvSpPr>
        <p:spPr>
          <a:xfrm>
            <a:off x="6461608" y="287121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Monsoon shutdown</a:t>
            </a:r>
            <a:endParaRPr lang="en-US" sz="1600" dirty="0"/>
          </a:p>
        </p:txBody>
      </p:sp>
      <p:sp>
        <p:nvSpPr>
          <p:cNvPr id="22" name="Text 20"/>
          <p:cNvSpPr/>
          <p:nvPr/>
        </p:nvSpPr>
        <p:spPr>
          <a:xfrm>
            <a:off x="6461608" y="321868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The worst month for air is also the worst month for road demand</a:t>
            </a:r>
            <a:endParaRPr lang="en-US" sz="1400" dirty="0"/>
          </a:p>
        </p:txBody>
      </p:sp>
      <p:sp>
        <p:nvSpPr>
          <p:cNvPr id="23" name="Shape 21"/>
          <p:cNvSpPr/>
          <p:nvPr/>
        </p:nvSpPr>
        <p:spPr>
          <a:xfrm>
            <a:off x="566928"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224528"/>
            <a:ext cx="73152" cy="1316736"/>
          </a:xfrm>
          <a:prstGeom prst="rect">
            <a:avLst/>
          </a:prstGeom>
          <a:solidFill>
            <a:srgbClr val="800020"/>
          </a:solidFill>
          <a:ln w="12700">
            <a:solidFill>
              <a:srgbClr val="333333"/>
            </a:solidFill>
            <a:prstDash val="solid"/>
          </a:ln>
        </p:spPr>
      </p:sp>
      <p:sp>
        <p:nvSpPr>
          <p:cNvPr id="25" name="Text 23"/>
          <p:cNvSpPr/>
          <p:nvPr/>
        </p:nvSpPr>
        <p:spPr>
          <a:xfrm>
            <a:off x="786384" y="433425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Public safety incident</a:t>
            </a:r>
            <a:endParaRPr lang="en-US" sz="1600" dirty="0"/>
          </a:p>
        </p:txBody>
      </p:sp>
      <p:sp>
        <p:nvSpPr>
          <p:cNvPr id="26" name="Text 24"/>
          <p:cNvSpPr/>
          <p:nvPr/>
        </p:nvSpPr>
        <p:spPr>
          <a:xfrm>
            <a:off x="786384"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One accident ends the conversation with the regulator</a:t>
            </a:r>
            <a:endParaRPr lang="en-US" sz="1400" dirty="0"/>
          </a:p>
        </p:txBody>
      </p:sp>
      <p:sp>
        <p:nvSpPr>
          <p:cNvPr id="27" name="Shape 25"/>
          <p:cNvSpPr/>
          <p:nvPr/>
        </p:nvSpPr>
        <p:spPr>
          <a:xfrm>
            <a:off x="6242152" y="4224528"/>
            <a:ext cx="5382616" cy="1316736"/>
          </a:xfrm>
          <a:prstGeom prst="roundRect">
            <a:avLst>
              <a:gd name="adj" fmla="val 347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6242152" y="4224528"/>
            <a:ext cx="73152" cy="1316736"/>
          </a:xfrm>
          <a:prstGeom prst="rect">
            <a:avLst/>
          </a:prstGeom>
          <a:solidFill>
            <a:srgbClr val="800020"/>
          </a:solidFill>
          <a:ln w="12700">
            <a:solidFill>
              <a:srgbClr val="333333"/>
            </a:solidFill>
            <a:prstDash val="solid"/>
          </a:ln>
        </p:spPr>
      </p:sp>
      <p:sp>
        <p:nvSpPr>
          <p:cNvPr id="29" name="Text 27"/>
          <p:cNvSpPr/>
          <p:nvPr/>
        </p:nvSpPr>
        <p:spPr>
          <a:xfrm>
            <a:off x="6461608" y="433425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Liability exposure</a:t>
            </a:r>
            <a:endParaRPr lang="en-US" sz="1600" dirty="0"/>
          </a:p>
        </p:txBody>
      </p:sp>
      <p:sp>
        <p:nvSpPr>
          <p:cNvPr id="30" name="Text 28"/>
          <p:cNvSpPr/>
          <p:nvPr/>
        </p:nvSpPr>
        <p:spPr>
          <a:xfrm>
            <a:off x="6461608" y="4681728"/>
            <a:ext cx="4998568"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Damage on a third party roof is a legal question we have not settled</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8. External Opportunities and Threats</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Every threat has an owner and a trigger</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A threat without both is a worry, not a risk</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32</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651760" cy="384048"/>
          </a:xfrm>
          <a:prstGeom prst="rect">
            <a:avLst/>
          </a:prstGeom>
          <a:solidFill>
            <a:srgbClr val="0F172A"/>
          </a:solidFill>
          <a:ln w="12700">
            <a:solidFill>
              <a:srgbClr val="333333"/>
            </a:solidFill>
            <a:prstDash val="solid"/>
          </a:ln>
        </p:spPr>
      </p:sp>
      <p:sp>
        <p:nvSpPr>
          <p:cNvPr id="8" name="Text 6"/>
          <p:cNvSpPr/>
          <p:nvPr/>
        </p:nvSpPr>
        <p:spPr>
          <a:xfrm>
            <a:off x="694944" y="1298448"/>
            <a:ext cx="23957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Threat</a:t>
            </a:r>
            <a:endParaRPr lang="en-US" sz="1400" dirty="0"/>
          </a:p>
        </p:txBody>
      </p:sp>
      <p:sp>
        <p:nvSpPr>
          <p:cNvPr id="9" name="Shape 7"/>
          <p:cNvSpPr/>
          <p:nvPr/>
        </p:nvSpPr>
        <p:spPr>
          <a:xfrm>
            <a:off x="3218688" y="1298448"/>
            <a:ext cx="1371600" cy="384048"/>
          </a:xfrm>
          <a:prstGeom prst="rect">
            <a:avLst/>
          </a:prstGeom>
          <a:solidFill>
            <a:srgbClr val="0F172A"/>
          </a:solidFill>
          <a:ln w="12700">
            <a:solidFill>
              <a:srgbClr val="333333"/>
            </a:solidFill>
            <a:prstDash val="solid"/>
          </a:ln>
        </p:spPr>
      </p:sp>
      <p:sp>
        <p:nvSpPr>
          <p:cNvPr id="10" name="Text 8"/>
          <p:cNvSpPr/>
          <p:nvPr/>
        </p:nvSpPr>
        <p:spPr>
          <a:xfrm>
            <a:off x="3346704" y="1298448"/>
            <a:ext cx="11155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Severity</a:t>
            </a:r>
            <a:endParaRPr lang="en-US" sz="1400" dirty="0"/>
          </a:p>
        </p:txBody>
      </p:sp>
      <p:sp>
        <p:nvSpPr>
          <p:cNvPr id="11" name="Shape 9"/>
          <p:cNvSpPr/>
          <p:nvPr/>
        </p:nvSpPr>
        <p:spPr>
          <a:xfrm>
            <a:off x="459028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471830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Owner</a:t>
            </a:r>
            <a:endParaRPr lang="en-US" sz="1400" dirty="0"/>
          </a:p>
        </p:txBody>
      </p:sp>
      <p:sp>
        <p:nvSpPr>
          <p:cNvPr id="13" name="Shape 11"/>
          <p:cNvSpPr/>
          <p:nvPr/>
        </p:nvSpPr>
        <p:spPr>
          <a:xfrm>
            <a:off x="7516368" y="1298448"/>
            <a:ext cx="4105656" cy="384048"/>
          </a:xfrm>
          <a:prstGeom prst="rect">
            <a:avLst/>
          </a:prstGeom>
          <a:solidFill>
            <a:srgbClr val="0F172A"/>
          </a:solidFill>
          <a:ln w="12700">
            <a:solidFill>
              <a:srgbClr val="333333"/>
            </a:solidFill>
            <a:prstDash val="solid"/>
          </a:ln>
        </p:spPr>
      </p:sp>
      <p:sp>
        <p:nvSpPr>
          <p:cNvPr id="14" name="Text 12"/>
          <p:cNvSpPr/>
          <p:nvPr/>
        </p:nvSpPr>
        <p:spPr>
          <a:xfrm>
            <a:off x="7644384" y="1298448"/>
            <a:ext cx="384962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Trigger we watch</a:t>
            </a:r>
            <a:endParaRPr lang="en-US" sz="1400" dirty="0"/>
          </a:p>
        </p:txBody>
      </p:sp>
      <p:sp>
        <p:nvSpPr>
          <p:cNvPr id="15" name="Shape 13"/>
          <p:cNvSpPr/>
          <p:nvPr/>
        </p:nvSpPr>
        <p:spPr>
          <a:xfrm>
            <a:off x="566928" y="1682496"/>
            <a:ext cx="2651760" cy="457200"/>
          </a:xfrm>
          <a:prstGeom prst="rect">
            <a:avLst/>
          </a:prstGeom>
          <a:solidFill>
            <a:srgbClr val="FFFFFF"/>
          </a:solidFill>
          <a:ln w="12700">
            <a:solidFill>
              <a:srgbClr val="E2E8F0"/>
            </a:solidFill>
            <a:prstDash val="solid"/>
          </a:ln>
        </p:spPr>
      </p:sp>
      <p:sp>
        <p:nvSpPr>
          <p:cNvPr id="16" name="Text 14"/>
          <p:cNvSpPr/>
          <p:nvPr/>
        </p:nvSpPr>
        <p:spPr>
          <a:xfrm>
            <a:off x="694944" y="16824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CAAB refusal</a:t>
            </a:r>
            <a:endParaRPr lang="en-US" sz="1400" dirty="0"/>
          </a:p>
        </p:txBody>
      </p:sp>
      <p:sp>
        <p:nvSpPr>
          <p:cNvPr id="17" name="Shape 15"/>
          <p:cNvSpPr/>
          <p:nvPr/>
        </p:nvSpPr>
        <p:spPr>
          <a:xfrm>
            <a:off x="3218688" y="1682496"/>
            <a:ext cx="1371600" cy="457200"/>
          </a:xfrm>
          <a:prstGeom prst="rect">
            <a:avLst/>
          </a:prstGeom>
          <a:solidFill>
            <a:srgbClr val="FFFFFF"/>
          </a:solidFill>
          <a:ln w="12700">
            <a:solidFill>
              <a:srgbClr val="E2E8F0"/>
            </a:solidFill>
            <a:prstDash val="solid"/>
          </a:ln>
        </p:spPr>
      </p:sp>
      <p:sp>
        <p:nvSpPr>
          <p:cNvPr id="18" name="Text 16"/>
          <p:cNvSpPr/>
          <p:nvPr/>
        </p:nvSpPr>
        <p:spPr>
          <a:xfrm>
            <a:off x="3346704" y="16824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19" name="Shape 17"/>
          <p:cNvSpPr/>
          <p:nvPr/>
        </p:nvSpPr>
        <p:spPr>
          <a:xfrm>
            <a:off x="4590288" y="1682496"/>
            <a:ext cx="2926080" cy="457200"/>
          </a:xfrm>
          <a:prstGeom prst="rect">
            <a:avLst/>
          </a:prstGeom>
          <a:solidFill>
            <a:srgbClr val="FFFFFF"/>
          </a:solidFill>
          <a:ln w="12700">
            <a:solidFill>
              <a:srgbClr val="E2E8F0"/>
            </a:solidFill>
            <a:prstDash val="solid"/>
          </a:ln>
        </p:spPr>
      </p:sp>
      <p:sp>
        <p:nvSpPr>
          <p:cNvPr id="20" name="Text 18"/>
          <p:cNvSpPr/>
          <p:nvPr/>
        </p:nvSpPr>
        <p:spPr>
          <a:xfrm>
            <a:off x="4718304" y="16824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Founder and CAAB liaison</a:t>
            </a:r>
            <a:endParaRPr lang="en-US" sz="1400" dirty="0"/>
          </a:p>
        </p:txBody>
      </p:sp>
      <p:sp>
        <p:nvSpPr>
          <p:cNvPr id="21" name="Shape 19"/>
          <p:cNvSpPr/>
          <p:nvPr/>
        </p:nvSpPr>
        <p:spPr>
          <a:xfrm>
            <a:off x="7516368" y="1682496"/>
            <a:ext cx="4105656" cy="457200"/>
          </a:xfrm>
          <a:prstGeom prst="rect">
            <a:avLst/>
          </a:prstGeom>
          <a:solidFill>
            <a:srgbClr val="FFFFFF"/>
          </a:solidFill>
          <a:ln w="12700">
            <a:solidFill>
              <a:srgbClr val="E2E8F0"/>
            </a:solidFill>
            <a:prstDash val="solid"/>
          </a:ln>
        </p:spPr>
      </p:sp>
      <p:sp>
        <p:nvSpPr>
          <p:cNvPr id="22" name="Text 20"/>
          <p:cNvSpPr/>
          <p:nvPr/>
        </p:nvSpPr>
        <p:spPr>
          <a:xfrm>
            <a:off x="7644384" y="16824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Written refusal, or silence past 90 days</a:t>
            </a:r>
            <a:endParaRPr lang="en-US" sz="1400" dirty="0"/>
          </a:p>
        </p:txBody>
      </p:sp>
      <p:sp>
        <p:nvSpPr>
          <p:cNvPr id="23" name="Shape 21"/>
          <p:cNvSpPr/>
          <p:nvPr/>
        </p:nvSpPr>
        <p:spPr>
          <a:xfrm>
            <a:off x="566928" y="1682496"/>
            <a:ext cx="64008" cy="457200"/>
          </a:xfrm>
          <a:prstGeom prst="rect">
            <a:avLst/>
          </a:prstGeom>
          <a:solidFill>
            <a:srgbClr val="800020"/>
          </a:solidFill>
          <a:ln w="12700">
            <a:solidFill>
              <a:srgbClr val="333333"/>
            </a:solidFill>
            <a:prstDash val="solid"/>
          </a:ln>
        </p:spPr>
      </p:sp>
      <p:sp>
        <p:nvSpPr>
          <p:cNvPr id="24" name="Shape 22"/>
          <p:cNvSpPr/>
          <p:nvPr/>
        </p:nvSpPr>
        <p:spPr>
          <a:xfrm>
            <a:off x="566928" y="2139696"/>
            <a:ext cx="2651760" cy="457200"/>
          </a:xfrm>
          <a:prstGeom prst="rect">
            <a:avLst/>
          </a:prstGeom>
          <a:solidFill>
            <a:srgbClr val="F8FAFC"/>
          </a:solidFill>
          <a:ln w="12700">
            <a:solidFill>
              <a:srgbClr val="E2E8F0"/>
            </a:solidFill>
            <a:prstDash val="solid"/>
          </a:ln>
        </p:spPr>
      </p:sp>
      <p:sp>
        <p:nvSpPr>
          <p:cNvPr id="25" name="Text 23"/>
          <p:cNvSpPr/>
          <p:nvPr/>
        </p:nvSpPr>
        <p:spPr>
          <a:xfrm>
            <a:off x="694944" y="21396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Price response</a:t>
            </a:r>
            <a:endParaRPr lang="en-US" sz="1400" dirty="0"/>
          </a:p>
        </p:txBody>
      </p:sp>
      <p:sp>
        <p:nvSpPr>
          <p:cNvPr id="26" name="Shape 24"/>
          <p:cNvSpPr/>
          <p:nvPr/>
        </p:nvSpPr>
        <p:spPr>
          <a:xfrm>
            <a:off x="3218688" y="2139696"/>
            <a:ext cx="1371600" cy="457200"/>
          </a:xfrm>
          <a:prstGeom prst="rect">
            <a:avLst/>
          </a:prstGeom>
          <a:solidFill>
            <a:srgbClr val="F8FAFC"/>
          </a:solidFill>
          <a:ln w="12700">
            <a:solidFill>
              <a:srgbClr val="E2E8F0"/>
            </a:solidFill>
            <a:prstDash val="solid"/>
          </a:ln>
        </p:spPr>
      </p:sp>
      <p:sp>
        <p:nvSpPr>
          <p:cNvPr id="27" name="Text 25"/>
          <p:cNvSpPr/>
          <p:nvPr/>
        </p:nvSpPr>
        <p:spPr>
          <a:xfrm>
            <a:off x="3346704" y="21396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28" name="Shape 26"/>
          <p:cNvSpPr/>
          <p:nvPr/>
        </p:nvSpPr>
        <p:spPr>
          <a:xfrm>
            <a:off x="4590288" y="2139696"/>
            <a:ext cx="2926080" cy="457200"/>
          </a:xfrm>
          <a:prstGeom prst="rect">
            <a:avLst/>
          </a:prstGeom>
          <a:solidFill>
            <a:srgbClr val="F8FAFC"/>
          </a:solidFill>
          <a:ln w="12700">
            <a:solidFill>
              <a:srgbClr val="E2E8F0"/>
            </a:solidFill>
            <a:prstDash val="solid"/>
          </a:ln>
        </p:spPr>
      </p:sp>
      <p:sp>
        <p:nvSpPr>
          <p:cNvPr id="29" name="Text 27"/>
          <p:cNvSpPr/>
          <p:nvPr/>
        </p:nvSpPr>
        <p:spPr>
          <a:xfrm>
            <a:off x="4718304" y="21396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Head of partnerships</a:t>
            </a:r>
            <a:endParaRPr lang="en-US" sz="1400" dirty="0"/>
          </a:p>
        </p:txBody>
      </p:sp>
      <p:sp>
        <p:nvSpPr>
          <p:cNvPr id="30" name="Shape 28"/>
          <p:cNvSpPr/>
          <p:nvPr/>
        </p:nvSpPr>
        <p:spPr>
          <a:xfrm>
            <a:off x="7516368" y="2139696"/>
            <a:ext cx="4105656" cy="457200"/>
          </a:xfrm>
          <a:prstGeom prst="rect">
            <a:avLst/>
          </a:prstGeom>
          <a:solidFill>
            <a:srgbClr val="F8FAFC"/>
          </a:solidFill>
          <a:ln w="12700">
            <a:solidFill>
              <a:srgbClr val="E2E8F0"/>
            </a:solidFill>
            <a:prstDash val="solid"/>
          </a:ln>
        </p:spPr>
      </p:sp>
      <p:sp>
        <p:nvSpPr>
          <p:cNvPr id="31" name="Text 29"/>
          <p:cNvSpPr/>
          <p:nvPr/>
        </p:nvSpPr>
        <p:spPr>
          <a:xfrm>
            <a:off x="7644384" y="21396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Platform fee cut below Tk 40 on our corridor</a:t>
            </a:r>
            <a:endParaRPr lang="en-US" sz="1400" dirty="0"/>
          </a:p>
        </p:txBody>
      </p:sp>
      <p:sp>
        <p:nvSpPr>
          <p:cNvPr id="32" name="Shape 30"/>
          <p:cNvSpPr/>
          <p:nvPr/>
        </p:nvSpPr>
        <p:spPr>
          <a:xfrm>
            <a:off x="566928" y="2139696"/>
            <a:ext cx="64008" cy="457200"/>
          </a:xfrm>
          <a:prstGeom prst="rect">
            <a:avLst/>
          </a:prstGeom>
          <a:solidFill>
            <a:srgbClr val="B45309"/>
          </a:solidFill>
          <a:ln w="12700">
            <a:solidFill>
              <a:srgbClr val="333333"/>
            </a:solidFill>
            <a:prstDash val="solid"/>
          </a:ln>
        </p:spPr>
      </p:sp>
      <p:sp>
        <p:nvSpPr>
          <p:cNvPr id="33" name="Shape 31"/>
          <p:cNvSpPr/>
          <p:nvPr/>
        </p:nvSpPr>
        <p:spPr>
          <a:xfrm>
            <a:off x="566928" y="2596896"/>
            <a:ext cx="2651760" cy="457200"/>
          </a:xfrm>
          <a:prstGeom prst="rect">
            <a:avLst/>
          </a:prstGeom>
          <a:solidFill>
            <a:srgbClr val="FFFFFF"/>
          </a:solidFill>
          <a:ln w="12700">
            <a:solidFill>
              <a:srgbClr val="E2E8F0"/>
            </a:solidFill>
            <a:prstDash val="solid"/>
          </a:ln>
        </p:spPr>
      </p:sp>
      <p:sp>
        <p:nvSpPr>
          <p:cNvPr id="34" name="Text 32"/>
          <p:cNvSpPr/>
          <p:nvPr/>
        </p:nvSpPr>
        <p:spPr>
          <a:xfrm>
            <a:off x="694944" y="25968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Airspace conflict</a:t>
            </a:r>
            <a:endParaRPr lang="en-US" sz="1400" dirty="0"/>
          </a:p>
        </p:txBody>
      </p:sp>
      <p:sp>
        <p:nvSpPr>
          <p:cNvPr id="35" name="Shape 33"/>
          <p:cNvSpPr/>
          <p:nvPr/>
        </p:nvSpPr>
        <p:spPr>
          <a:xfrm>
            <a:off x="3218688" y="2596896"/>
            <a:ext cx="1371600" cy="457200"/>
          </a:xfrm>
          <a:prstGeom prst="rect">
            <a:avLst/>
          </a:prstGeom>
          <a:solidFill>
            <a:srgbClr val="FFFFFF"/>
          </a:solidFill>
          <a:ln w="12700">
            <a:solidFill>
              <a:srgbClr val="E2E8F0"/>
            </a:solidFill>
            <a:prstDash val="solid"/>
          </a:ln>
        </p:spPr>
      </p:sp>
      <p:sp>
        <p:nvSpPr>
          <p:cNvPr id="36" name="Text 34"/>
          <p:cNvSpPr/>
          <p:nvPr/>
        </p:nvSpPr>
        <p:spPr>
          <a:xfrm>
            <a:off x="3346704" y="25968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37" name="Shape 35"/>
          <p:cNvSpPr/>
          <p:nvPr/>
        </p:nvSpPr>
        <p:spPr>
          <a:xfrm>
            <a:off x="4590288" y="2596896"/>
            <a:ext cx="2926080" cy="457200"/>
          </a:xfrm>
          <a:prstGeom prst="rect">
            <a:avLst/>
          </a:prstGeom>
          <a:solidFill>
            <a:srgbClr val="FFFFFF"/>
          </a:solidFill>
          <a:ln w="12700">
            <a:solidFill>
              <a:srgbClr val="E2E8F0"/>
            </a:solidFill>
            <a:prstDash val="solid"/>
          </a:ln>
        </p:spPr>
      </p:sp>
      <p:sp>
        <p:nvSpPr>
          <p:cNvPr id="38" name="Text 36"/>
          <p:cNvSpPr/>
          <p:nvPr/>
        </p:nvSpPr>
        <p:spPr>
          <a:xfrm>
            <a:off x="4718304" y="25968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lead</a:t>
            </a:r>
            <a:endParaRPr lang="en-US" sz="1400" dirty="0"/>
          </a:p>
        </p:txBody>
      </p:sp>
      <p:sp>
        <p:nvSpPr>
          <p:cNvPr id="39" name="Shape 37"/>
          <p:cNvSpPr/>
          <p:nvPr/>
        </p:nvSpPr>
        <p:spPr>
          <a:xfrm>
            <a:off x="7516368" y="2596896"/>
            <a:ext cx="4105656" cy="457200"/>
          </a:xfrm>
          <a:prstGeom prst="rect">
            <a:avLst/>
          </a:prstGeom>
          <a:solidFill>
            <a:srgbClr val="FFFFFF"/>
          </a:solidFill>
          <a:ln w="12700">
            <a:solidFill>
              <a:srgbClr val="E2E8F0"/>
            </a:solidFill>
            <a:prstDash val="solid"/>
          </a:ln>
        </p:spPr>
      </p:sp>
      <p:sp>
        <p:nvSpPr>
          <p:cNvPr id="40" name="Text 38"/>
          <p:cNvSpPr/>
          <p:nvPr/>
        </p:nvSpPr>
        <p:spPr>
          <a:xfrm>
            <a:off x="7644384" y="25968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Proposed corridor crosses a restricted zone</a:t>
            </a:r>
            <a:endParaRPr lang="en-US" sz="1400" dirty="0"/>
          </a:p>
        </p:txBody>
      </p:sp>
      <p:sp>
        <p:nvSpPr>
          <p:cNvPr id="41" name="Shape 39"/>
          <p:cNvSpPr/>
          <p:nvPr/>
        </p:nvSpPr>
        <p:spPr>
          <a:xfrm>
            <a:off x="566928" y="2596896"/>
            <a:ext cx="64008" cy="457200"/>
          </a:xfrm>
          <a:prstGeom prst="rect">
            <a:avLst/>
          </a:prstGeom>
          <a:solidFill>
            <a:srgbClr val="B45309"/>
          </a:solidFill>
          <a:ln w="12700">
            <a:solidFill>
              <a:srgbClr val="333333"/>
            </a:solidFill>
            <a:prstDash val="solid"/>
          </a:ln>
        </p:spPr>
      </p:sp>
      <p:sp>
        <p:nvSpPr>
          <p:cNvPr id="42" name="Shape 40"/>
          <p:cNvSpPr/>
          <p:nvPr/>
        </p:nvSpPr>
        <p:spPr>
          <a:xfrm>
            <a:off x="566928" y="3054096"/>
            <a:ext cx="2651760" cy="457200"/>
          </a:xfrm>
          <a:prstGeom prst="rect">
            <a:avLst/>
          </a:prstGeom>
          <a:solidFill>
            <a:srgbClr val="F8FAFC"/>
          </a:solidFill>
          <a:ln w="12700">
            <a:solidFill>
              <a:srgbClr val="E2E8F0"/>
            </a:solidFill>
            <a:prstDash val="solid"/>
          </a:ln>
        </p:spPr>
      </p:sp>
      <p:sp>
        <p:nvSpPr>
          <p:cNvPr id="43" name="Text 41"/>
          <p:cNvSpPr/>
          <p:nvPr/>
        </p:nvSpPr>
        <p:spPr>
          <a:xfrm>
            <a:off x="694944" y="30540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Monsoon shutdown</a:t>
            </a:r>
            <a:endParaRPr lang="en-US" sz="1400" dirty="0"/>
          </a:p>
        </p:txBody>
      </p:sp>
      <p:sp>
        <p:nvSpPr>
          <p:cNvPr id="44" name="Shape 42"/>
          <p:cNvSpPr/>
          <p:nvPr/>
        </p:nvSpPr>
        <p:spPr>
          <a:xfrm>
            <a:off x="3218688" y="3054096"/>
            <a:ext cx="1371600" cy="457200"/>
          </a:xfrm>
          <a:prstGeom prst="rect">
            <a:avLst/>
          </a:prstGeom>
          <a:solidFill>
            <a:srgbClr val="F8FAFC"/>
          </a:solidFill>
          <a:ln w="12700">
            <a:solidFill>
              <a:srgbClr val="E2E8F0"/>
            </a:solidFill>
            <a:prstDash val="solid"/>
          </a:ln>
        </p:spPr>
      </p:sp>
      <p:sp>
        <p:nvSpPr>
          <p:cNvPr id="45" name="Text 43"/>
          <p:cNvSpPr/>
          <p:nvPr/>
        </p:nvSpPr>
        <p:spPr>
          <a:xfrm>
            <a:off x="3346704" y="30540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46" name="Shape 44"/>
          <p:cNvSpPr/>
          <p:nvPr/>
        </p:nvSpPr>
        <p:spPr>
          <a:xfrm>
            <a:off x="4590288" y="3054096"/>
            <a:ext cx="2926080" cy="457200"/>
          </a:xfrm>
          <a:prstGeom prst="rect">
            <a:avLst/>
          </a:prstGeom>
          <a:solidFill>
            <a:srgbClr val="F8FAFC"/>
          </a:solidFill>
          <a:ln w="12700">
            <a:solidFill>
              <a:srgbClr val="E2E8F0"/>
            </a:solidFill>
            <a:prstDash val="solid"/>
          </a:ln>
        </p:spPr>
      </p:sp>
      <p:sp>
        <p:nvSpPr>
          <p:cNvPr id="47" name="Text 45"/>
          <p:cNvSpPr/>
          <p:nvPr/>
        </p:nvSpPr>
        <p:spPr>
          <a:xfrm>
            <a:off x="4718304" y="30540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Operations lead</a:t>
            </a:r>
            <a:endParaRPr lang="en-US" sz="1400" dirty="0"/>
          </a:p>
        </p:txBody>
      </p:sp>
      <p:sp>
        <p:nvSpPr>
          <p:cNvPr id="48" name="Shape 46"/>
          <p:cNvSpPr/>
          <p:nvPr/>
        </p:nvSpPr>
        <p:spPr>
          <a:xfrm>
            <a:off x="7516368" y="3054096"/>
            <a:ext cx="4105656" cy="457200"/>
          </a:xfrm>
          <a:prstGeom prst="rect">
            <a:avLst/>
          </a:prstGeom>
          <a:solidFill>
            <a:srgbClr val="F8FAFC"/>
          </a:solidFill>
          <a:ln w="12700">
            <a:solidFill>
              <a:srgbClr val="E2E8F0"/>
            </a:solidFill>
            <a:prstDash val="solid"/>
          </a:ln>
        </p:spPr>
      </p:sp>
      <p:sp>
        <p:nvSpPr>
          <p:cNvPr id="49" name="Text 47"/>
          <p:cNvSpPr/>
          <p:nvPr/>
        </p:nvSpPr>
        <p:spPr>
          <a:xfrm>
            <a:off x="7644384" y="30540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More than four consecutive no-fly days</a:t>
            </a:r>
            <a:endParaRPr lang="en-US" sz="1400" dirty="0"/>
          </a:p>
        </p:txBody>
      </p:sp>
      <p:sp>
        <p:nvSpPr>
          <p:cNvPr id="50" name="Shape 48"/>
          <p:cNvSpPr/>
          <p:nvPr/>
        </p:nvSpPr>
        <p:spPr>
          <a:xfrm>
            <a:off x="566928" y="3054096"/>
            <a:ext cx="64008" cy="457200"/>
          </a:xfrm>
          <a:prstGeom prst="rect">
            <a:avLst/>
          </a:prstGeom>
          <a:solidFill>
            <a:srgbClr val="CBD5E1"/>
          </a:solidFill>
          <a:ln w="12700">
            <a:solidFill>
              <a:srgbClr val="333333"/>
            </a:solidFill>
            <a:prstDash val="solid"/>
          </a:ln>
        </p:spPr>
      </p:sp>
      <p:sp>
        <p:nvSpPr>
          <p:cNvPr id="51" name="Shape 49"/>
          <p:cNvSpPr/>
          <p:nvPr/>
        </p:nvSpPr>
        <p:spPr>
          <a:xfrm>
            <a:off x="566928" y="3511296"/>
            <a:ext cx="2651760" cy="457200"/>
          </a:xfrm>
          <a:prstGeom prst="rect">
            <a:avLst/>
          </a:prstGeom>
          <a:solidFill>
            <a:srgbClr val="FFFFFF"/>
          </a:solidFill>
          <a:ln w="12700">
            <a:solidFill>
              <a:srgbClr val="E2E8F0"/>
            </a:solidFill>
            <a:prstDash val="solid"/>
          </a:ln>
        </p:spPr>
      </p:sp>
      <p:sp>
        <p:nvSpPr>
          <p:cNvPr id="52" name="Text 50"/>
          <p:cNvSpPr/>
          <p:nvPr/>
        </p:nvSpPr>
        <p:spPr>
          <a:xfrm>
            <a:off x="694944" y="35112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Safety incident</a:t>
            </a:r>
            <a:endParaRPr lang="en-US" sz="1400" dirty="0"/>
          </a:p>
        </p:txBody>
      </p:sp>
      <p:sp>
        <p:nvSpPr>
          <p:cNvPr id="53" name="Shape 51"/>
          <p:cNvSpPr/>
          <p:nvPr/>
        </p:nvSpPr>
        <p:spPr>
          <a:xfrm>
            <a:off x="3218688" y="3511296"/>
            <a:ext cx="1371600" cy="457200"/>
          </a:xfrm>
          <a:prstGeom prst="rect">
            <a:avLst/>
          </a:prstGeom>
          <a:solidFill>
            <a:srgbClr val="FFFFFF"/>
          </a:solidFill>
          <a:ln w="12700">
            <a:solidFill>
              <a:srgbClr val="E2E8F0"/>
            </a:solidFill>
            <a:prstDash val="solid"/>
          </a:ln>
        </p:spPr>
      </p:sp>
      <p:sp>
        <p:nvSpPr>
          <p:cNvPr id="54" name="Text 52"/>
          <p:cNvSpPr/>
          <p:nvPr/>
        </p:nvSpPr>
        <p:spPr>
          <a:xfrm>
            <a:off x="3346704" y="35112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Severe</a:t>
            </a:r>
            <a:endParaRPr lang="en-US" sz="1400" dirty="0"/>
          </a:p>
        </p:txBody>
      </p:sp>
      <p:sp>
        <p:nvSpPr>
          <p:cNvPr id="55" name="Shape 53"/>
          <p:cNvSpPr/>
          <p:nvPr/>
        </p:nvSpPr>
        <p:spPr>
          <a:xfrm>
            <a:off x="4590288" y="3511296"/>
            <a:ext cx="2926080" cy="457200"/>
          </a:xfrm>
          <a:prstGeom prst="rect">
            <a:avLst/>
          </a:prstGeom>
          <a:solidFill>
            <a:srgbClr val="FFFFFF"/>
          </a:solidFill>
          <a:ln w="12700">
            <a:solidFill>
              <a:srgbClr val="E2E8F0"/>
            </a:solidFill>
            <a:prstDash val="solid"/>
          </a:ln>
        </p:spPr>
      </p:sp>
      <p:sp>
        <p:nvSpPr>
          <p:cNvPr id="56" name="Text 54"/>
          <p:cNvSpPr/>
          <p:nvPr/>
        </p:nvSpPr>
        <p:spPr>
          <a:xfrm>
            <a:off x="4718304" y="35112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Safety lead</a:t>
            </a:r>
            <a:endParaRPr lang="en-US" sz="1400" dirty="0"/>
          </a:p>
        </p:txBody>
      </p:sp>
      <p:sp>
        <p:nvSpPr>
          <p:cNvPr id="57" name="Shape 55"/>
          <p:cNvSpPr/>
          <p:nvPr/>
        </p:nvSpPr>
        <p:spPr>
          <a:xfrm>
            <a:off x="7516368" y="3511296"/>
            <a:ext cx="4105656" cy="457200"/>
          </a:xfrm>
          <a:prstGeom prst="rect">
            <a:avLst/>
          </a:prstGeom>
          <a:solidFill>
            <a:srgbClr val="FFFFFF"/>
          </a:solidFill>
          <a:ln w="12700">
            <a:solidFill>
              <a:srgbClr val="E2E8F0"/>
            </a:solidFill>
            <a:prstDash val="solid"/>
          </a:ln>
        </p:spPr>
      </p:sp>
      <p:sp>
        <p:nvSpPr>
          <p:cNvPr id="58" name="Text 56"/>
          <p:cNvSpPr/>
          <p:nvPr/>
        </p:nvSpPr>
        <p:spPr>
          <a:xfrm>
            <a:off x="7644384" y="35112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Any ground contact not on a pad</a:t>
            </a:r>
            <a:endParaRPr lang="en-US" sz="1400" dirty="0"/>
          </a:p>
        </p:txBody>
      </p:sp>
      <p:sp>
        <p:nvSpPr>
          <p:cNvPr id="59" name="Shape 57"/>
          <p:cNvSpPr/>
          <p:nvPr/>
        </p:nvSpPr>
        <p:spPr>
          <a:xfrm>
            <a:off x="566928" y="3511296"/>
            <a:ext cx="64008" cy="457200"/>
          </a:xfrm>
          <a:prstGeom prst="rect">
            <a:avLst/>
          </a:prstGeom>
          <a:solidFill>
            <a:srgbClr val="800020"/>
          </a:solidFill>
          <a:ln w="12700">
            <a:solidFill>
              <a:srgbClr val="333333"/>
            </a:solidFill>
            <a:prstDash val="solid"/>
          </a:ln>
        </p:spPr>
      </p:sp>
      <p:sp>
        <p:nvSpPr>
          <p:cNvPr id="60" name="Shape 58"/>
          <p:cNvSpPr/>
          <p:nvPr/>
        </p:nvSpPr>
        <p:spPr>
          <a:xfrm>
            <a:off x="566928" y="3968496"/>
            <a:ext cx="2651760" cy="457200"/>
          </a:xfrm>
          <a:prstGeom prst="rect">
            <a:avLst/>
          </a:prstGeom>
          <a:solidFill>
            <a:srgbClr val="F8FAFC"/>
          </a:solidFill>
          <a:ln w="12700">
            <a:solidFill>
              <a:srgbClr val="E2E8F0"/>
            </a:solidFill>
            <a:prstDash val="solid"/>
          </a:ln>
        </p:spPr>
      </p:sp>
      <p:sp>
        <p:nvSpPr>
          <p:cNvPr id="61" name="Text 59"/>
          <p:cNvSpPr/>
          <p:nvPr/>
        </p:nvSpPr>
        <p:spPr>
          <a:xfrm>
            <a:off x="694944" y="39684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Liability dispute</a:t>
            </a:r>
            <a:endParaRPr lang="en-US" sz="1400" dirty="0"/>
          </a:p>
        </p:txBody>
      </p:sp>
      <p:sp>
        <p:nvSpPr>
          <p:cNvPr id="62" name="Shape 60"/>
          <p:cNvSpPr/>
          <p:nvPr/>
        </p:nvSpPr>
        <p:spPr>
          <a:xfrm>
            <a:off x="3218688" y="3968496"/>
            <a:ext cx="1371600" cy="457200"/>
          </a:xfrm>
          <a:prstGeom prst="rect">
            <a:avLst/>
          </a:prstGeom>
          <a:solidFill>
            <a:srgbClr val="F8FAFC"/>
          </a:solidFill>
          <a:ln w="12700">
            <a:solidFill>
              <a:srgbClr val="E2E8F0"/>
            </a:solidFill>
            <a:prstDash val="solid"/>
          </a:ln>
        </p:spPr>
      </p:sp>
      <p:sp>
        <p:nvSpPr>
          <p:cNvPr id="63" name="Text 61"/>
          <p:cNvSpPr/>
          <p:nvPr/>
        </p:nvSpPr>
        <p:spPr>
          <a:xfrm>
            <a:off x="3346704" y="39684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4" name="Shape 62"/>
          <p:cNvSpPr/>
          <p:nvPr/>
        </p:nvSpPr>
        <p:spPr>
          <a:xfrm>
            <a:off x="4590288" y="3968496"/>
            <a:ext cx="2926080" cy="457200"/>
          </a:xfrm>
          <a:prstGeom prst="rect">
            <a:avLst/>
          </a:prstGeom>
          <a:solidFill>
            <a:srgbClr val="F8FAFC"/>
          </a:solidFill>
          <a:ln w="12700">
            <a:solidFill>
              <a:srgbClr val="E2E8F0"/>
            </a:solidFill>
            <a:prstDash val="solid"/>
          </a:ln>
        </p:spPr>
      </p:sp>
      <p:sp>
        <p:nvSpPr>
          <p:cNvPr id="65" name="Text 63"/>
          <p:cNvSpPr/>
          <p:nvPr/>
        </p:nvSpPr>
        <p:spPr>
          <a:xfrm>
            <a:off x="4718304" y="39684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Legal adviser, retainer</a:t>
            </a:r>
            <a:endParaRPr lang="en-US" sz="1400" dirty="0"/>
          </a:p>
        </p:txBody>
      </p:sp>
      <p:sp>
        <p:nvSpPr>
          <p:cNvPr id="66" name="Shape 64"/>
          <p:cNvSpPr/>
          <p:nvPr/>
        </p:nvSpPr>
        <p:spPr>
          <a:xfrm>
            <a:off x="7516368" y="3968496"/>
            <a:ext cx="4105656" cy="457200"/>
          </a:xfrm>
          <a:prstGeom prst="rect">
            <a:avLst/>
          </a:prstGeom>
          <a:solidFill>
            <a:srgbClr val="F8FAFC"/>
          </a:solidFill>
          <a:ln w="12700">
            <a:solidFill>
              <a:srgbClr val="E2E8F0"/>
            </a:solidFill>
            <a:prstDash val="solid"/>
          </a:ln>
        </p:spPr>
      </p:sp>
      <p:sp>
        <p:nvSpPr>
          <p:cNvPr id="67" name="Text 65"/>
          <p:cNvSpPr/>
          <p:nvPr/>
        </p:nvSpPr>
        <p:spPr>
          <a:xfrm>
            <a:off x="7644384" y="39684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First claim from a pad owner</a:t>
            </a:r>
            <a:endParaRPr lang="en-US" sz="1400" dirty="0"/>
          </a:p>
        </p:txBody>
      </p:sp>
      <p:sp>
        <p:nvSpPr>
          <p:cNvPr id="68" name="Shape 66"/>
          <p:cNvSpPr/>
          <p:nvPr/>
        </p:nvSpPr>
        <p:spPr>
          <a:xfrm>
            <a:off x="566928" y="3968496"/>
            <a:ext cx="64008" cy="457200"/>
          </a:xfrm>
          <a:prstGeom prst="rect">
            <a:avLst/>
          </a:prstGeom>
          <a:solidFill>
            <a:srgbClr val="B45309"/>
          </a:solidFill>
          <a:ln w="12700">
            <a:solidFill>
              <a:srgbClr val="333333"/>
            </a:solidFill>
            <a:prstDash val="solid"/>
          </a:ln>
        </p:spPr>
      </p:sp>
      <p:sp>
        <p:nvSpPr>
          <p:cNvPr id="69" name="Shape 67"/>
          <p:cNvSpPr/>
          <p:nvPr/>
        </p:nvSpPr>
        <p:spPr>
          <a:xfrm>
            <a:off x="566928" y="4425696"/>
            <a:ext cx="2651760" cy="457200"/>
          </a:xfrm>
          <a:prstGeom prst="rect">
            <a:avLst/>
          </a:prstGeom>
          <a:solidFill>
            <a:srgbClr val="FFFFFF"/>
          </a:solidFill>
          <a:ln w="12700">
            <a:solidFill>
              <a:srgbClr val="E2E8F0"/>
            </a:solidFill>
            <a:prstDash val="solid"/>
          </a:ln>
        </p:spPr>
      </p:sp>
      <p:sp>
        <p:nvSpPr>
          <p:cNvPr id="70" name="Text 68"/>
          <p:cNvSpPr/>
          <p:nvPr/>
        </p:nvSpPr>
        <p:spPr>
          <a:xfrm>
            <a:off x="694944" y="44256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owner withdraws</a:t>
            </a:r>
            <a:endParaRPr lang="en-US" sz="1400" dirty="0"/>
          </a:p>
        </p:txBody>
      </p:sp>
      <p:sp>
        <p:nvSpPr>
          <p:cNvPr id="71" name="Shape 69"/>
          <p:cNvSpPr/>
          <p:nvPr/>
        </p:nvSpPr>
        <p:spPr>
          <a:xfrm>
            <a:off x="3218688" y="4425696"/>
            <a:ext cx="1371600" cy="457200"/>
          </a:xfrm>
          <a:prstGeom prst="rect">
            <a:avLst/>
          </a:prstGeom>
          <a:solidFill>
            <a:srgbClr val="FFFFFF"/>
          </a:solidFill>
          <a:ln w="12700">
            <a:solidFill>
              <a:srgbClr val="E2E8F0"/>
            </a:solidFill>
            <a:prstDash val="solid"/>
          </a:ln>
        </p:spPr>
      </p:sp>
      <p:sp>
        <p:nvSpPr>
          <p:cNvPr id="72" name="Text 70"/>
          <p:cNvSpPr/>
          <p:nvPr/>
        </p:nvSpPr>
        <p:spPr>
          <a:xfrm>
            <a:off x="3346704" y="44256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73" name="Shape 71"/>
          <p:cNvSpPr/>
          <p:nvPr/>
        </p:nvSpPr>
        <p:spPr>
          <a:xfrm>
            <a:off x="4590288" y="4425696"/>
            <a:ext cx="2926080" cy="457200"/>
          </a:xfrm>
          <a:prstGeom prst="rect">
            <a:avLst/>
          </a:prstGeom>
          <a:solidFill>
            <a:srgbClr val="FFFFFF"/>
          </a:solidFill>
          <a:ln w="12700">
            <a:solidFill>
              <a:srgbClr val="E2E8F0"/>
            </a:solidFill>
            <a:prstDash val="solid"/>
          </a:ln>
        </p:spPr>
      </p:sp>
      <p:sp>
        <p:nvSpPr>
          <p:cNvPr id="74" name="Text 72"/>
          <p:cNvSpPr/>
          <p:nvPr/>
        </p:nvSpPr>
        <p:spPr>
          <a:xfrm>
            <a:off x="4718304" y="44256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Hub manager</a:t>
            </a:r>
            <a:endParaRPr lang="en-US" sz="1400" dirty="0"/>
          </a:p>
        </p:txBody>
      </p:sp>
      <p:sp>
        <p:nvSpPr>
          <p:cNvPr id="75" name="Shape 73"/>
          <p:cNvSpPr/>
          <p:nvPr/>
        </p:nvSpPr>
        <p:spPr>
          <a:xfrm>
            <a:off x="7516368" y="4425696"/>
            <a:ext cx="4105656" cy="457200"/>
          </a:xfrm>
          <a:prstGeom prst="rect">
            <a:avLst/>
          </a:prstGeom>
          <a:solidFill>
            <a:srgbClr val="FFFFFF"/>
          </a:solidFill>
          <a:ln w="12700">
            <a:solidFill>
              <a:srgbClr val="E2E8F0"/>
            </a:solidFill>
            <a:prstDash val="solid"/>
          </a:ln>
        </p:spPr>
      </p:sp>
      <p:sp>
        <p:nvSpPr>
          <p:cNvPr id="76" name="Text 74"/>
          <p:cNvSpPr/>
          <p:nvPr/>
        </p:nvSpPr>
        <p:spPr>
          <a:xfrm>
            <a:off x="7644384" y="44256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Five pads withdrawn in a month</a:t>
            </a:r>
            <a:endParaRPr lang="en-US" sz="1400" dirty="0"/>
          </a:p>
        </p:txBody>
      </p:sp>
      <p:sp>
        <p:nvSpPr>
          <p:cNvPr id="77" name="Shape 75"/>
          <p:cNvSpPr/>
          <p:nvPr/>
        </p:nvSpPr>
        <p:spPr>
          <a:xfrm>
            <a:off x="566928" y="4425696"/>
            <a:ext cx="64008" cy="457200"/>
          </a:xfrm>
          <a:prstGeom prst="rect">
            <a:avLst/>
          </a:prstGeom>
          <a:solidFill>
            <a:srgbClr val="CBD5E1"/>
          </a:solidFill>
          <a:ln w="12700">
            <a:solidFill>
              <a:srgbClr val="333333"/>
            </a:solidFill>
            <a:prstDash val="solid"/>
          </a:ln>
        </p:spPr>
      </p:sp>
      <p:sp>
        <p:nvSpPr>
          <p:cNvPr id="78" name="Shape 76"/>
          <p:cNvSpPr/>
          <p:nvPr/>
        </p:nvSpPr>
        <p:spPr>
          <a:xfrm>
            <a:off x="566928" y="4882896"/>
            <a:ext cx="2651760" cy="457200"/>
          </a:xfrm>
          <a:prstGeom prst="rect">
            <a:avLst/>
          </a:prstGeom>
          <a:solidFill>
            <a:srgbClr val="F8FAFC"/>
          </a:solidFill>
          <a:ln w="12700">
            <a:solidFill>
              <a:srgbClr val="E2E8F0"/>
            </a:solidFill>
            <a:prstDash val="solid"/>
          </a:ln>
        </p:spPr>
      </p:sp>
      <p:sp>
        <p:nvSpPr>
          <p:cNvPr id="79" name="Text 77"/>
          <p:cNvSpPr/>
          <p:nvPr/>
        </p:nvSpPr>
        <p:spPr>
          <a:xfrm>
            <a:off x="694944" y="4882896"/>
            <a:ext cx="2395728" cy="45720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Vendor price change</a:t>
            </a:r>
            <a:endParaRPr lang="en-US" sz="1400" dirty="0"/>
          </a:p>
        </p:txBody>
      </p:sp>
      <p:sp>
        <p:nvSpPr>
          <p:cNvPr id="80" name="Shape 78"/>
          <p:cNvSpPr/>
          <p:nvPr/>
        </p:nvSpPr>
        <p:spPr>
          <a:xfrm>
            <a:off x="3218688" y="4882896"/>
            <a:ext cx="1371600" cy="457200"/>
          </a:xfrm>
          <a:prstGeom prst="rect">
            <a:avLst/>
          </a:prstGeom>
          <a:solidFill>
            <a:srgbClr val="F8FAFC"/>
          </a:solidFill>
          <a:ln w="12700">
            <a:solidFill>
              <a:srgbClr val="E2E8F0"/>
            </a:solidFill>
            <a:prstDash val="solid"/>
          </a:ln>
        </p:spPr>
      </p:sp>
      <p:sp>
        <p:nvSpPr>
          <p:cNvPr id="81" name="Text 79"/>
          <p:cNvSpPr/>
          <p:nvPr/>
        </p:nvSpPr>
        <p:spPr>
          <a:xfrm>
            <a:off x="3346704" y="4882896"/>
            <a:ext cx="111556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Medium</a:t>
            </a:r>
            <a:endParaRPr lang="en-US" sz="1400" dirty="0"/>
          </a:p>
        </p:txBody>
      </p:sp>
      <p:sp>
        <p:nvSpPr>
          <p:cNvPr id="82" name="Shape 80"/>
          <p:cNvSpPr/>
          <p:nvPr/>
        </p:nvSpPr>
        <p:spPr>
          <a:xfrm>
            <a:off x="4590288" y="4882896"/>
            <a:ext cx="2926080" cy="457200"/>
          </a:xfrm>
          <a:prstGeom prst="rect">
            <a:avLst/>
          </a:prstGeom>
          <a:solidFill>
            <a:srgbClr val="F8FAFC"/>
          </a:solidFill>
          <a:ln w="12700">
            <a:solidFill>
              <a:srgbClr val="E2E8F0"/>
            </a:solidFill>
            <a:prstDash val="solid"/>
          </a:ln>
        </p:spPr>
      </p:sp>
      <p:sp>
        <p:nvSpPr>
          <p:cNvPr id="83" name="Text 81"/>
          <p:cNvSpPr/>
          <p:nvPr/>
        </p:nvSpPr>
        <p:spPr>
          <a:xfrm>
            <a:off x="4718304" y="4882896"/>
            <a:ext cx="2670048"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Head of AI and data</a:t>
            </a:r>
            <a:endParaRPr lang="en-US" sz="1400" dirty="0"/>
          </a:p>
        </p:txBody>
      </p:sp>
      <p:sp>
        <p:nvSpPr>
          <p:cNvPr id="84" name="Shape 82"/>
          <p:cNvSpPr/>
          <p:nvPr/>
        </p:nvSpPr>
        <p:spPr>
          <a:xfrm>
            <a:off x="7516368" y="4882896"/>
            <a:ext cx="4105656" cy="457200"/>
          </a:xfrm>
          <a:prstGeom prst="rect">
            <a:avLst/>
          </a:prstGeom>
          <a:solidFill>
            <a:srgbClr val="F8FAFC"/>
          </a:solidFill>
          <a:ln w="12700">
            <a:solidFill>
              <a:srgbClr val="E2E8F0"/>
            </a:solidFill>
            <a:prstDash val="solid"/>
          </a:ln>
        </p:spPr>
      </p:sp>
      <p:sp>
        <p:nvSpPr>
          <p:cNvPr id="85" name="Text 83"/>
          <p:cNvSpPr/>
          <p:nvPr/>
        </p:nvSpPr>
        <p:spPr>
          <a:xfrm>
            <a:off x="7644384" y="4882896"/>
            <a:ext cx="3849624" cy="45720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Jev or GLM price more than doubles</a:t>
            </a:r>
            <a:endParaRPr lang="en-US" sz="1400" dirty="0"/>
          </a:p>
        </p:txBody>
      </p:sp>
      <p:sp>
        <p:nvSpPr>
          <p:cNvPr id="86" name="Shape 84"/>
          <p:cNvSpPr/>
          <p:nvPr/>
        </p:nvSpPr>
        <p:spPr>
          <a:xfrm>
            <a:off x="566928" y="4882896"/>
            <a:ext cx="64008" cy="457200"/>
          </a:xfrm>
          <a:prstGeom prst="rect">
            <a:avLst/>
          </a:prstGeom>
          <a:solidFill>
            <a:srgbClr val="CBD5E1"/>
          </a:solidFill>
          <a:ln w="12700">
            <a:solidFill>
              <a:srgbClr val="333333"/>
            </a:solidFill>
            <a:prstDash val="solid"/>
          </a:ln>
        </p:spPr>
      </p:sp>
      <p:sp>
        <p:nvSpPr>
          <p:cNvPr id="87" name="Text 85"/>
          <p:cNvSpPr/>
          <p:nvPr/>
        </p:nvSpPr>
        <p:spPr>
          <a:xfrm>
            <a:off x="566928" y="5468112"/>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Eight named threats, eight owners, and a trigger for each one. That is the difference between a SWOT and a plan.</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Competition and Industry Landscape</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Porter's Five Forces</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We are not competing with riders. We are competing with a road.</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33</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200" b="1" dirty="0">
                <a:solidFill>
                  <a:srgbClr val="0F172A"/>
                </a:solidFill>
                <a:latin typeface="Century Schoolbook" pitchFamily="34" charset="0"/>
                <a:ea typeface="Century Schoolbook" pitchFamily="34" charset="-122"/>
                <a:cs typeface="Century Schoolbook" pitchFamily="34" charset="-120"/>
              </a:rPr>
              <a:t>Political and legal: the gate, and the four unanswered questions</a:t>
            </a:r>
            <a:endParaRPr lang="en-US" sz="22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We cannot price this business until these four are answered</a:t>
            </a:r>
            <a:endParaRPr lang="en-US" sz="1600" dirty="0"/>
          </a:p>
        </p:txBody>
      </p:sp>
      <p:sp>
        <p:nvSpPr>
          <p:cNvPr id="5" name="Text 3"/>
          <p:cNvSpPr/>
          <p:nvPr/>
        </p:nvSpPr>
        <p:spPr>
          <a:xfrm>
            <a:off x="566928" y="5760720"/>
            <a:ext cx="11057839" cy="219456"/>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Sources: CAAB notices and drone related press reporting, National Drone Policy 2026 framework reporting, BTRC spectrum allocation, The Daily Star on unlicensed drones</a:t>
            </a:r>
            <a:endParaRPr lang="en-US" sz="1200" dirty="0"/>
          </a:p>
        </p:txBody>
      </p:sp>
      <p:sp>
        <p:nvSpPr>
          <p:cNvPr id="6" name="Text 4"/>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7" name="Text 5"/>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34</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8" name="Shape 6"/>
          <p:cNvSpPr/>
          <p:nvPr/>
        </p:nvSpPr>
        <p:spPr>
          <a:xfrm>
            <a:off x="566928" y="1298448"/>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9" name="Shape 7"/>
          <p:cNvSpPr/>
          <p:nvPr/>
        </p:nvSpPr>
        <p:spPr>
          <a:xfrm>
            <a:off x="566928" y="1298448"/>
            <a:ext cx="73152" cy="1426464"/>
          </a:xfrm>
          <a:prstGeom prst="rect">
            <a:avLst/>
          </a:prstGeom>
          <a:solidFill>
            <a:srgbClr val="800020"/>
          </a:solidFill>
          <a:ln w="12700">
            <a:solidFill>
              <a:srgbClr val="333333"/>
            </a:solidFill>
            <a:prstDash val="solid"/>
          </a:ln>
        </p:spPr>
      </p:sp>
      <p:sp>
        <p:nvSpPr>
          <p:cNvPr id="10" name="Text 8"/>
          <p:cNvSpPr/>
          <p:nvPr/>
        </p:nvSpPr>
        <p:spPr>
          <a:xfrm>
            <a:off x="786384"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Who authorises delivery flight?</a:t>
            </a:r>
            <a:endParaRPr lang="en-US" sz="1600" dirty="0"/>
          </a:p>
        </p:txBody>
      </p:sp>
      <p:sp>
        <p:nvSpPr>
          <p:cNvPr id="11" name="Text 9"/>
          <p:cNvSpPr/>
          <p:nvPr/>
        </p:nvSpPr>
        <p:spPr>
          <a:xfrm>
            <a:off x="786384" y="1755648"/>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CAAB holds airspace, but no delivery corridor licence class exists today</a:t>
            </a:r>
            <a:endParaRPr lang="en-US" sz="1400" dirty="0"/>
          </a:p>
        </p:txBody>
      </p:sp>
      <p:sp>
        <p:nvSpPr>
          <p:cNvPr id="12" name="Shape 10"/>
          <p:cNvSpPr/>
          <p:nvPr/>
        </p:nvSpPr>
        <p:spPr>
          <a:xfrm>
            <a:off x="6242152" y="1298448"/>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6242152" y="1298448"/>
            <a:ext cx="73152" cy="1426464"/>
          </a:xfrm>
          <a:prstGeom prst="rect">
            <a:avLst/>
          </a:prstGeom>
          <a:solidFill>
            <a:srgbClr val="800020"/>
          </a:solidFill>
          <a:ln w="12700">
            <a:solidFill>
              <a:srgbClr val="333333"/>
            </a:solidFill>
            <a:prstDash val="solid"/>
          </a:ln>
        </p:spPr>
      </p:sp>
      <p:sp>
        <p:nvSpPr>
          <p:cNvPr id="14" name="Text 12"/>
          <p:cNvSpPr/>
          <p:nvPr/>
        </p:nvSpPr>
        <p:spPr>
          <a:xfrm>
            <a:off x="6461608" y="1408176"/>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Over what height, and over whose land?</a:t>
            </a:r>
            <a:endParaRPr lang="en-US" sz="1600" dirty="0"/>
          </a:p>
        </p:txBody>
      </p:sp>
      <p:sp>
        <p:nvSpPr>
          <p:cNvPr id="15" name="Text 13"/>
          <p:cNvSpPr/>
          <p:nvPr/>
        </p:nvSpPr>
        <p:spPr>
          <a:xfrm>
            <a:off x="6461608" y="1755648"/>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No published ceiling and no consent rule for flying over private property</a:t>
            </a:r>
            <a:endParaRPr lang="en-US" sz="1400" dirty="0"/>
          </a:p>
        </p:txBody>
      </p:sp>
      <p:sp>
        <p:nvSpPr>
          <p:cNvPr id="16" name="Shape 14"/>
          <p:cNvSpPr/>
          <p:nvPr/>
        </p:nvSpPr>
        <p:spPr>
          <a:xfrm>
            <a:off x="566928" y="2871216"/>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17" name="Shape 15"/>
          <p:cNvSpPr/>
          <p:nvPr/>
        </p:nvSpPr>
        <p:spPr>
          <a:xfrm>
            <a:off x="566928" y="2871216"/>
            <a:ext cx="73152" cy="1426464"/>
          </a:xfrm>
          <a:prstGeom prst="rect">
            <a:avLst/>
          </a:prstGeom>
          <a:solidFill>
            <a:srgbClr val="800020"/>
          </a:solidFill>
          <a:ln w="12700">
            <a:solidFill>
              <a:srgbClr val="333333"/>
            </a:solidFill>
            <a:prstDash val="solid"/>
          </a:ln>
        </p:spPr>
      </p:sp>
      <p:sp>
        <p:nvSpPr>
          <p:cNvPr id="18" name="Text 16"/>
          <p:cNvSpPr/>
          <p:nvPr/>
        </p:nvSpPr>
        <p:spPr>
          <a:xfrm>
            <a:off x="786384" y="2980944"/>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Who issues an operator certificate?</a:t>
            </a:r>
            <a:endParaRPr lang="en-US" sz="1600" dirty="0"/>
          </a:p>
        </p:txBody>
      </p:sp>
      <p:sp>
        <p:nvSpPr>
          <p:cNvPr id="19" name="Text 17"/>
          <p:cNvSpPr/>
          <p:nvPr/>
        </p:nvSpPr>
        <p:spPr>
          <a:xfrm>
            <a:off x="786384" y="3328416"/>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We are not pilots, so the rule that applies to us is not written yet</a:t>
            </a:r>
            <a:endParaRPr lang="en-US" sz="1400" dirty="0"/>
          </a:p>
        </p:txBody>
      </p:sp>
      <p:sp>
        <p:nvSpPr>
          <p:cNvPr id="20" name="Shape 18"/>
          <p:cNvSpPr/>
          <p:nvPr/>
        </p:nvSpPr>
        <p:spPr>
          <a:xfrm>
            <a:off x="6242152" y="2871216"/>
            <a:ext cx="5382616" cy="1426464"/>
          </a:xfrm>
          <a:prstGeom prst="roundRect">
            <a:avLst>
              <a:gd name="adj" fmla="val 3205"/>
            </a:avLst>
          </a:prstGeom>
          <a:solidFill>
            <a:srgbClr val="FFF1F2"/>
          </a:solidFill>
          <a:ln w="12700">
            <a:solidFill>
              <a:srgbClr val="FDE8EA"/>
            </a:solidFill>
            <a:prstDash val="solid"/>
          </a:ln>
          <a:effectLst>
            <a:outerShdw sx="100000" sy="100000" kx="0" ky="0" algn="bl" rotWithShape="0" blurRad="114300" dist="12700" dir="5400000">
              <a:srgbClr val="0F172A">
                <a:alpha val="8000"/>
              </a:srgbClr>
            </a:outerShdw>
          </a:effectLst>
        </p:spPr>
      </p:sp>
      <p:sp>
        <p:nvSpPr>
          <p:cNvPr id="21" name="Shape 19"/>
          <p:cNvSpPr/>
          <p:nvPr/>
        </p:nvSpPr>
        <p:spPr>
          <a:xfrm>
            <a:off x="6242152" y="2871216"/>
            <a:ext cx="73152" cy="1426464"/>
          </a:xfrm>
          <a:prstGeom prst="rect">
            <a:avLst/>
          </a:prstGeom>
          <a:solidFill>
            <a:srgbClr val="800020"/>
          </a:solidFill>
          <a:ln w="12700">
            <a:solidFill>
              <a:srgbClr val="333333"/>
            </a:solidFill>
            <a:prstDash val="solid"/>
          </a:ln>
        </p:spPr>
      </p:sp>
      <p:sp>
        <p:nvSpPr>
          <p:cNvPr id="22" name="Text 20"/>
          <p:cNvSpPr/>
          <p:nvPr/>
        </p:nvSpPr>
        <p:spPr>
          <a:xfrm>
            <a:off x="6461608" y="2980944"/>
            <a:ext cx="4998568"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What is the liability position?</a:t>
            </a:r>
            <a:endParaRPr lang="en-US" sz="1600" dirty="0"/>
          </a:p>
        </p:txBody>
      </p:sp>
      <p:sp>
        <p:nvSpPr>
          <p:cNvPr id="23" name="Text 21"/>
          <p:cNvSpPr/>
          <p:nvPr/>
        </p:nvSpPr>
        <p:spPr>
          <a:xfrm>
            <a:off x="6461608" y="3328416"/>
            <a:ext cx="4998568" cy="84124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Damage to a pad, a roof or a person has no defined allocation of risk</a:t>
            </a:r>
            <a:endParaRPr lang="en-US" sz="1400" dirty="0"/>
          </a:p>
        </p:txBody>
      </p:sp>
      <p:sp>
        <p:nvSpPr>
          <p:cNvPr id="24" name="Shape 22"/>
          <p:cNvSpPr/>
          <p:nvPr/>
        </p:nvSpPr>
        <p:spPr>
          <a:xfrm>
            <a:off x="566928" y="4572000"/>
            <a:ext cx="11057839" cy="1133856"/>
          </a:xfrm>
          <a:prstGeom prst="roundRect">
            <a:avLst>
              <a:gd name="adj" fmla="val 4032"/>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25" name="Text 23"/>
          <p:cNvSpPr/>
          <p:nvPr/>
        </p:nvSpPr>
        <p:spPr>
          <a:xfrm>
            <a:off x="786384" y="4681728"/>
            <a:ext cx="10618927"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The only responsible answer today</a:t>
            </a:r>
            <a:endParaRPr lang="en-US" sz="1600" dirty="0"/>
          </a:p>
        </p:txBody>
      </p:sp>
      <p:sp>
        <p:nvSpPr>
          <p:cNvPr id="26" name="Text 24"/>
          <p:cNvSpPr/>
          <p:nvPr/>
        </p:nvSpPr>
        <p:spPr>
          <a:xfrm>
            <a:off x="786384" y="4992624"/>
            <a:ext cx="10618927" cy="603504"/>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We have not been granted permission and we do not assume we will be. The first milestone is a written pre-application meeting with CAAB. Until that document exists, our financial plan is a hypothesis and every slide in this deck says so.</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Porter's Five Forces, one at a time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The forces decide the margin, not the technology</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35</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065264" cy="73152"/>
          </a:xfrm>
          <a:prstGeom prst="rect">
            <a:avLst/>
          </a:prstGeom>
          <a:solidFill>
            <a:srgbClr val="800020"/>
          </a:solidFill>
          <a:ln w="12700">
            <a:solidFill>
              <a:srgbClr val="333333"/>
            </a:solidFill>
            <a:prstDash val="solid"/>
          </a:ln>
        </p:spPr>
      </p:sp>
      <p:sp>
        <p:nvSpPr>
          <p:cNvPr id="9" name="Text 7"/>
          <p:cNvSpPr/>
          <p:nvPr/>
        </p:nvSpPr>
        <p:spPr>
          <a:xfrm>
            <a:off x="694944"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Rivalry</a:t>
            </a:r>
            <a:endParaRPr lang="en-US" sz="1600" dirty="0"/>
          </a:p>
        </p:txBody>
      </p:sp>
      <p:sp>
        <p:nvSpPr>
          <p:cNvPr id="10" name="Text 8"/>
          <p:cNvSpPr/>
          <p:nvPr/>
        </p:nvSpPr>
        <p:spPr>
          <a:xfrm>
            <a:off x="694944" y="1810512"/>
            <a:ext cx="1809232" cy="274320"/>
          </a:xfrm>
          <a:prstGeom prst="rect">
            <a:avLst/>
          </a:prstGeom>
          <a:noFill/>
          <a:ln/>
        </p:spPr>
        <p:txBody>
          <a:bodyPr wrap="square" lIns="0" tIns="0" rIns="0" bIns="0" rtlCol="0" anchor="ctr"/>
          <a:lstStyle/>
          <a:p>
            <a:pPr indent="0" marL="0">
              <a:buNone/>
            </a:pPr>
            <a:r>
              <a:rPr lang="en-US" sz="1200" b="1" dirty="0">
                <a:solidFill>
                  <a:srgbClr val="800020"/>
                </a:solidFill>
                <a:latin typeface="Calibri" pitchFamily="34" charset="0"/>
                <a:ea typeface="Calibri" pitchFamily="34" charset="-122"/>
                <a:cs typeface="Calibri" pitchFamily="34" charset="-120"/>
              </a:rPr>
              <a:t>High</a:t>
            </a:r>
            <a:endParaRPr lang="en-US" sz="1200" dirty="0"/>
          </a:p>
        </p:txBody>
      </p:sp>
      <p:sp>
        <p:nvSpPr>
          <p:cNvPr id="11" name="Text 9"/>
          <p:cNvSpPr/>
          <p:nvPr/>
        </p:nvSpPr>
        <p:spPr>
          <a:xfrm>
            <a:off x="694944"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Pathao and foodpanda both fight for orders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They can subsidise below our cost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We compete on a promise, not a discount</a:t>
            </a:r>
            <a:endParaRPr lang="en-US" sz="1400" dirty="0"/>
          </a:p>
        </p:txBody>
      </p:sp>
      <p:sp>
        <p:nvSpPr>
          <p:cNvPr id="12" name="Shape 10"/>
          <p:cNvSpPr/>
          <p:nvPr/>
        </p:nvSpPr>
        <p:spPr>
          <a:xfrm>
            <a:off x="2815072"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2815072" y="1298448"/>
            <a:ext cx="2065264" cy="73152"/>
          </a:xfrm>
          <a:prstGeom prst="rect">
            <a:avLst/>
          </a:prstGeom>
          <a:solidFill>
            <a:srgbClr val="B45309"/>
          </a:solidFill>
          <a:ln w="12700">
            <a:solidFill>
              <a:srgbClr val="333333"/>
            </a:solidFill>
            <a:prstDash val="solid"/>
          </a:ln>
        </p:spPr>
      </p:sp>
      <p:sp>
        <p:nvSpPr>
          <p:cNvPr id="14" name="Text 12"/>
          <p:cNvSpPr/>
          <p:nvPr/>
        </p:nvSpPr>
        <p:spPr>
          <a:xfrm>
            <a:off x="2943088"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New entrants</a:t>
            </a:r>
            <a:endParaRPr lang="en-US" sz="1600" dirty="0"/>
          </a:p>
        </p:txBody>
      </p:sp>
      <p:sp>
        <p:nvSpPr>
          <p:cNvPr id="15" name="Text 13"/>
          <p:cNvSpPr/>
          <p:nvPr/>
        </p:nvSpPr>
        <p:spPr>
          <a:xfrm>
            <a:off x="2943088" y="1810512"/>
            <a:ext cx="1809232" cy="2743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Medium</a:t>
            </a:r>
            <a:endParaRPr lang="en-US" sz="1200" dirty="0"/>
          </a:p>
        </p:txBody>
      </p:sp>
      <p:sp>
        <p:nvSpPr>
          <p:cNvPr id="16" name="Text 14"/>
          <p:cNvSpPr/>
          <p:nvPr/>
        </p:nvSpPr>
        <p:spPr>
          <a:xfrm>
            <a:off x="2943088"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Hardware can be bought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Pads and corridors cannot be bought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One corridor at a time is a moat</a:t>
            </a:r>
            <a:endParaRPr lang="en-US" sz="1400" dirty="0"/>
          </a:p>
        </p:txBody>
      </p:sp>
      <p:sp>
        <p:nvSpPr>
          <p:cNvPr id="17" name="Shape 15"/>
          <p:cNvSpPr/>
          <p:nvPr/>
        </p:nvSpPr>
        <p:spPr>
          <a:xfrm>
            <a:off x="5063216"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5063216" y="1298448"/>
            <a:ext cx="2065264" cy="73152"/>
          </a:xfrm>
          <a:prstGeom prst="rect">
            <a:avLst/>
          </a:prstGeom>
          <a:solidFill>
            <a:srgbClr val="800020"/>
          </a:solidFill>
          <a:ln w="12700">
            <a:solidFill>
              <a:srgbClr val="333333"/>
            </a:solidFill>
            <a:prstDash val="solid"/>
          </a:ln>
        </p:spPr>
      </p:sp>
      <p:sp>
        <p:nvSpPr>
          <p:cNvPr id="19" name="Text 17"/>
          <p:cNvSpPr/>
          <p:nvPr/>
        </p:nvSpPr>
        <p:spPr>
          <a:xfrm>
            <a:off x="5191232"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Substitutes</a:t>
            </a:r>
            <a:endParaRPr lang="en-US" sz="1600" dirty="0"/>
          </a:p>
        </p:txBody>
      </p:sp>
      <p:sp>
        <p:nvSpPr>
          <p:cNvPr id="20" name="Text 18"/>
          <p:cNvSpPr/>
          <p:nvPr/>
        </p:nvSpPr>
        <p:spPr>
          <a:xfrm>
            <a:off x="5191232" y="1810512"/>
            <a:ext cx="1809232" cy="274320"/>
          </a:xfrm>
          <a:prstGeom prst="rect">
            <a:avLst/>
          </a:prstGeom>
          <a:noFill/>
          <a:ln/>
        </p:spPr>
        <p:txBody>
          <a:bodyPr wrap="square" lIns="0" tIns="0" rIns="0" bIns="0" rtlCol="0" anchor="ctr"/>
          <a:lstStyle/>
          <a:p>
            <a:pPr indent="0" marL="0">
              <a:buNone/>
            </a:pPr>
            <a:r>
              <a:rPr lang="en-US" sz="1200" b="1" dirty="0">
                <a:solidFill>
                  <a:srgbClr val="800020"/>
                </a:solidFill>
                <a:latin typeface="Calibri" pitchFamily="34" charset="0"/>
                <a:ea typeface="Calibri" pitchFamily="34" charset="-122"/>
                <a:cs typeface="Calibri" pitchFamily="34" charset="-120"/>
              </a:rPr>
              <a:t>High</a:t>
            </a:r>
            <a:endParaRPr lang="en-US" sz="1200" dirty="0"/>
          </a:p>
        </p:txBody>
      </p:sp>
      <p:sp>
        <p:nvSpPr>
          <p:cNvPr id="21" name="Text 19"/>
          <p:cNvSpPr/>
          <p:nvPr/>
        </p:nvSpPr>
        <p:spPr>
          <a:xfrm>
            <a:off x="5191232"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A rickshaw is a substitute</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Walking and a car are substitutes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Only the fixed window is unsubstitutable</a:t>
            </a:r>
            <a:endParaRPr lang="en-US" sz="1400" dirty="0"/>
          </a:p>
        </p:txBody>
      </p:sp>
      <p:sp>
        <p:nvSpPr>
          <p:cNvPr id="22" name="Shape 20"/>
          <p:cNvSpPr/>
          <p:nvPr/>
        </p:nvSpPr>
        <p:spPr>
          <a:xfrm>
            <a:off x="7311360"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3" name="Shape 21"/>
          <p:cNvSpPr/>
          <p:nvPr/>
        </p:nvSpPr>
        <p:spPr>
          <a:xfrm>
            <a:off x="7311360" y="1298448"/>
            <a:ext cx="2065264" cy="73152"/>
          </a:xfrm>
          <a:prstGeom prst="rect">
            <a:avLst/>
          </a:prstGeom>
          <a:solidFill>
            <a:srgbClr val="166534"/>
          </a:solidFill>
          <a:ln w="12700">
            <a:solidFill>
              <a:srgbClr val="333333"/>
            </a:solidFill>
            <a:prstDash val="solid"/>
          </a:ln>
        </p:spPr>
      </p:sp>
      <p:sp>
        <p:nvSpPr>
          <p:cNvPr id="24" name="Text 22"/>
          <p:cNvSpPr/>
          <p:nvPr/>
        </p:nvSpPr>
        <p:spPr>
          <a:xfrm>
            <a:off x="7439376"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Supplier power</a:t>
            </a:r>
            <a:endParaRPr lang="en-US" sz="1600" dirty="0"/>
          </a:p>
        </p:txBody>
      </p:sp>
      <p:sp>
        <p:nvSpPr>
          <p:cNvPr id="25" name="Text 23"/>
          <p:cNvSpPr/>
          <p:nvPr/>
        </p:nvSpPr>
        <p:spPr>
          <a:xfrm>
            <a:off x="7439376" y="1810512"/>
            <a:ext cx="1809232" cy="274320"/>
          </a:xfrm>
          <a:prstGeom prst="rect">
            <a:avLst/>
          </a:prstGeom>
          <a:noFill/>
          <a:ln/>
        </p:spPr>
        <p:txBody>
          <a:bodyPr wrap="square" lIns="0" tIns="0" rIns="0" bIns="0" rtlCol="0" anchor="ctr"/>
          <a:lstStyle/>
          <a:p>
            <a:pPr indent="0" marL="0">
              <a:buNone/>
            </a:pPr>
            <a:r>
              <a:rPr lang="en-US" sz="1200" b="1" dirty="0">
                <a:solidFill>
                  <a:srgbClr val="166534"/>
                </a:solidFill>
                <a:latin typeface="Calibri" pitchFamily="34" charset="0"/>
                <a:ea typeface="Calibri" pitchFamily="34" charset="-122"/>
                <a:cs typeface="Calibri" pitchFamily="34" charset="-120"/>
              </a:rPr>
              <a:t>Low</a:t>
            </a:r>
            <a:endParaRPr lang="en-US" sz="1200" dirty="0"/>
          </a:p>
        </p:txBody>
      </p:sp>
      <p:sp>
        <p:nvSpPr>
          <p:cNvPr id="26" name="Text 24"/>
          <p:cNvSpPr/>
          <p:nvPr/>
        </p:nvSpPr>
        <p:spPr>
          <a:xfrm>
            <a:off x="7439376"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Airframes from a small number of vendors</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Batteries are replaceable</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Open weights reduce supplier power</a:t>
            </a:r>
            <a:endParaRPr lang="en-US" sz="1400" dirty="0"/>
          </a:p>
        </p:txBody>
      </p:sp>
      <p:sp>
        <p:nvSpPr>
          <p:cNvPr id="27" name="Shape 25"/>
          <p:cNvSpPr/>
          <p:nvPr/>
        </p:nvSpPr>
        <p:spPr>
          <a:xfrm>
            <a:off x="9559503" y="1298448"/>
            <a:ext cx="2065264" cy="3017520"/>
          </a:xfrm>
          <a:prstGeom prst="roundRect">
            <a:avLst>
              <a:gd name="adj" fmla="val 2214"/>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9559503" y="1298448"/>
            <a:ext cx="2065264" cy="73152"/>
          </a:xfrm>
          <a:prstGeom prst="rect">
            <a:avLst/>
          </a:prstGeom>
          <a:solidFill>
            <a:srgbClr val="B45309"/>
          </a:solidFill>
          <a:ln w="12700">
            <a:solidFill>
              <a:srgbClr val="333333"/>
            </a:solidFill>
            <a:prstDash val="solid"/>
          </a:ln>
        </p:spPr>
      </p:sp>
      <p:sp>
        <p:nvSpPr>
          <p:cNvPr id="29" name="Text 27"/>
          <p:cNvSpPr/>
          <p:nvPr/>
        </p:nvSpPr>
        <p:spPr>
          <a:xfrm>
            <a:off x="9687519" y="1463040"/>
            <a:ext cx="1809232" cy="310896"/>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Buyer power</a:t>
            </a:r>
            <a:endParaRPr lang="en-US" sz="1600" dirty="0"/>
          </a:p>
        </p:txBody>
      </p:sp>
      <p:sp>
        <p:nvSpPr>
          <p:cNvPr id="30" name="Text 28"/>
          <p:cNvSpPr/>
          <p:nvPr/>
        </p:nvSpPr>
        <p:spPr>
          <a:xfrm>
            <a:off x="9687519" y="1810512"/>
            <a:ext cx="1809232" cy="274320"/>
          </a:xfrm>
          <a:prstGeom prst="rect">
            <a:avLst/>
          </a:prstGeom>
          <a:noFill/>
          <a:ln/>
        </p:spPr>
        <p:txBody>
          <a:bodyPr wrap="square" lIns="0" tIns="0" rIns="0" bIns="0" rtlCol="0" anchor="ctr"/>
          <a:lstStyle/>
          <a:p>
            <a:pPr indent="0" marL="0">
              <a:buNone/>
            </a:pPr>
            <a:r>
              <a:rPr lang="en-US" sz="1200" b="1" dirty="0">
                <a:solidFill>
                  <a:srgbClr val="B45309"/>
                </a:solidFill>
                <a:latin typeface="Calibri" pitchFamily="34" charset="0"/>
                <a:ea typeface="Calibri" pitchFamily="34" charset="-122"/>
                <a:cs typeface="Calibri" pitchFamily="34" charset="-120"/>
              </a:rPr>
              <a:t>High</a:t>
            </a:r>
            <a:endParaRPr lang="en-US" sz="1200" dirty="0"/>
          </a:p>
        </p:txBody>
      </p:sp>
      <p:sp>
        <p:nvSpPr>
          <p:cNvPr id="31" name="Text 29"/>
          <p:cNvSpPr/>
          <p:nvPr/>
        </p:nvSpPr>
        <p:spPr>
          <a:xfrm>
            <a:off x="9687519" y="2139696"/>
            <a:ext cx="1809232" cy="2139696"/>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The customer holds one tap and no contract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We must earn the window every flight</a:t>
            </a:r>
            <a:endParaRPr lang="en-US" sz="1400" dirty="0"/>
          </a:p>
          <a:p>
            <a:pPr marL="342900" indent="-342900">
              <a:spcAft>
                <a:spcPts val="600"/>
              </a:spcAft>
              <a:buSzPct val="100000"/>
              <a:buChar char="•"/>
            </a:pPr>
            <a:r>
              <a:rPr lang="en-US" sz="1400" dirty="0">
                <a:solidFill>
                  <a:srgbClr val="334155"/>
                </a:solidFill>
                <a:latin typeface="Calibri" pitchFamily="34" charset="0"/>
                <a:ea typeface="Calibri" pitchFamily="34" charset="-122"/>
                <a:cs typeface="Calibri" pitchFamily="34" charset="-120"/>
              </a:rPr>
              <a:t>Pubs give us the density we need</a:t>
            </a:r>
            <a:endParaRPr lang="en-US" sz="1400" dirty="0"/>
          </a:p>
        </p:txBody>
      </p:sp>
      <p:sp>
        <p:nvSpPr>
          <p:cNvPr id="32" name="Shape 30"/>
          <p:cNvSpPr/>
          <p:nvPr/>
        </p:nvSpPr>
        <p:spPr>
          <a:xfrm>
            <a:off x="566928" y="4572000"/>
            <a:ext cx="11057839" cy="1133856"/>
          </a:xfrm>
          <a:prstGeom prst="roundRect">
            <a:avLst>
              <a:gd name="adj" fmla="val 4032"/>
            </a:avLst>
          </a:prstGeom>
          <a:solidFill>
            <a:srgbClr val="FFF1F2"/>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33" name="Text 31"/>
          <p:cNvSpPr/>
          <p:nvPr/>
        </p:nvSpPr>
        <p:spPr>
          <a:xfrm>
            <a:off x="786384" y="4681728"/>
            <a:ext cx="10618927"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Three of five forces are high. That is why the model is not a discount business.</a:t>
            </a:r>
            <a:endParaRPr lang="en-US" sz="1600" dirty="0"/>
          </a:p>
        </p:txBody>
      </p:sp>
      <p:sp>
        <p:nvSpPr>
          <p:cNvPr id="34" name="Text 32"/>
          <p:cNvSpPr/>
          <p:nvPr/>
        </p:nvSpPr>
        <p:spPr>
          <a:xfrm>
            <a:off x="786384" y="4992624"/>
            <a:ext cx="10618927" cy="603504"/>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Rivalry, substitutes and buyer power are all set by the customer, not by us. Our only lever is the pad network and the fixed window it makes possible. Everything else is a price we have to survive.</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9. Competition and Industry Landscape</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pad network is the moat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What an entrant would have to copy first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36</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Text 6"/>
          <p:cNvSpPr/>
          <p:nvPr/>
        </p:nvSpPr>
        <p:spPr>
          <a:xfrm>
            <a:off x="713232"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1</a:t>
            </a:r>
            <a:endParaRPr lang="en-US" sz="2000" dirty="0"/>
          </a:p>
        </p:txBody>
      </p:sp>
      <p:sp>
        <p:nvSpPr>
          <p:cNvPr id="9" name="Text 7"/>
          <p:cNvSpPr/>
          <p:nvPr/>
        </p:nvSpPr>
        <p:spPr>
          <a:xfrm>
            <a:off x="713232"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Sign pad hosts</a:t>
            </a:r>
            <a:endParaRPr lang="en-US" sz="1600" dirty="0"/>
          </a:p>
        </p:txBody>
      </p:sp>
      <p:sp>
        <p:nvSpPr>
          <p:cNvPr id="10" name="Text 8"/>
          <p:cNvSpPr/>
          <p:nvPr/>
        </p:nvSpPr>
        <p:spPr>
          <a:xfrm>
            <a:off x="713232"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Months of negotiation, one roof at a time</a:t>
            </a:r>
            <a:endParaRPr lang="en-US" sz="1400" dirty="0"/>
          </a:p>
        </p:txBody>
      </p:sp>
      <p:sp>
        <p:nvSpPr>
          <p:cNvPr id="11" name="Shape 9"/>
          <p:cNvSpPr/>
          <p:nvPr/>
        </p:nvSpPr>
        <p:spPr>
          <a:xfrm>
            <a:off x="3386252"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Text 10"/>
          <p:cNvSpPr/>
          <p:nvPr/>
        </p:nvSpPr>
        <p:spPr>
          <a:xfrm>
            <a:off x="3532556"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2</a:t>
            </a:r>
            <a:endParaRPr lang="en-US" sz="2000" dirty="0"/>
          </a:p>
        </p:txBody>
      </p:sp>
      <p:sp>
        <p:nvSpPr>
          <p:cNvPr id="13" name="Text 11"/>
          <p:cNvSpPr/>
          <p:nvPr/>
        </p:nvSpPr>
        <p:spPr>
          <a:xfrm>
            <a:off x="3532556"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Get permission</a:t>
            </a:r>
            <a:endParaRPr lang="en-US" sz="1600" dirty="0"/>
          </a:p>
        </p:txBody>
      </p:sp>
      <p:sp>
        <p:nvSpPr>
          <p:cNvPr id="14" name="Text 12"/>
          <p:cNvSpPr/>
          <p:nvPr/>
        </p:nvSpPr>
        <p:spPr>
          <a:xfrm>
            <a:off x="3532556"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CAAB approval, which no competitor has</a:t>
            </a:r>
            <a:endParaRPr lang="en-US" sz="1400" dirty="0"/>
          </a:p>
        </p:txBody>
      </p:sp>
      <p:sp>
        <p:nvSpPr>
          <p:cNvPr id="15" name="Shape 13"/>
          <p:cNvSpPr/>
          <p:nvPr/>
        </p:nvSpPr>
        <p:spPr>
          <a:xfrm>
            <a:off x="6205576"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Text 14"/>
          <p:cNvSpPr/>
          <p:nvPr/>
        </p:nvSpPr>
        <p:spPr>
          <a:xfrm>
            <a:off x="6351880"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3</a:t>
            </a:r>
            <a:endParaRPr lang="en-US" sz="2000" dirty="0"/>
          </a:p>
        </p:txBody>
      </p:sp>
      <p:sp>
        <p:nvSpPr>
          <p:cNvPr id="17" name="Text 15"/>
          <p:cNvSpPr/>
          <p:nvPr/>
        </p:nvSpPr>
        <p:spPr>
          <a:xfrm>
            <a:off x="6351880"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Design the corridor</a:t>
            </a:r>
            <a:endParaRPr lang="en-US" sz="1600" dirty="0"/>
          </a:p>
        </p:txBody>
      </p:sp>
      <p:sp>
        <p:nvSpPr>
          <p:cNvPr id="18" name="Text 16"/>
          <p:cNvSpPr/>
          <p:nvPr/>
        </p:nvSpPr>
        <p:spPr>
          <a:xfrm>
            <a:off x="6351880"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Needs flight data and airspace clearance</a:t>
            </a:r>
            <a:endParaRPr lang="en-US" sz="1400" dirty="0"/>
          </a:p>
        </p:txBody>
      </p:sp>
      <p:sp>
        <p:nvSpPr>
          <p:cNvPr id="19" name="Shape 17"/>
          <p:cNvSpPr/>
          <p:nvPr/>
        </p:nvSpPr>
        <p:spPr>
          <a:xfrm>
            <a:off x="9024899" y="1298448"/>
            <a:ext cx="2599868" cy="1371600"/>
          </a:xfrm>
          <a:prstGeom prst="roundRect">
            <a:avLst>
              <a:gd name="adj" fmla="val 3333"/>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Text 18"/>
          <p:cNvSpPr/>
          <p:nvPr/>
        </p:nvSpPr>
        <p:spPr>
          <a:xfrm>
            <a:off x="9171203" y="1426464"/>
            <a:ext cx="365760" cy="310896"/>
          </a:xfrm>
          <a:prstGeom prst="rect">
            <a:avLst/>
          </a:prstGeom>
          <a:noFill/>
          <a:ln/>
        </p:spPr>
        <p:txBody>
          <a:bodyPr wrap="square" lIns="0" tIns="0" rIns="0" bIns="0" rtlCol="0" anchor="ctr"/>
          <a:lstStyle/>
          <a:p>
            <a:pPr indent="0" marL="0">
              <a:buNone/>
            </a:pPr>
            <a:r>
              <a:rPr lang="en-US" sz="2000" b="1" dirty="0">
                <a:solidFill>
                  <a:srgbClr val="A24A48"/>
                </a:solidFill>
                <a:latin typeface="Century Schoolbook" pitchFamily="34" charset="0"/>
                <a:ea typeface="Century Schoolbook" pitchFamily="34" charset="-122"/>
                <a:cs typeface="Century Schoolbook" pitchFamily="34" charset="-120"/>
              </a:rPr>
              <a:t>4</a:t>
            </a:r>
            <a:endParaRPr lang="en-US" sz="2000" dirty="0"/>
          </a:p>
        </p:txBody>
      </p:sp>
      <p:sp>
        <p:nvSpPr>
          <p:cNvPr id="21" name="Text 19"/>
          <p:cNvSpPr/>
          <p:nvPr/>
        </p:nvSpPr>
        <p:spPr>
          <a:xfrm>
            <a:off x="9171203" y="1773936"/>
            <a:ext cx="2307260" cy="292608"/>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Prove the window</a:t>
            </a:r>
            <a:endParaRPr lang="en-US" sz="1600" dirty="0"/>
          </a:p>
        </p:txBody>
      </p:sp>
      <p:sp>
        <p:nvSpPr>
          <p:cNvPr id="22" name="Text 20"/>
          <p:cNvSpPr/>
          <p:nvPr/>
        </p:nvSpPr>
        <p:spPr>
          <a:xfrm>
            <a:off x="9171203" y="2103120"/>
            <a:ext cx="2307260" cy="512064"/>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Hundreds of deliveries to earn a fifteen minute promise</a:t>
            </a:r>
            <a:endParaRPr lang="en-US" sz="1400" dirty="0"/>
          </a:p>
        </p:txBody>
      </p:sp>
      <p:sp>
        <p:nvSpPr>
          <p:cNvPr id="23" name="Shape 21"/>
          <p:cNvSpPr/>
          <p:nvPr/>
        </p:nvSpPr>
        <p:spPr>
          <a:xfrm>
            <a:off x="566928" y="3035808"/>
            <a:ext cx="2743200" cy="384048"/>
          </a:xfrm>
          <a:prstGeom prst="rect">
            <a:avLst/>
          </a:prstGeom>
          <a:solidFill>
            <a:srgbClr val="0F172A"/>
          </a:solidFill>
          <a:ln w="12700">
            <a:solidFill>
              <a:srgbClr val="333333"/>
            </a:solidFill>
            <a:prstDash val="solid"/>
          </a:ln>
        </p:spPr>
      </p:sp>
      <p:sp>
        <p:nvSpPr>
          <p:cNvPr id="24" name="Text 22"/>
          <p:cNvSpPr/>
          <p:nvPr/>
        </p:nvSpPr>
        <p:spPr>
          <a:xfrm>
            <a:off x="694944" y="3035808"/>
            <a:ext cx="24871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Barrier</a:t>
            </a:r>
            <a:endParaRPr lang="en-US" sz="1400" dirty="0"/>
          </a:p>
        </p:txBody>
      </p:sp>
      <p:sp>
        <p:nvSpPr>
          <p:cNvPr id="25" name="Shape 23"/>
          <p:cNvSpPr/>
          <p:nvPr/>
        </p:nvSpPr>
        <p:spPr>
          <a:xfrm>
            <a:off x="3310128" y="3035808"/>
            <a:ext cx="1463040" cy="384048"/>
          </a:xfrm>
          <a:prstGeom prst="rect">
            <a:avLst/>
          </a:prstGeom>
          <a:solidFill>
            <a:srgbClr val="0F172A"/>
          </a:solidFill>
          <a:ln w="12700">
            <a:solidFill>
              <a:srgbClr val="333333"/>
            </a:solidFill>
            <a:prstDash val="solid"/>
          </a:ln>
        </p:spPr>
      </p:sp>
      <p:sp>
        <p:nvSpPr>
          <p:cNvPr id="26" name="Text 24"/>
          <p:cNvSpPr/>
          <p:nvPr/>
        </p:nvSpPr>
        <p:spPr>
          <a:xfrm>
            <a:off x="3438144" y="3035808"/>
            <a:ext cx="12070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Speed to copy</a:t>
            </a:r>
            <a:endParaRPr lang="en-US" sz="1400" dirty="0"/>
          </a:p>
        </p:txBody>
      </p:sp>
      <p:sp>
        <p:nvSpPr>
          <p:cNvPr id="27" name="Shape 25"/>
          <p:cNvSpPr/>
          <p:nvPr/>
        </p:nvSpPr>
        <p:spPr>
          <a:xfrm>
            <a:off x="4773168" y="3035808"/>
            <a:ext cx="4663440" cy="384048"/>
          </a:xfrm>
          <a:prstGeom prst="rect">
            <a:avLst/>
          </a:prstGeom>
          <a:solidFill>
            <a:srgbClr val="0F172A"/>
          </a:solidFill>
          <a:ln w="12700">
            <a:solidFill>
              <a:srgbClr val="333333"/>
            </a:solidFill>
            <a:prstDash val="solid"/>
          </a:ln>
        </p:spPr>
      </p:sp>
      <p:sp>
        <p:nvSpPr>
          <p:cNvPr id="28" name="Text 26"/>
          <p:cNvSpPr/>
          <p:nvPr/>
        </p:nvSpPr>
        <p:spPr>
          <a:xfrm>
            <a:off x="4901184" y="3035808"/>
            <a:ext cx="440740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Why</a:t>
            </a:r>
            <a:endParaRPr lang="en-US" sz="1400" dirty="0"/>
          </a:p>
        </p:txBody>
      </p:sp>
      <p:sp>
        <p:nvSpPr>
          <p:cNvPr id="29" name="Shape 27"/>
          <p:cNvSpPr/>
          <p:nvPr/>
        </p:nvSpPr>
        <p:spPr>
          <a:xfrm>
            <a:off x="9436608" y="3035808"/>
            <a:ext cx="2185416" cy="384048"/>
          </a:xfrm>
          <a:prstGeom prst="rect">
            <a:avLst/>
          </a:prstGeom>
          <a:solidFill>
            <a:srgbClr val="0F172A"/>
          </a:solidFill>
          <a:ln w="12700">
            <a:solidFill>
              <a:srgbClr val="333333"/>
            </a:solidFill>
            <a:prstDash val="solid"/>
          </a:ln>
        </p:spPr>
      </p:sp>
      <p:sp>
        <p:nvSpPr>
          <p:cNvPr id="30" name="Text 28"/>
          <p:cNvSpPr/>
          <p:nvPr/>
        </p:nvSpPr>
        <p:spPr>
          <a:xfrm>
            <a:off x="9564624" y="3035808"/>
            <a:ext cx="192938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Strength</a:t>
            </a:r>
            <a:endParaRPr lang="en-US" sz="1400" dirty="0"/>
          </a:p>
        </p:txBody>
      </p:sp>
      <p:sp>
        <p:nvSpPr>
          <p:cNvPr id="31" name="Shape 29"/>
          <p:cNvSpPr/>
          <p:nvPr/>
        </p:nvSpPr>
        <p:spPr>
          <a:xfrm>
            <a:off x="566928" y="3419856"/>
            <a:ext cx="2743200" cy="512064"/>
          </a:xfrm>
          <a:prstGeom prst="rect">
            <a:avLst/>
          </a:prstGeom>
          <a:solidFill>
            <a:srgbClr val="FFFFFF"/>
          </a:solidFill>
          <a:ln w="12700">
            <a:solidFill>
              <a:srgbClr val="E2E8F0"/>
            </a:solidFill>
            <a:prstDash val="solid"/>
          </a:ln>
        </p:spPr>
      </p:sp>
      <p:sp>
        <p:nvSpPr>
          <p:cNvPr id="32" name="Text 30"/>
          <p:cNvSpPr/>
          <p:nvPr/>
        </p:nvSpPr>
        <p:spPr>
          <a:xfrm>
            <a:off x="694944" y="3419856"/>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Airframe</a:t>
            </a:r>
            <a:endParaRPr lang="en-US" sz="1400" dirty="0"/>
          </a:p>
        </p:txBody>
      </p:sp>
      <p:sp>
        <p:nvSpPr>
          <p:cNvPr id="33" name="Shape 31"/>
          <p:cNvSpPr/>
          <p:nvPr/>
        </p:nvSpPr>
        <p:spPr>
          <a:xfrm>
            <a:off x="3310128" y="3419856"/>
            <a:ext cx="1463040" cy="512064"/>
          </a:xfrm>
          <a:prstGeom prst="rect">
            <a:avLst/>
          </a:prstGeom>
          <a:solidFill>
            <a:srgbClr val="FFFFFF"/>
          </a:solidFill>
          <a:ln w="12700">
            <a:solidFill>
              <a:srgbClr val="E2E8F0"/>
            </a:solidFill>
            <a:prstDash val="solid"/>
          </a:ln>
        </p:spPr>
      </p:sp>
      <p:sp>
        <p:nvSpPr>
          <p:cNvPr id="34" name="Text 32"/>
          <p:cNvSpPr/>
          <p:nvPr/>
        </p:nvSpPr>
        <p:spPr>
          <a:xfrm>
            <a:off x="3438144" y="3419856"/>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Buyable</a:t>
            </a:r>
            <a:endParaRPr lang="en-US" sz="1400" dirty="0"/>
          </a:p>
        </p:txBody>
      </p:sp>
      <p:sp>
        <p:nvSpPr>
          <p:cNvPr id="35" name="Shape 33"/>
          <p:cNvSpPr/>
          <p:nvPr/>
        </p:nvSpPr>
        <p:spPr>
          <a:xfrm>
            <a:off x="4773168" y="3419856"/>
            <a:ext cx="4663440" cy="512064"/>
          </a:xfrm>
          <a:prstGeom prst="rect">
            <a:avLst/>
          </a:prstGeom>
          <a:solidFill>
            <a:srgbClr val="FFFFFF"/>
          </a:solidFill>
          <a:ln w="12700">
            <a:solidFill>
              <a:srgbClr val="E2E8F0"/>
            </a:solidFill>
            <a:prstDash val="solid"/>
          </a:ln>
        </p:spPr>
      </p:sp>
      <p:sp>
        <p:nvSpPr>
          <p:cNvPr id="36" name="Text 34"/>
          <p:cNvSpPr/>
          <p:nvPr/>
        </p:nvSpPr>
        <p:spPr>
          <a:xfrm>
            <a:off x="4901184" y="3419856"/>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Six months and capital</a:t>
            </a:r>
            <a:endParaRPr lang="en-US" sz="1400" dirty="0"/>
          </a:p>
        </p:txBody>
      </p:sp>
      <p:sp>
        <p:nvSpPr>
          <p:cNvPr id="37" name="Shape 35"/>
          <p:cNvSpPr/>
          <p:nvPr/>
        </p:nvSpPr>
        <p:spPr>
          <a:xfrm>
            <a:off x="9436608" y="3419856"/>
            <a:ext cx="2185416" cy="512064"/>
          </a:xfrm>
          <a:prstGeom prst="rect">
            <a:avLst/>
          </a:prstGeom>
          <a:solidFill>
            <a:srgbClr val="FFFFFF"/>
          </a:solidFill>
          <a:ln w="12700">
            <a:solidFill>
              <a:srgbClr val="E2E8F0"/>
            </a:solidFill>
            <a:prstDash val="solid"/>
          </a:ln>
        </p:spPr>
      </p:sp>
      <p:sp>
        <p:nvSpPr>
          <p:cNvPr id="38" name="Text 36"/>
          <p:cNvSpPr/>
          <p:nvPr/>
        </p:nvSpPr>
        <p:spPr>
          <a:xfrm>
            <a:off x="9564624" y="3419856"/>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39" name="Shape 37"/>
          <p:cNvSpPr/>
          <p:nvPr/>
        </p:nvSpPr>
        <p:spPr>
          <a:xfrm>
            <a:off x="566928" y="3419856"/>
            <a:ext cx="64008" cy="512064"/>
          </a:xfrm>
          <a:prstGeom prst="rect">
            <a:avLst/>
          </a:prstGeom>
          <a:solidFill>
            <a:srgbClr val="CBD5E1"/>
          </a:solidFill>
          <a:ln w="12700">
            <a:solidFill>
              <a:srgbClr val="333333"/>
            </a:solidFill>
            <a:prstDash val="solid"/>
          </a:ln>
        </p:spPr>
      </p:sp>
      <p:sp>
        <p:nvSpPr>
          <p:cNvPr id="40" name="Shape 38"/>
          <p:cNvSpPr/>
          <p:nvPr/>
        </p:nvSpPr>
        <p:spPr>
          <a:xfrm>
            <a:off x="566928" y="3931920"/>
            <a:ext cx="2743200" cy="512064"/>
          </a:xfrm>
          <a:prstGeom prst="rect">
            <a:avLst/>
          </a:prstGeom>
          <a:solidFill>
            <a:srgbClr val="F8FAFC"/>
          </a:solidFill>
          <a:ln w="12700">
            <a:solidFill>
              <a:srgbClr val="E2E8F0"/>
            </a:solidFill>
            <a:prstDash val="solid"/>
          </a:ln>
        </p:spPr>
      </p:sp>
      <p:sp>
        <p:nvSpPr>
          <p:cNvPr id="41" name="Text 39"/>
          <p:cNvSpPr/>
          <p:nvPr/>
        </p:nvSpPr>
        <p:spPr>
          <a:xfrm>
            <a:off x="694944" y="3931920"/>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Software</a:t>
            </a:r>
            <a:endParaRPr lang="en-US" sz="1400" dirty="0"/>
          </a:p>
        </p:txBody>
      </p:sp>
      <p:sp>
        <p:nvSpPr>
          <p:cNvPr id="42" name="Shape 40"/>
          <p:cNvSpPr/>
          <p:nvPr/>
        </p:nvSpPr>
        <p:spPr>
          <a:xfrm>
            <a:off x="3310128" y="3931920"/>
            <a:ext cx="1463040" cy="512064"/>
          </a:xfrm>
          <a:prstGeom prst="rect">
            <a:avLst/>
          </a:prstGeom>
          <a:solidFill>
            <a:srgbClr val="F8FAFC"/>
          </a:solidFill>
          <a:ln w="12700">
            <a:solidFill>
              <a:srgbClr val="E2E8F0"/>
            </a:solidFill>
            <a:prstDash val="solid"/>
          </a:ln>
        </p:spPr>
      </p:sp>
      <p:sp>
        <p:nvSpPr>
          <p:cNvPr id="43" name="Text 41"/>
          <p:cNvSpPr/>
          <p:nvPr/>
        </p:nvSpPr>
        <p:spPr>
          <a:xfrm>
            <a:off x="3438144" y="3931920"/>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Buyable</a:t>
            </a:r>
            <a:endParaRPr lang="en-US" sz="1400" dirty="0"/>
          </a:p>
        </p:txBody>
      </p:sp>
      <p:sp>
        <p:nvSpPr>
          <p:cNvPr id="44" name="Shape 42"/>
          <p:cNvSpPr/>
          <p:nvPr/>
        </p:nvSpPr>
        <p:spPr>
          <a:xfrm>
            <a:off x="4773168" y="3931920"/>
            <a:ext cx="4663440" cy="512064"/>
          </a:xfrm>
          <a:prstGeom prst="rect">
            <a:avLst/>
          </a:prstGeom>
          <a:solidFill>
            <a:srgbClr val="F8FAFC"/>
          </a:solidFill>
          <a:ln w="12700">
            <a:solidFill>
              <a:srgbClr val="E2E8F0"/>
            </a:solidFill>
            <a:prstDash val="solid"/>
          </a:ln>
        </p:spPr>
      </p:sp>
      <p:sp>
        <p:nvSpPr>
          <p:cNvPr id="45" name="Text 43"/>
          <p:cNvSpPr/>
          <p:nvPr/>
        </p:nvSpPr>
        <p:spPr>
          <a:xfrm>
            <a:off x="4901184" y="3931920"/>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Open weights are free</a:t>
            </a:r>
            <a:endParaRPr lang="en-US" sz="1400" dirty="0"/>
          </a:p>
        </p:txBody>
      </p:sp>
      <p:sp>
        <p:nvSpPr>
          <p:cNvPr id="46" name="Shape 44"/>
          <p:cNvSpPr/>
          <p:nvPr/>
        </p:nvSpPr>
        <p:spPr>
          <a:xfrm>
            <a:off x="9436608" y="3931920"/>
            <a:ext cx="2185416" cy="512064"/>
          </a:xfrm>
          <a:prstGeom prst="rect">
            <a:avLst/>
          </a:prstGeom>
          <a:solidFill>
            <a:srgbClr val="F8FAFC"/>
          </a:solidFill>
          <a:ln w="12700">
            <a:solidFill>
              <a:srgbClr val="E2E8F0"/>
            </a:solidFill>
            <a:prstDash val="solid"/>
          </a:ln>
        </p:spPr>
      </p:sp>
      <p:sp>
        <p:nvSpPr>
          <p:cNvPr id="47" name="Text 45"/>
          <p:cNvSpPr/>
          <p:nvPr/>
        </p:nvSpPr>
        <p:spPr>
          <a:xfrm>
            <a:off x="9564624" y="3931920"/>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Low</a:t>
            </a:r>
            <a:endParaRPr lang="en-US" sz="1400" dirty="0"/>
          </a:p>
        </p:txBody>
      </p:sp>
      <p:sp>
        <p:nvSpPr>
          <p:cNvPr id="48" name="Shape 46"/>
          <p:cNvSpPr/>
          <p:nvPr/>
        </p:nvSpPr>
        <p:spPr>
          <a:xfrm>
            <a:off x="566928" y="3931920"/>
            <a:ext cx="64008" cy="512064"/>
          </a:xfrm>
          <a:prstGeom prst="rect">
            <a:avLst/>
          </a:prstGeom>
          <a:solidFill>
            <a:srgbClr val="CBD5E1"/>
          </a:solidFill>
          <a:ln w="12700">
            <a:solidFill>
              <a:srgbClr val="333333"/>
            </a:solidFill>
            <a:prstDash val="solid"/>
          </a:ln>
        </p:spPr>
      </p:sp>
      <p:sp>
        <p:nvSpPr>
          <p:cNvPr id="49" name="Shape 47"/>
          <p:cNvSpPr/>
          <p:nvPr/>
        </p:nvSpPr>
        <p:spPr>
          <a:xfrm>
            <a:off x="566928" y="4443984"/>
            <a:ext cx="2743200" cy="512064"/>
          </a:xfrm>
          <a:prstGeom prst="rect">
            <a:avLst/>
          </a:prstGeom>
          <a:solidFill>
            <a:srgbClr val="FFFFFF"/>
          </a:solidFill>
          <a:ln w="12700">
            <a:solidFill>
              <a:srgbClr val="E2E8F0"/>
            </a:solidFill>
            <a:prstDash val="solid"/>
          </a:ln>
        </p:spPr>
      </p:sp>
      <p:sp>
        <p:nvSpPr>
          <p:cNvPr id="50" name="Text 48"/>
          <p:cNvSpPr/>
          <p:nvPr/>
        </p:nvSpPr>
        <p:spPr>
          <a:xfrm>
            <a:off x="694944" y="4443984"/>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Pad network</a:t>
            </a:r>
            <a:endParaRPr lang="en-US" sz="1400" dirty="0"/>
          </a:p>
        </p:txBody>
      </p:sp>
      <p:sp>
        <p:nvSpPr>
          <p:cNvPr id="51" name="Shape 49"/>
          <p:cNvSpPr/>
          <p:nvPr/>
        </p:nvSpPr>
        <p:spPr>
          <a:xfrm>
            <a:off x="3310128" y="4443984"/>
            <a:ext cx="1463040" cy="512064"/>
          </a:xfrm>
          <a:prstGeom prst="rect">
            <a:avLst/>
          </a:prstGeom>
          <a:solidFill>
            <a:srgbClr val="FFFFFF"/>
          </a:solidFill>
          <a:ln w="12700">
            <a:solidFill>
              <a:srgbClr val="E2E8F0"/>
            </a:solidFill>
            <a:prstDash val="solid"/>
          </a:ln>
        </p:spPr>
      </p:sp>
      <p:sp>
        <p:nvSpPr>
          <p:cNvPr id="52" name="Text 50"/>
          <p:cNvSpPr/>
          <p:nvPr/>
        </p:nvSpPr>
        <p:spPr>
          <a:xfrm>
            <a:off x="3438144" y="4443984"/>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Slow</a:t>
            </a:r>
            <a:endParaRPr lang="en-US" sz="1400" dirty="0"/>
          </a:p>
        </p:txBody>
      </p:sp>
      <p:sp>
        <p:nvSpPr>
          <p:cNvPr id="53" name="Shape 51"/>
          <p:cNvSpPr/>
          <p:nvPr/>
        </p:nvSpPr>
        <p:spPr>
          <a:xfrm>
            <a:off x="4773168" y="4443984"/>
            <a:ext cx="4663440" cy="512064"/>
          </a:xfrm>
          <a:prstGeom prst="rect">
            <a:avLst/>
          </a:prstGeom>
          <a:solidFill>
            <a:srgbClr val="FFFFFF"/>
          </a:solidFill>
          <a:ln w="12700">
            <a:solidFill>
              <a:srgbClr val="E2E8F0"/>
            </a:solidFill>
            <a:prstDash val="solid"/>
          </a:ln>
        </p:spPr>
      </p:sp>
      <p:sp>
        <p:nvSpPr>
          <p:cNvPr id="54" name="Text 52"/>
          <p:cNvSpPr/>
          <p:nvPr/>
        </p:nvSpPr>
        <p:spPr>
          <a:xfrm>
            <a:off x="4901184" y="4443984"/>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One host at a time, on a roof</a:t>
            </a:r>
            <a:endParaRPr lang="en-US" sz="1400" dirty="0"/>
          </a:p>
        </p:txBody>
      </p:sp>
      <p:sp>
        <p:nvSpPr>
          <p:cNvPr id="55" name="Shape 53"/>
          <p:cNvSpPr/>
          <p:nvPr/>
        </p:nvSpPr>
        <p:spPr>
          <a:xfrm>
            <a:off x="9436608" y="4443984"/>
            <a:ext cx="2185416" cy="512064"/>
          </a:xfrm>
          <a:prstGeom prst="rect">
            <a:avLst/>
          </a:prstGeom>
          <a:solidFill>
            <a:srgbClr val="FFFFFF"/>
          </a:solidFill>
          <a:ln w="12700">
            <a:solidFill>
              <a:srgbClr val="E2E8F0"/>
            </a:solidFill>
            <a:prstDash val="solid"/>
          </a:ln>
        </p:spPr>
      </p:sp>
      <p:sp>
        <p:nvSpPr>
          <p:cNvPr id="56" name="Text 54"/>
          <p:cNvSpPr/>
          <p:nvPr/>
        </p:nvSpPr>
        <p:spPr>
          <a:xfrm>
            <a:off x="9564624" y="4443984"/>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57" name="Shape 55"/>
          <p:cNvSpPr/>
          <p:nvPr/>
        </p:nvSpPr>
        <p:spPr>
          <a:xfrm>
            <a:off x="566928" y="4443984"/>
            <a:ext cx="64008" cy="512064"/>
          </a:xfrm>
          <a:prstGeom prst="rect">
            <a:avLst/>
          </a:prstGeom>
          <a:solidFill>
            <a:srgbClr val="800020"/>
          </a:solidFill>
          <a:ln w="12700">
            <a:solidFill>
              <a:srgbClr val="333333"/>
            </a:solidFill>
            <a:prstDash val="solid"/>
          </a:ln>
        </p:spPr>
      </p:sp>
      <p:sp>
        <p:nvSpPr>
          <p:cNvPr id="58" name="Shape 56"/>
          <p:cNvSpPr/>
          <p:nvPr/>
        </p:nvSpPr>
        <p:spPr>
          <a:xfrm>
            <a:off x="566928" y="4956048"/>
            <a:ext cx="2743200" cy="512064"/>
          </a:xfrm>
          <a:prstGeom prst="rect">
            <a:avLst/>
          </a:prstGeom>
          <a:solidFill>
            <a:srgbClr val="F8FAFC"/>
          </a:solidFill>
          <a:ln w="12700">
            <a:solidFill>
              <a:srgbClr val="E2E8F0"/>
            </a:solidFill>
            <a:prstDash val="solid"/>
          </a:ln>
        </p:spPr>
      </p:sp>
      <p:sp>
        <p:nvSpPr>
          <p:cNvPr id="59" name="Text 57"/>
          <p:cNvSpPr/>
          <p:nvPr/>
        </p:nvSpPr>
        <p:spPr>
          <a:xfrm>
            <a:off x="694944" y="4956048"/>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CAAB approval</a:t>
            </a:r>
            <a:endParaRPr lang="en-US" sz="1400" dirty="0"/>
          </a:p>
        </p:txBody>
      </p:sp>
      <p:sp>
        <p:nvSpPr>
          <p:cNvPr id="60" name="Shape 58"/>
          <p:cNvSpPr/>
          <p:nvPr/>
        </p:nvSpPr>
        <p:spPr>
          <a:xfrm>
            <a:off x="3310128" y="4956048"/>
            <a:ext cx="1463040" cy="512064"/>
          </a:xfrm>
          <a:prstGeom prst="rect">
            <a:avLst/>
          </a:prstGeom>
          <a:solidFill>
            <a:srgbClr val="F8FAFC"/>
          </a:solidFill>
          <a:ln w="12700">
            <a:solidFill>
              <a:srgbClr val="E2E8F0"/>
            </a:solidFill>
            <a:prstDash val="solid"/>
          </a:ln>
        </p:spPr>
      </p:sp>
      <p:sp>
        <p:nvSpPr>
          <p:cNvPr id="61" name="Text 59"/>
          <p:cNvSpPr/>
          <p:nvPr/>
        </p:nvSpPr>
        <p:spPr>
          <a:xfrm>
            <a:off x="3438144" y="4956048"/>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Slow</a:t>
            </a:r>
            <a:endParaRPr lang="en-US" sz="1400" dirty="0"/>
          </a:p>
        </p:txBody>
      </p:sp>
      <p:sp>
        <p:nvSpPr>
          <p:cNvPr id="62" name="Shape 60"/>
          <p:cNvSpPr/>
          <p:nvPr/>
        </p:nvSpPr>
        <p:spPr>
          <a:xfrm>
            <a:off x="4773168" y="4956048"/>
            <a:ext cx="4663440" cy="512064"/>
          </a:xfrm>
          <a:prstGeom prst="rect">
            <a:avLst/>
          </a:prstGeom>
          <a:solidFill>
            <a:srgbClr val="F8FAFC"/>
          </a:solidFill>
          <a:ln w="12700">
            <a:solidFill>
              <a:srgbClr val="E2E8F0"/>
            </a:solidFill>
            <a:prstDash val="solid"/>
          </a:ln>
        </p:spPr>
      </p:sp>
      <p:sp>
        <p:nvSpPr>
          <p:cNvPr id="63" name="Text 61"/>
          <p:cNvSpPr/>
          <p:nvPr/>
        </p:nvSpPr>
        <p:spPr>
          <a:xfrm>
            <a:off x="4901184" y="4956048"/>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 pre-application, then a licence</a:t>
            </a:r>
            <a:endParaRPr lang="en-US" sz="1400" dirty="0"/>
          </a:p>
        </p:txBody>
      </p:sp>
      <p:sp>
        <p:nvSpPr>
          <p:cNvPr id="64" name="Shape 62"/>
          <p:cNvSpPr/>
          <p:nvPr/>
        </p:nvSpPr>
        <p:spPr>
          <a:xfrm>
            <a:off x="9436608" y="4956048"/>
            <a:ext cx="2185416" cy="512064"/>
          </a:xfrm>
          <a:prstGeom prst="rect">
            <a:avLst/>
          </a:prstGeom>
          <a:solidFill>
            <a:srgbClr val="F8FAFC"/>
          </a:solidFill>
          <a:ln w="12700">
            <a:solidFill>
              <a:srgbClr val="E2E8F0"/>
            </a:solidFill>
            <a:prstDash val="solid"/>
          </a:ln>
        </p:spPr>
      </p:sp>
      <p:sp>
        <p:nvSpPr>
          <p:cNvPr id="65" name="Text 63"/>
          <p:cNvSpPr/>
          <p:nvPr/>
        </p:nvSpPr>
        <p:spPr>
          <a:xfrm>
            <a:off x="9564624" y="4956048"/>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66" name="Shape 64"/>
          <p:cNvSpPr/>
          <p:nvPr/>
        </p:nvSpPr>
        <p:spPr>
          <a:xfrm>
            <a:off x="566928" y="4956048"/>
            <a:ext cx="64008" cy="512064"/>
          </a:xfrm>
          <a:prstGeom prst="rect">
            <a:avLst/>
          </a:prstGeom>
          <a:solidFill>
            <a:srgbClr val="800020"/>
          </a:solidFill>
          <a:ln w="12700">
            <a:solidFill>
              <a:srgbClr val="333333"/>
            </a:solidFill>
            <a:prstDash val="solid"/>
          </a:ln>
        </p:spPr>
      </p:sp>
      <p:sp>
        <p:nvSpPr>
          <p:cNvPr id="67" name="Shape 65"/>
          <p:cNvSpPr/>
          <p:nvPr/>
        </p:nvSpPr>
        <p:spPr>
          <a:xfrm>
            <a:off x="566928" y="5468112"/>
            <a:ext cx="2743200" cy="512064"/>
          </a:xfrm>
          <a:prstGeom prst="rect">
            <a:avLst/>
          </a:prstGeom>
          <a:solidFill>
            <a:srgbClr val="FFFFFF"/>
          </a:solidFill>
          <a:ln w="12700">
            <a:solidFill>
              <a:srgbClr val="E2E8F0"/>
            </a:solidFill>
            <a:prstDash val="solid"/>
          </a:ln>
        </p:spPr>
      </p:sp>
      <p:sp>
        <p:nvSpPr>
          <p:cNvPr id="68" name="Text 66"/>
          <p:cNvSpPr/>
          <p:nvPr/>
        </p:nvSpPr>
        <p:spPr>
          <a:xfrm>
            <a:off x="694944" y="5468112"/>
            <a:ext cx="2487168" cy="512064"/>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Proven corridor data</a:t>
            </a:r>
            <a:endParaRPr lang="en-US" sz="1400" dirty="0"/>
          </a:p>
        </p:txBody>
      </p:sp>
      <p:sp>
        <p:nvSpPr>
          <p:cNvPr id="69" name="Shape 67"/>
          <p:cNvSpPr/>
          <p:nvPr/>
        </p:nvSpPr>
        <p:spPr>
          <a:xfrm>
            <a:off x="3310128" y="5468112"/>
            <a:ext cx="1463040" cy="512064"/>
          </a:xfrm>
          <a:prstGeom prst="rect">
            <a:avLst/>
          </a:prstGeom>
          <a:solidFill>
            <a:srgbClr val="FFFFFF"/>
          </a:solidFill>
          <a:ln w="12700">
            <a:solidFill>
              <a:srgbClr val="E2E8F0"/>
            </a:solidFill>
            <a:prstDash val="solid"/>
          </a:ln>
        </p:spPr>
      </p:sp>
      <p:sp>
        <p:nvSpPr>
          <p:cNvPr id="70" name="Text 68"/>
          <p:cNvSpPr/>
          <p:nvPr/>
        </p:nvSpPr>
        <p:spPr>
          <a:xfrm>
            <a:off x="3438144" y="5468112"/>
            <a:ext cx="12070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Very slow</a:t>
            </a:r>
            <a:endParaRPr lang="en-US" sz="1400" dirty="0"/>
          </a:p>
        </p:txBody>
      </p:sp>
      <p:sp>
        <p:nvSpPr>
          <p:cNvPr id="71" name="Shape 69"/>
          <p:cNvSpPr/>
          <p:nvPr/>
        </p:nvSpPr>
        <p:spPr>
          <a:xfrm>
            <a:off x="4773168" y="5468112"/>
            <a:ext cx="4663440" cy="512064"/>
          </a:xfrm>
          <a:prstGeom prst="rect">
            <a:avLst/>
          </a:prstGeom>
          <a:solidFill>
            <a:srgbClr val="FFFFFF"/>
          </a:solidFill>
          <a:ln w="12700">
            <a:solidFill>
              <a:srgbClr val="E2E8F0"/>
            </a:solidFill>
            <a:prstDash val="solid"/>
          </a:ln>
        </p:spPr>
      </p:sp>
      <p:sp>
        <p:nvSpPr>
          <p:cNvPr id="72" name="Text 70"/>
          <p:cNvSpPr/>
          <p:nvPr/>
        </p:nvSpPr>
        <p:spPr>
          <a:xfrm>
            <a:off x="4901184" y="5468112"/>
            <a:ext cx="4407408"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Hundreds of flights to collect</a:t>
            </a:r>
            <a:endParaRPr lang="en-US" sz="1400" dirty="0"/>
          </a:p>
        </p:txBody>
      </p:sp>
      <p:sp>
        <p:nvSpPr>
          <p:cNvPr id="73" name="Shape 71"/>
          <p:cNvSpPr/>
          <p:nvPr/>
        </p:nvSpPr>
        <p:spPr>
          <a:xfrm>
            <a:off x="9436608" y="5468112"/>
            <a:ext cx="2185416" cy="512064"/>
          </a:xfrm>
          <a:prstGeom prst="rect">
            <a:avLst/>
          </a:prstGeom>
          <a:solidFill>
            <a:srgbClr val="FFFFFF"/>
          </a:solidFill>
          <a:ln w="12700">
            <a:solidFill>
              <a:srgbClr val="E2E8F0"/>
            </a:solidFill>
            <a:prstDash val="solid"/>
          </a:ln>
        </p:spPr>
      </p:sp>
      <p:sp>
        <p:nvSpPr>
          <p:cNvPr id="74" name="Text 72"/>
          <p:cNvSpPr/>
          <p:nvPr/>
        </p:nvSpPr>
        <p:spPr>
          <a:xfrm>
            <a:off x="9564624" y="5468112"/>
            <a:ext cx="1929384" cy="512064"/>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a:t>
            </a:r>
            <a:endParaRPr lang="en-US" sz="1400" dirty="0"/>
          </a:p>
        </p:txBody>
      </p:sp>
      <p:sp>
        <p:nvSpPr>
          <p:cNvPr id="75" name="Shape 73"/>
          <p:cNvSpPr/>
          <p:nvPr/>
        </p:nvSpPr>
        <p:spPr>
          <a:xfrm>
            <a:off x="566928" y="5468112"/>
            <a:ext cx="64008" cy="512064"/>
          </a:xfrm>
          <a:prstGeom prst="rect">
            <a:avLst/>
          </a:prstGeom>
          <a:solidFill>
            <a:srgbClr val="800020"/>
          </a:solidFill>
          <a:ln w="12700">
            <a:solidFill>
              <a:srgbClr val="333333"/>
            </a:solidFill>
            <a:prstDash val="solid"/>
          </a:ln>
        </p:spPr>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Operations and People System</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Operations Process Design</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One order, eight handovers, and nine ways it fails.</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37</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How one order actually moves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Eight handovers, each with a named owner</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38</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2627300" cy="64008"/>
          </a:xfrm>
          <a:prstGeom prst="rect">
            <a:avLst/>
          </a:prstGeom>
          <a:solidFill>
            <a:srgbClr val="800020"/>
          </a:solidFill>
          <a:ln w="12700">
            <a:solidFill>
              <a:srgbClr val="333333"/>
            </a:solidFill>
            <a:prstDash val="solid"/>
          </a:ln>
        </p:spPr>
      </p:sp>
      <p:sp>
        <p:nvSpPr>
          <p:cNvPr id="9" name="Text 7"/>
          <p:cNvSpPr/>
          <p:nvPr/>
        </p:nvSpPr>
        <p:spPr>
          <a:xfrm>
            <a:off x="713232"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1. Order placed</a:t>
            </a:r>
            <a:endParaRPr lang="en-US" sz="1600" dirty="0"/>
          </a:p>
        </p:txBody>
      </p:sp>
      <p:sp>
        <p:nvSpPr>
          <p:cNvPr id="10" name="Text 8"/>
          <p:cNvSpPr/>
          <p:nvPr/>
        </p:nvSpPr>
        <p:spPr>
          <a:xfrm>
            <a:off x="713232"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App receives order, pad and kitchen matched</a:t>
            </a:r>
            <a:endParaRPr lang="en-US" sz="1400" dirty="0"/>
          </a:p>
        </p:txBody>
      </p:sp>
      <p:sp>
        <p:nvSpPr>
          <p:cNvPr id="11" name="Shape 9"/>
          <p:cNvSpPr/>
          <p:nvPr/>
        </p:nvSpPr>
        <p:spPr>
          <a:xfrm>
            <a:off x="3377108"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3377108" y="1298448"/>
            <a:ext cx="2627300" cy="64008"/>
          </a:xfrm>
          <a:prstGeom prst="rect">
            <a:avLst/>
          </a:prstGeom>
          <a:solidFill>
            <a:srgbClr val="800020"/>
          </a:solidFill>
          <a:ln w="12700">
            <a:solidFill>
              <a:srgbClr val="333333"/>
            </a:solidFill>
            <a:prstDash val="solid"/>
          </a:ln>
        </p:spPr>
      </p:sp>
      <p:sp>
        <p:nvSpPr>
          <p:cNvPr id="13" name="Text 11"/>
          <p:cNvSpPr/>
          <p:nvPr/>
        </p:nvSpPr>
        <p:spPr>
          <a:xfrm>
            <a:off x="3523412"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2. Kicked off</a:t>
            </a:r>
            <a:endParaRPr lang="en-US" sz="1600" dirty="0"/>
          </a:p>
        </p:txBody>
      </p:sp>
      <p:sp>
        <p:nvSpPr>
          <p:cNvPr id="14" name="Text 12"/>
          <p:cNvSpPr/>
          <p:nvPr/>
        </p:nvSpPr>
        <p:spPr>
          <a:xfrm>
            <a:off x="3523412"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Kitchen accepts, clock starts, customer notified</a:t>
            </a:r>
            <a:endParaRPr lang="en-US" sz="1400" dirty="0"/>
          </a:p>
        </p:txBody>
      </p:sp>
      <p:sp>
        <p:nvSpPr>
          <p:cNvPr id="15" name="Shape 13"/>
          <p:cNvSpPr/>
          <p:nvPr/>
        </p:nvSpPr>
        <p:spPr>
          <a:xfrm>
            <a:off x="6187288"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6187288" y="1298448"/>
            <a:ext cx="2627300" cy="64008"/>
          </a:xfrm>
          <a:prstGeom prst="rect">
            <a:avLst/>
          </a:prstGeom>
          <a:solidFill>
            <a:srgbClr val="800020"/>
          </a:solidFill>
          <a:ln w="12700">
            <a:solidFill>
              <a:srgbClr val="333333"/>
            </a:solidFill>
            <a:prstDash val="solid"/>
          </a:ln>
        </p:spPr>
      </p:sp>
      <p:sp>
        <p:nvSpPr>
          <p:cNvPr id="17" name="Text 15"/>
          <p:cNvSpPr/>
          <p:nvPr/>
        </p:nvSpPr>
        <p:spPr>
          <a:xfrm>
            <a:off x="6333592"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3. Loaded</a:t>
            </a:r>
            <a:endParaRPr lang="en-US" sz="1600" dirty="0"/>
          </a:p>
        </p:txBody>
      </p:sp>
      <p:sp>
        <p:nvSpPr>
          <p:cNvPr id="18" name="Text 16"/>
          <p:cNvSpPr/>
          <p:nvPr/>
        </p:nvSpPr>
        <p:spPr>
          <a:xfrm>
            <a:off x="6333592"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Drone loaded at the hub and pre-flight checks run</a:t>
            </a:r>
            <a:endParaRPr lang="en-US" sz="1400" dirty="0"/>
          </a:p>
        </p:txBody>
      </p:sp>
      <p:sp>
        <p:nvSpPr>
          <p:cNvPr id="19" name="Shape 17"/>
          <p:cNvSpPr/>
          <p:nvPr/>
        </p:nvSpPr>
        <p:spPr>
          <a:xfrm>
            <a:off x="8997467" y="1298448"/>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8997467" y="1298448"/>
            <a:ext cx="2627300" cy="64008"/>
          </a:xfrm>
          <a:prstGeom prst="rect">
            <a:avLst/>
          </a:prstGeom>
          <a:solidFill>
            <a:srgbClr val="800020"/>
          </a:solidFill>
          <a:ln w="12700">
            <a:solidFill>
              <a:srgbClr val="333333"/>
            </a:solidFill>
            <a:prstDash val="solid"/>
          </a:ln>
        </p:spPr>
      </p:sp>
      <p:sp>
        <p:nvSpPr>
          <p:cNvPr id="21" name="Text 19"/>
          <p:cNvSpPr/>
          <p:nvPr/>
        </p:nvSpPr>
        <p:spPr>
          <a:xfrm>
            <a:off x="9143771" y="1463040"/>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4. Launched</a:t>
            </a:r>
            <a:endParaRPr lang="en-US" sz="1600" dirty="0"/>
          </a:p>
        </p:txBody>
      </p:sp>
      <p:sp>
        <p:nvSpPr>
          <p:cNvPr id="22" name="Text 20"/>
          <p:cNvSpPr/>
          <p:nvPr/>
        </p:nvSpPr>
        <p:spPr>
          <a:xfrm>
            <a:off x="9143771" y="1828800"/>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Airframe launches and enters the corridor</a:t>
            </a:r>
            <a:endParaRPr lang="en-US" sz="1400" dirty="0"/>
          </a:p>
        </p:txBody>
      </p:sp>
      <p:sp>
        <p:nvSpPr>
          <p:cNvPr id="23" name="Shape 21"/>
          <p:cNvSpPr/>
          <p:nvPr/>
        </p:nvSpPr>
        <p:spPr>
          <a:xfrm>
            <a:off x="566928"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2816352"/>
            <a:ext cx="2627300" cy="64008"/>
          </a:xfrm>
          <a:prstGeom prst="rect">
            <a:avLst/>
          </a:prstGeom>
          <a:solidFill>
            <a:srgbClr val="800020"/>
          </a:solidFill>
          <a:ln w="12700">
            <a:solidFill>
              <a:srgbClr val="333333"/>
            </a:solidFill>
            <a:prstDash val="solid"/>
          </a:ln>
        </p:spPr>
      </p:sp>
      <p:sp>
        <p:nvSpPr>
          <p:cNvPr id="25" name="Text 23"/>
          <p:cNvSpPr/>
          <p:nvPr/>
        </p:nvSpPr>
        <p:spPr>
          <a:xfrm>
            <a:off x="713232"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5. Corridor flight</a:t>
            </a:r>
            <a:endParaRPr lang="en-US" sz="1600" dirty="0"/>
          </a:p>
        </p:txBody>
      </p:sp>
      <p:sp>
        <p:nvSpPr>
          <p:cNvPr id="26" name="Text 24"/>
          <p:cNvSpPr/>
          <p:nvPr/>
        </p:nvSpPr>
        <p:spPr>
          <a:xfrm>
            <a:off x="713232"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Vision follows the corridor, Jev watches for bounded calls</a:t>
            </a:r>
            <a:endParaRPr lang="en-US" sz="1400" dirty="0"/>
          </a:p>
        </p:txBody>
      </p:sp>
      <p:sp>
        <p:nvSpPr>
          <p:cNvPr id="27" name="Shape 25"/>
          <p:cNvSpPr/>
          <p:nvPr/>
        </p:nvSpPr>
        <p:spPr>
          <a:xfrm>
            <a:off x="3377108"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8" name="Shape 26"/>
          <p:cNvSpPr/>
          <p:nvPr/>
        </p:nvSpPr>
        <p:spPr>
          <a:xfrm>
            <a:off x="3377108" y="2816352"/>
            <a:ext cx="2627300" cy="64008"/>
          </a:xfrm>
          <a:prstGeom prst="rect">
            <a:avLst/>
          </a:prstGeom>
          <a:solidFill>
            <a:srgbClr val="800020"/>
          </a:solidFill>
          <a:ln w="12700">
            <a:solidFill>
              <a:srgbClr val="333333"/>
            </a:solidFill>
            <a:prstDash val="solid"/>
          </a:ln>
        </p:spPr>
      </p:sp>
      <p:sp>
        <p:nvSpPr>
          <p:cNvPr id="29" name="Text 27"/>
          <p:cNvSpPr/>
          <p:nvPr/>
        </p:nvSpPr>
        <p:spPr>
          <a:xfrm>
            <a:off x="3523412"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6. Approach</a:t>
            </a:r>
            <a:endParaRPr lang="en-US" sz="1600" dirty="0"/>
          </a:p>
        </p:txBody>
      </p:sp>
      <p:sp>
        <p:nvSpPr>
          <p:cNvPr id="30" name="Text 28"/>
          <p:cNvSpPr/>
          <p:nvPr/>
        </p:nvSpPr>
        <p:spPr>
          <a:xfrm>
            <a:off x="3523412"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Pad occupancy and descent are verified on board</a:t>
            </a:r>
            <a:endParaRPr lang="en-US" sz="1400" dirty="0"/>
          </a:p>
        </p:txBody>
      </p:sp>
      <p:sp>
        <p:nvSpPr>
          <p:cNvPr id="31" name="Shape 29"/>
          <p:cNvSpPr/>
          <p:nvPr/>
        </p:nvSpPr>
        <p:spPr>
          <a:xfrm>
            <a:off x="6187288"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32" name="Shape 30"/>
          <p:cNvSpPr/>
          <p:nvPr/>
        </p:nvSpPr>
        <p:spPr>
          <a:xfrm>
            <a:off x="6187288" y="2816352"/>
            <a:ext cx="2627300" cy="64008"/>
          </a:xfrm>
          <a:prstGeom prst="rect">
            <a:avLst/>
          </a:prstGeom>
          <a:solidFill>
            <a:srgbClr val="800020"/>
          </a:solidFill>
          <a:ln w="12700">
            <a:solidFill>
              <a:srgbClr val="333333"/>
            </a:solidFill>
            <a:prstDash val="solid"/>
          </a:ln>
        </p:spPr>
      </p:sp>
      <p:sp>
        <p:nvSpPr>
          <p:cNvPr id="33" name="Text 31"/>
          <p:cNvSpPr/>
          <p:nvPr/>
        </p:nvSpPr>
        <p:spPr>
          <a:xfrm>
            <a:off x="6333592"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7. Landing</a:t>
            </a:r>
            <a:endParaRPr lang="en-US" sz="1600" dirty="0"/>
          </a:p>
        </p:txBody>
      </p:sp>
      <p:sp>
        <p:nvSpPr>
          <p:cNvPr id="34" name="Text 32"/>
          <p:cNvSpPr/>
          <p:nvPr/>
        </p:nvSpPr>
        <p:spPr>
          <a:xfrm>
            <a:off x="6333592"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Touchdown on the pad, package released, pad confirmed empty</a:t>
            </a:r>
            <a:endParaRPr lang="en-US" sz="1400" dirty="0"/>
          </a:p>
        </p:txBody>
      </p:sp>
      <p:sp>
        <p:nvSpPr>
          <p:cNvPr id="35" name="Shape 33"/>
          <p:cNvSpPr/>
          <p:nvPr/>
        </p:nvSpPr>
        <p:spPr>
          <a:xfrm>
            <a:off x="8997467" y="2816352"/>
            <a:ext cx="2627300" cy="1371600"/>
          </a:xfrm>
          <a:prstGeom prst="roundRect">
            <a:avLst>
              <a:gd name="adj" fmla="val 3333"/>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36" name="Shape 34"/>
          <p:cNvSpPr/>
          <p:nvPr/>
        </p:nvSpPr>
        <p:spPr>
          <a:xfrm>
            <a:off x="8997467" y="2816352"/>
            <a:ext cx="2627300" cy="64008"/>
          </a:xfrm>
          <a:prstGeom prst="rect">
            <a:avLst/>
          </a:prstGeom>
          <a:solidFill>
            <a:srgbClr val="800020"/>
          </a:solidFill>
          <a:ln w="12700">
            <a:solidFill>
              <a:srgbClr val="333333"/>
            </a:solidFill>
            <a:prstDash val="solid"/>
          </a:ln>
        </p:spPr>
      </p:sp>
      <p:sp>
        <p:nvSpPr>
          <p:cNvPr id="37" name="Text 35"/>
          <p:cNvSpPr/>
          <p:nvPr/>
        </p:nvSpPr>
        <p:spPr>
          <a:xfrm>
            <a:off x="9143771" y="2980944"/>
            <a:ext cx="2334692" cy="310896"/>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8. Returned</a:t>
            </a:r>
            <a:endParaRPr lang="en-US" sz="1600" dirty="0"/>
          </a:p>
        </p:txBody>
      </p:sp>
      <p:sp>
        <p:nvSpPr>
          <p:cNvPr id="38" name="Text 36"/>
          <p:cNvSpPr/>
          <p:nvPr/>
        </p:nvSpPr>
        <p:spPr>
          <a:xfrm>
            <a:off x="9143771" y="3346704"/>
            <a:ext cx="2334692" cy="749808"/>
          </a:xfrm>
          <a:prstGeom prst="rect">
            <a:avLst/>
          </a:prstGeom>
          <a:noFill/>
          <a:ln/>
        </p:spPr>
        <p:txBody>
          <a:bodyPr wrap="square" lIns="0" tIns="0" rIns="0" bIns="0" rtlCol="0" anchor="t"/>
          <a:lstStyle/>
          <a:p>
            <a:pPr indent="0" marL="0">
              <a:lnSpc>
                <a:spcPts val="1800"/>
              </a:lnSpc>
              <a:buNone/>
            </a:pPr>
            <a:r>
              <a:rPr lang="en-US" sz="1400" dirty="0">
                <a:solidFill>
                  <a:srgbClr val="334155"/>
                </a:solidFill>
                <a:latin typeface="Calibri" pitchFamily="34" charset="0"/>
                <a:ea typeface="Calibri" pitchFamily="34" charset="-122"/>
                <a:cs typeface="Calibri" pitchFamily="34" charset="-120"/>
              </a:rPr>
              <a:t>Drone returns, recharges, and the flight is logged for review</a:t>
            </a:r>
            <a:endParaRPr lang="en-US" sz="1400" dirty="0"/>
          </a:p>
        </p:txBody>
      </p:sp>
      <p:sp>
        <p:nvSpPr>
          <p:cNvPr id="39" name="Shape 37"/>
          <p:cNvSpPr/>
          <p:nvPr/>
        </p:nvSpPr>
        <p:spPr>
          <a:xfrm>
            <a:off x="566928" y="4242816"/>
            <a:ext cx="11057839" cy="1463040"/>
          </a:xfrm>
          <a:prstGeom prst="roundRect">
            <a:avLst>
              <a:gd name="adj" fmla="val 3125"/>
            </a:avLst>
          </a:prstGeom>
          <a:solidFill>
            <a:srgbClr val="F0FDF4"/>
          </a:solidFill>
          <a:ln w="12700">
            <a:solidFill>
              <a:srgbClr val="CBD5E1"/>
            </a:solidFill>
            <a:prstDash val="solid"/>
          </a:ln>
          <a:effectLst>
            <a:outerShdw sx="100000" sy="100000" kx="0" ky="0" algn="bl" rotWithShape="0" blurRad="114300" dist="12700" dir="5400000">
              <a:srgbClr val="0F172A">
                <a:alpha val="8000"/>
              </a:srgbClr>
            </a:outerShdw>
          </a:effectLst>
        </p:spPr>
      </p:sp>
      <p:sp>
        <p:nvSpPr>
          <p:cNvPr id="40" name="Text 38"/>
          <p:cNvSpPr/>
          <p:nvPr/>
        </p:nvSpPr>
        <p:spPr>
          <a:xfrm>
            <a:off x="694944" y="4334256"/>
            <a:ext cx="10801807" cy="274320"/>
          </a:xfrm>
          <a:prstGeom prst="rect">
            <a:avLst/>
          </a:prstGeom>
          <a:noFill/>
          <a:ln/>
        </p:spPr>
        <p:txBody>
          <a:bodyPr wrap="square" lIns="0" tIns="0" rIns="0" bIns="0" rtlCol="0" anchor="ctr"/>
          <a:lstStyle/>
          <a:p>
            <a:pPr indent="0" marL="0">
              <a:buNone/>
            </a:pPr>
            <a:r>
              <a:rPr lang="en-US" sz="1600" b="1" dirty="0">
                <a:solidFill>
                  <a:srgbClr val="166534"/>
                </a:solidFill>
                <a:latin typeface="Calibri" pitchFamily="34" charset="0"/>
                <a:ea typeface="Calibri" pitchFamily="34" charset="-122"/>
                <a:cs typeface="Calibri" pitchFamily="34" charset="-120"/>
              </a:rPr>
              <a:t>The rule that governs every handover</a:t>
            </a:r>
            <a:endParaRPr lang="en-US" sz="1600" dirty="0"/>
          </a:p>
        </p:txBody>
      </p:sp>
      <p:sp>
        <p:nvSpPr>
          <p:cNvPr id="41" name="Text 39"/>
          <p:cNvSpPr/>
          <p:nvPr/>
        </p:nvSpPr>
        <p:spPr>
          <a:xfrm>
            <a:off x="713232" y="4663440"/>
            <a:ext cx="10765231" cy="932688"/>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The aircraft decides its own safety, and may refuse a landing at any step</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A refused landing means return home, a rebooked order, then a refund</a:t>
            </a:r>
            <a:endParaRPr lang="en-US" sz="1400" dirty="0"/>
          </a:p>
          <a:p>
            <a:pPr marL="342900" indent="-342900">
              <a:spcAft>
                <a:spcPts val="500"/>
              </a:spcAft>
              <a:buSzPct val="100000"/>
              <a:buChar char="•"/>
            </a:pPr>
            <a:r>
              <a:rPr lang="en-US" sz="1400" dirty="0">
                <a:solidFill>
                  <a:srgbClr val="334155"/>
                </a:solidFill>
                <a:latin typeface="Calibri" pitchFamily="34" charset="0"/>
                <a:ea typeface="Calibri" pitchFamily="34" charset="-122"/>
                <a:cs typeface="Calibri" pitchFamily="34" charset="-120"/>
              </a:rPr>
              <a:t>No operator, customer or model can override the safety path on board</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The people the system needs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Nine roles in the pilot hub, and what each one owns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39</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926080" cy="384048"/>
          </a:xfrm>
          <a:prstGeom prst="rect">
            <a:avLst/>
          </a:prstGeom>
          <a:solidFill>
            <a:srgbClr val="0F172A"/>
          </a:solidFill>
          <a:ln w="12700">
            <a:solidFill>
              <a:srgbClr val="333333"/>
            </a:solidFill>
            <a:prstDash val="solid"/>
          </a:ln>
        </p:spPr>
      </p:sp>
      <p:sp>
        <p:nvSpPr>
          <p:cNvPr id="8" name="Text 6"/>
          <p:cNvSpPr/>
          <p:nvPr/>
        </p:nvSpPr>
        <p:spPr>
          <a:xfrm>
            <a:off x="69494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Role</a:t>
            </a:r>
            <a:endParaRPr lang="en-US" sz="1400" dirty="0"/>
          </a:p>
        </p:txBody>
      </p:sp>
      <p:sp>
        <p:nvSpPr>
          <p:cNvPr id="9" name="Shape 7"/>
          <p:cNvSpPr/>
          <p:nvPr/>
        </p:nvSpPr>
        <p:spPr>
          <a:xfrm>
            <a:off x="3493008" y="1298448"/>
            <a:ext cx="914400" cy="384048"/>
          </a:xfrm>
          <a:prstGeom prst="rect">
            <a:avLst/>
          </a:prstGeom>
          <a:solidFill>
            <a:srgbClr val="0F172A"/>
          </a:solidFill>
          <a:ln w="12700">
            <a:solidFill>
              <a:srgbClr val="333333"/>
            </a:solidFill>
            <a:prstDash val="solid"/>
          </a:ln>
        </p:spPr>
      </p:sp>
      <p:sp>
        <p:nvSpPr>
          <p:cNvPr id="10" name="Text 8"/>
          <p:cNvSpPr/>
          <p:nvPr/>
        </p:nvSpPr>
        <p:spPr>
          <a:xfrm>
            <a:off x="3621024" y="1298448"/>
            <a:ext cx="65836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Count</a:t>
            </a:r>
            <a:endParaRPr lang="en-US" sz="1400" dirty="0"/>
          </a:p>
        </p:txBody>
      </p:sp>
      <p:sp>
        <p:nvSpPr>
          <p:cNvPr id="11" name="Shape 9"/>
          <p:cNvSpPr/>
          <p:nvPr/>
        </p:nvSpPr>
        <p:spPr>
          <a:xfrm>
            <a:off x="4407408" y="1298448"/>
            <a:ext cx="7214616" cy="384048"/>
          </a:xfrm>
          <a:prstGeom prst="rect">
            <a:avLst/>
          </a:prstGeom>
          <a:solidFill>
            <a:srgbClr val="0F172A"/>
          </a:solidFill>
          <a:ln w="12700">
            <a:solidFill>
              <a:srgbClr val="333333"/>
            </a:solidFill>
            <a:prstDash val="solid"/>
          </a:ln>
        </p:spPr>
      </p:sp>
      <p:sp>
        <p:nvSpPr>
          <p:cNvPr id="12" name="Text 10"/>
          <p:cNvSpPr/>
          <p:nvPr/>
        </p:nvSpPr>
        <p:spPr>
          <a:xfrm>
            <a:off x="4535424" y="1298448"/>
            <a:ext cx="695858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What this person owns</a:t>
            </a:r>
            <a:endParaRPr lang="en-US" sz="1400" dirty="0"/>
          </a:p>
        </p:txBody>
      </p:sp>
      <p:sp>
        <p:nvSpPr>
          <p:cNvPr id="13" name="Shape 11"/>
          <p:cNvSpPr/>
          <p:nvPr/>
        </p:nvSpPr>
        <p:spPr>
          <a:xfrm>
            <a:off x="566928" y="1682496"/>
            <a:ext cx="2926080" cy="411480"/>
          </a:xfrm>
          <a:prstGeom prst="rect">
            <a:avLst/>
          </a:prstGeom>
          <a:solidFill>
            <a:srgbClr val="FFFFFF"/>
          </a:solidFill>
          <a:ln w="12700">
            <a:solidFill>
              <a:srgbClr val="E2E8F0"/>
            </a:solidFill>
            <a:prstDash val="solid"/>
          </a:ln>
        </p:spPr>
      </p:sp>
      <p:sp>
        <p:nvSpPr>
          <p:cNvPr id="14" name="Text 12"/>
          <p:cNvSpPr/>
          <p:nvPr/>
        </p:nvSpPr>
        <p:spPr>
          <a:xfrm>
            <a:off x="694944" y="168249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Hub manager</a:t>
            </a:r>
            <a:endParaRPr lang="en-US" sz="1400" dirty="0"/>
          </a:p>
        </p:txBody>
      </p:sp>
      <p:sp>
        <p:nvSpPr>
          <p:cNvPr id="15" name="Shape 13"/>
          <p:cNvSpPr/>
          <p:nvPr/>
        </p:nvSpPr>
        <p:spPr>
          <a:xfrm>
            <a:off x="3493008" y="1682496"/>
            <a:ext cx="914400" cy="411480"/>
          </a:xfrm>
          <a:prstGeom prst="rect">
            <a:avLst/>
          </a:prstGeom>
          <a:solidFill>
            <a:srgbClr val="FFFFFF"/>
          </a:solidFill>
          <a:ln w="12700">
            <a:solidFill>
              <a:srgbClr val="E2E8F0"/>
            </a:solidFill>
            <a:prstDash val="solid"/>
          </a:ln>
        </p:spPr>
      </p:sp>
      <p:sp>
        <p:nvSpPr>
          <p:cNvPr id="16" name="Text 14"/>
          <p:cNvSpPr/>
          <p:nvPr/>
        </p:nvSpPr>
        <p:spPr>
          <a:xfrm>
            <a:off x="3621024" y="168249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17" name="Shape 15"/>
          <p:cNvSpPr/>
          <p:nvPr/>
        </p:nvSpPr>
        <p:spPr>
          <a:xfrm>
            <a:off x="4407408" y="1682496"/>
            <a:ext cx="7214616" cy="411480"/>
          </a:xfrm>
          <a:prstGeom prst="rect">
            <a:avLst/>
          </a:prstGeom>
          <a:solidFill>
            <a:srgbClr val="FFFFFF"/>
          </a:solidFill>
          <a:ln w="12700">
            <a:solidFill>
              <a:srgbClr val="E2E8F0"/>
            </a:solidFill>
            <a:prstDash val="solid"/>
          </a:ln>
        </p:spPr>
      </p:sp>
      <p:sp>
        <p:nvSpPr>
          <p:cNvPr id="18" name="Text 16"/>
          <p:cNvSpPr/>
          <p:nvPr/>
        </p:nvSpPr>
        <p:spPr>
          <a:xfrm>
            <a:off x="4535424" y="168249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network, host relationships, corridor design input</a:t>
            </a:r>
            <a:endParaRPr lang="en-US" sz="1400" dirty="0"/>
          </a:p>
        </p:txBody>
      </p:sp>
      <p:sp>
        <p:nvSpPr>
          <p:cNvPr id="19" name="Shape 17"/>
          <p:cNvSpPr/>
          <p:nvPr/>
        </p:nvSpPr>
        <p:spPr>
          <a:xfrm>
            <a:off x="566928" y="1682496"/>
            <a:ext cx="64008" cy="411480"/>
          </a:xfrm>
          <a:prstGeom prst="rect">
            <a:avLst/>
          </a:prstGeom>
          <a:solidFill>
            <a:srgbClr val="800020"/>
          </a:solidFill>
          <a:ln w="12700">
            <a:solidFill>
              <a:srgbClr val="333333"/>
            </a:solidFill>
            <a:prstDash val="solid"/>
          </a:ln>
        </p:spPr>
      </p:sp>
      <p:sp>
        <p:nvSpPr>
          <p:cNvPr id="20" name="Shape 18"/>
          <p:cNvSpPr/>
          <p:nvPr/>
        </p:nvSpPr>
        <p:spPr>
          <a:xfrm>
            <a:off x="566928" y="2093976"/>
            <a:ext cx="2926080" cy="411480"/>
          </a:xfrm>
          <a:prstGeom prst="rect">
            <a:avLst/>
          </a:prstGeom>
          <a:solidFill>
            <a:srgbClr val="F8FAFC"/>
          </a:solidFill>
          <a:ln w="12700">
            <a:solidFill>
              <a:srgbClr val="E2E8F0"/>
            </a:solidFill>
            <a:prstDash val="solid"/>
          </a:ln>
        </p:spPr>
      </p:sp>
      <p:sp>
        <p:nvSpPr>
          <p:cNvPr id="21" name="Text 19"/>
          <p:cNvSpPr/>
          <p:nvPr/>
        </p:nvSpPr>
        <p:spPr>
          <a:xfrm>
            <a:off x="694944" y="209397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Flight operations lead</a:t>
            </a:r>
            <a:endParaRPr lang="en-US" sz="1400" dirty="0"/>
          </a:p>
        </p:txBody>
      </p:sp>
      <p:sp>
        <p:nvSpPr>
          <p:cNvPr id="22" name="Shape 20"/>
          <p:cNvSpPr/>
          <p:nvPr/>
        </p:nvSpPr>
        <p:spPr>
          <a:xfrm>
            <a:off x="3493008" y="2093976"/>
            <a:ext cx="914400" cy="411480"/>
          </a:xfrm>
          <a:prstGeom prst="rect">
            <a:avLst/>
          </a:prstGeom>
          <a:solidFill>
            <a:srgbClr val="F8FAFC"/>
          </a:solidFill>
          <a:ln w="12700">
            <a:solidFill>
              <a:srgbClr val="E2E8F0"/>
            </a:solidFill>
            <a:prstDash val="solid"/>
          </a:ln>
        </p:spPr>
      </p:sp>
      <p:sp>
        <p:nvSpPr>
          <p:cNvPr id="23" name="Text 21"/>
          <p:cNvSpPr/>
          <p:nvPr/>
        </p:nvSpPr>
        <p:spPr>
          <a:xfrm>
            <a:off x="3621024" y="209397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24" name="Shape 22"/>
          <p:cNvSpPr/>
          <p:nvPr/>
        </p:nvSpPr>
        <p:spPr>
          <a:xfrm>
            <a:off x="4407408" y="2093976"/>
            <a:ext cx="7214616" cy="411480"/>
          </a:xfrm>
          <a:prstGeom prst="rect">
            <a:avLst/>
          </a:prstGeom>
          <a:solidFill>
            <a:srgbClr val="F8FAFC"/>
          </a:solidFill>
          <a:ln w="12700">
            <a:solidFill>
              <a:srgbClr val="E2E8F0"/>
            </a:solidFill>
            <a:prstDash val="solid"/>
          </a:ln>
        </p:spPr>
      </p:sp>
      <p:sp>
        <p:nvSpPr>
          <p:cNvPr id="25" name="Text 23"/>
          <p:cNvSpPr/>
          <p:nvPr/>
        </p:nvSpPr>
        <p:spPr>
          <a:xfrm>
            <a:off x="4535424" y="209397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Launch and recovery schedule, weather calls, no fly decisions</a:t>
            </a:r>
            <a:endParaRPr lang="en-US" sz="1400" dirty="0"/>
          </a:p>
        </p:txBody>
      </p:sp>
      <p:sp>
        <p:nvSpPr>
          <p:cNvPr id="26" name="Shape 24"/>
          <p:cNvSpPr/>
          <p:nvPr/>
        </p:nvSpPr>
        <p:spPr>
          <a:xfrm>
            <a:off x="566928" y="2093976"/>
            <a:ext cx="64008" cy="411480"/>
          </a:xfrm>
          <a:prstGeom prst="rect">
            <a:avLst/>
          </a:prstGeom>
          <a:solidFill>
            <a:srgbClr val="800020"/>
          </a:solidFill>
          <a:ln w="12700">
            <a:solidFill>
              <a:srgbClr val="333333"/>
            </a:solidFill>
            <a:prstDash val="solid"/>
          </a:ln>
        </p:spPr>
      </p:sp>
      <p:sp>
        <p:nvSpPr>
          <p:cNvPr id="27" name="Shape 25"/>
          <p:cNvSpPr/>
          <p:nvPr/>
        </p:nvSpPr>
        <p:spPr>
          <a:xfrm>
            <a:off x="566928" y="2505456"/>
            <a:ext cx="2926080" cy="411480"/>
          </a:xfrm>
          <a:prstGeom prst="rect">
            <a:avLst/>
          </a:prstGeom>
          <a:solidFill>
            <a:srgbClr val="FFFFFF"/>
          </a:solidFill>
          <a:ln w="12700">
            <a:solidFill>
              <a:srgbClr val="E2E8F0"/>
            </a:solidFill>
            <a:prstDash val="solid"/>
          </a:ln>
        </p:spPr>
      </p:sp>
      <p:sp>
        <p:nvSpPr>
          <p:cNvPr id="28" name="Text 26"/>
          <p:cNvSpPr/>
          <p:nvPr/>
        </p:nvSpPr>
        <p:spPr>
          <a:xfrm>
            <a:off x="694944" y="250545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Safety lead</a:t>
            </a:r>
            <a:endParaRPr lang="en-US" sz="1400" dirty="0"/>
          </a:p>
        </p:txBody>
      </p:sp>
      <p:sp>
        <p:nvSpPr>
          <p:cNvPr id="29" name="Shape 27"/>
          <p:cNvSpPr/>
          <p:nvPr/>
        </p:nvSpPr>
        <p:spPr>
          <a:xfrm>
            <a:off x="3493008" y="2505456"/>
            <a:ext cx="914400" cy="411480"/>
          </a:xfrm>
          <a:prstGeom prst="rect">
            <a:avLst/>
          </a:prstGeom>
          <a:solidFill>
            <a:srgbClr val="FFFFFF"/>
          </a:solidFill>
          <a:ln w="12700">
            <a:solidFill>
              <a:srgbClr val="E2E8F0"/>
            </a:solidFill>
            <a:prstDash val="solid"/>
          </a:ln>
        </p:spPr>
      </p:sp>
      <p:sp>
        <p:nvSpPr>
          <p:cNvPr id="30" name="Text 28"/>
          <p:cNvSpPr/>
          <p:nvPr/>
        </p:nvSpPr>
        <p:spPr>
          <a:xfrm>
            <a:off x="3621024" y="250545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31" name="Shape 29"/>
          <p:cNvSpPr/>
          <p:nvPr/>
        </p:nvSpPr>
        <p:spPr>
          <a:xfrm>
            <a:off x="4407408" y="2505456"/>
            <a:ext cx="7214616" cy="411480"/>
          </a:xfrm>
          <a:prstGeom prst="rect">
            <a:avLst/>
          </a:prstGeom>
          <a:solidFill>
            <a:srgbClr val="FFFFFF"/>
          </a:solidFill>
          <a:ln w="12700">
            <a:solidFill>
              <a:srgbClr val="E2E8F0"/>
            </a:solidFill>
            <a:prstDash val="solid"/>
          </a:ln>
        </p:spPr>
      </p:sp>
      <p:sp>
        <p:nvSpPr>
          <p:cNvPr id="32" name="Text 30"/>
          <p:cNvSpPr/>
          <p:nvPr/>
        </p:nvSpPr>
        <p:spPr>
          <a:xfrm>
            <a:off x="4535424" y="250545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Safety path ownership, incident review, regulator liaison</a:t>
            </a:r>
            <a:endParaRPr lang="en-US" sz="1400" dirty="0"/>
          </a:p>
        </p:txBody>
      </p:sp>
      <p:sp>
        <p:nvSpPr>
          <p:cNvPr id="33" name="Shape 31"/>
          <p:cNvSpPr/>
          <p:nvPr/>
        </p:nvSpPr>
        <p:spPr>
          <a:xfrm>
            <a:off x="566928" y="2505456"/>
            <a:ext cx="64008" cy="411480"/>
          </a:xfrm>
          <a:prstGeom prst="rect">
            <a:avLst/>
          </a:prstGeom>
          <a:solidFill>
            <a:srgbClr val="800020"/>
          </a:solidFill>
          <a:ln w="12700">
            <a:solidFill>
              <a:srgbClr val="333333"/>
            </a:solidFill>
            <a:prstDash val="solid"/>
          </a:ln>
        </p:spPr>
      </p:sp>
      <p:sp>
        <p:nvSpPr>
          <p:cNvPr id="34" name="Shape 32"/>
          <p:cNvSpPr/>
          <p:nvPr/>
        </p:nvSpPr>
        <p:spPr>
          <a:xfrm>
            <a:off x="566928" y="2916936"/>
            <a:ext cx="2926080" cy="411480"/>
          </a:xfrm>
          <a:prstGeom prst="rect">
            <a:avLst/>
          </a:prstGeom>
          <a:solidFill>
            <a:srgbClr val="F8FAFC"/>
          </a:solidFill>
          <a:ln w="12700">
            <a:solidFill>
              <a:srgbClr val="E2E8F0"/>
            </a:solidFill>
            <a:prstDash val="solid"/>
          </a:ln>
        </p:spPr>
      </p:sp>
      <p:sp>
        <p:nvSpPr>
          <p:cNvPr id="35" name="Text 33"/>
          <p:cNvSpPr/>
          <p:nvPr/>
        </p:nvSpPr>
        <p:spPr>
          <a:xfrm>
            <a:off x="694944" y="291693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Corridor engineer</a:t>
            </a:r>
            <a:endParaRPr lang="en-US" sz="1400" dirty="0"/>
          </a:p>
        </p:txBody>
      </p:sp>
      <p:sp>
        <p:nvSpPr>
          <p:cNvPr id="36" name="Shape 34"/>
          <p:cNvSpPr/>
          <p:nvPr/>
        </p:nvSpPr>
        <p:spPr>
          <a:xfrm>
            <a:off x="3493008" y="2916936"/>
            <a:ext cx="914400" cy="411480"/>
          </a:xfrm>
          <a:prstGeom prst="rect">
            <a:avLst/>
          </a:prstGeom>
          <a:solidFill>
            <a:srgbClr val="F8FAFC"/>
          </a:solidFill>
          <a:ln w="12700">
            <a:solidFill>
              <a:srgbClr val="E2E8F0"/>
            </a:solidFill>
            <a:prstDash val="solid"/>
          </a:ln>
        </p:spPr>
      </p:sp>
      <p:sp>
        <p:nvSpPr>
          <p:cNvPr id="37" name="Text 35"/>
          <p:cNvSpPr/>
          <p:nvPr/>
        </p:nvSpPr>
        <p:spPr>
          <a:xfrm>
            <a:off x="3621024" y="291693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38" name="Shape 36"/>
          <p:cNvSpPr/>
          <p:nvPr/>
        </p:nvSpPr>
        <p:spPr>
          <a:xfrm>
            <a:off x="4407408" y="2916936"/>
            <a:ext cx="7214616" cy="411480"/>
          </a:xfrm>
          <a:prstGeom prst="rect">
            <a:avLst/>
          </a:prstGeom>
          <a:solidFill>
            <a:srgbClr val="F8FAFC"/>
          </a:solidFill>
          <a:ln w="12700">
            <a:solidFill>
              <a:srgbClr val="E2E8F0"/>
            </a:solidFill>
            <a:prstDash val="solid"/>
          </a:ln>
        </p:spPr>
      </p:sp>
      <p:sp>
        <p:nvSpPr>
          <p:cNvPr id="39" name="Text 37"/>
          <p:cNvSpPr/>
          <p:nvPr/>
        </p:nvSpPr>
        <p:spPr>
          <a:xfrm>
            <a:off x="4535424" y="291693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Corridor geometry, pad placement, airspace compliance</a:t>
            </a:r>
            <a:endParaRPr lang="en-US" sz="1400" dirty="0"/>
          </a:p>
        </p:txBody>
      </p:sp>
      <p:sp>
        <p:nvSpPr>
          <p:cNvPr id="40" name="Shape 38"/>
          <p:cNvSpPr/>
          <p:nvPr/>
        </p:nvSpPr>
        <p:spPr>
          <a:xfrm>
            <a:off x="566928" y="2916936"/>
            <a:ext cx="64008" cy="411480"/>
          </a:xfrm>
          <a:prstGeom prst="rect">
            <a:avLst/>
          </a:prstGeom>
          <a:solidFill>
            <a:srgbClr val="800020"/>
          </a:solidFill>
          <a:ln w="12700">
            <a:solidFill>
              <a:srgbClr val="333333"/>
            </a:solidFill>
            <a:prstDash val="solid"/>
          </a:ln>
        </p:spPr>
      </p:sp>
      <p:sp>
        <p:nvSpPr>
          <p:cNvPr id="41" name="Shape 39"/>
          <p:cNvSpPr/>
          <p:nvPr/>
        </p:nvSpPr>
        <p:spPr>
          <a:xfrm>
            <a:off x="566928" y="3328416"/>
            <a:ext cx="2926080" cy="411480"/>
          </a:xfrm>
          <a:prstGeom prst="rect">
            <a:avLst/>
          </a:prstGeom>
          <a:solidFill>
            <a:srgbClr val="FFFFFF"/>
          </a:solidFill>
          <a:ln w="12700">
            <a:solidFill>
              <a:srgbClr val="E2E8F0"/>
            </a:solidFill>
            <a:prstDash val="solid"/>
          </a:ln>
        </p:spPr>
      </p:sp>
      <p:sp>
        <p:nvSpPr>
          <p:cNvPr id="42" name="Text 40"/>
          <p:cNvSpPr/>
          <p:nvPr/>
        </p:nvSpPr>
        <p:spPr>
          <a:xfrm>
            <a:off x="694944" y="332841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AI and data lead</a:t>
            </a:r>
            <a:endParaRPr lang="en-US" sz="1400" dirty="0"/>
          </a:p>
        </p:txBody>
      </p:sp>
      <p:sp>
        <p:nvSpPr>
          <p:cNvPr id="43" name="Shape 41"/>
          <p:cNvSpPr/>
          <p:nvPr/>
        </p:nvSpPr>
        <p:spPr>
          <a:xfrm>
            <a:off x="3493008" y="3328416"/>
            <a:ext cx="914400" cy="411480"/>
          </a:xfrm>
          <a:prstGeom prst="rect">
            <a:avLst/>
          </a:prstGeom>
          <a:solidFill>
            <a:srgbClr val="FFFFFF"/>
          </a:solidFill>
          <a:ln w="12700">
            <a:solidFill>
              <a:srgbClr val="E2E8F0"/>
            </a:solidFill>
            <a:prstDash val="solid"/>
          </a:ln>
        </p:spPr>
      </p:sp>
      <p:sp>
        <p:nvSpPr>
          <p:cNvPr id="44" name="Text 42"/>
          <p:cNvSpPr/>
          <p:nvPr/>
        </p:nvSpPr>
        <p:spPr>
          <a:xfrm>
            <a:off x="3621024" y="332841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45" name="Shape 43"/>
          <p:cNvSpPr/>
          <p:nvPr/>
        </p:nvSpPr>
        <p:spPr>
          <a:xfrm>
            <a:off x="4407408" y="3328416"/>
            <a:ext cx="7214616" cy="411480"/>
          </a:xfrm>
          <a:prstGeom prst="rect">
            <a:avLst/>
          </a:prstGeom>
          <a:solidFill>
            <a:srgbClr val="FFFFFF"/>
          </a:solidFill>
          <a:ln w="12700">
            <a:solidFill>
              <a:srgbClr val="E2E8F0"/>
            </a:solidFill>
            <a:prstDash val="solid"/>
          </a:ln>
        </p:spPr>
      </p:sp>
      <p:sp>
        <p:nvSpPr>
          <p:cNvPr id="46" name="Text 44"/>
          <p:cNvSpPr/>
          <p:nvPr/>
        </p:nvSpPr>
        <p:spPr>
          <a:xfrm>
            <a:off x="4535424" y="332841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Vision and model evaluation, escalation thresholds, drift</a:t>
            </a:r>
            <a:endParaRPr lang="en-US" sz="1400" dirty="0"/>
          </a:p>
        </p:txBody>
      </p:sp>
      <p:sp>
        <p:nvSpPr>
          <p:cNvPr id="47" name="Shape 45"/>
          <p:cNvSpPr/>
          <p:nvPr/>
        </p:nvSpPr>
        <p:spPr>
          <a:xfrm>
            <a:off x="566928" y="3328416"/>
            <a:ext cx="64008" cy="411480"/>
          </a:xfrm>
          <a:prstGeom prst="rect">
            <a:avLst/>
          </a:prstGeom>
          <a:solidFill>
            <a:srgbClr val="800020"/>
          </a:solidFill>
          <a:ln w="12700">
            <a:solidFill>
              <a:srgbClr val="333333"/>
            </a:solidFill>
            <a:prstDash val="solid"/>
          </a:ln>
        </p:spPr>
      </p:sp>
      <p:sp>
        <p:nvSpPr>
          <p:cNvPr id="48" name="Shape 46"/>
          <p:cNvSpPr/>
          <p:nvPr/>
        </p:nvSpPr>
        <p:spPr>
          <a:xfrm>
            <a:off x="566928" y="3739896"/>
            <a:ext cx="2926080" cy="411480"/>
          </a:xfrm>
          <a:prstGeom prst="rect">
            <a:avLst/>
          </a:prstGeom>
          <a:solidFill>
            <a:srgbClr val="F8FAFC"/>
          </a:solidFill>
          <a:ln w="12700">
            <a:solidFill>
              <a:srgbClr val="E2E8F0"/>
            </a:solidFill>
            <a:prstDash val="solid"/>
          </a:ln>
        </p:spPr>
      </p:sp>
      <p:sp>
        <p:nvSpPr>
          <p:cNvPr id="49" name="Text 47"/>
          <p:cNvSpPr/>
          <p:nvPr/>
        </p:nvSpPr>
        <p:spPr>
          <a:xfrm>
            <a:off x="694944" y="373989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Line mechanics</a:t>
            </a:r>
            <a:endParaRPr lang="en-US" sz="1400" dirty="0"/>
          </a:p>
        </p:txBody>
      </p:sp>
      <p:sp>
        <p:nvSpPr>
          <p:cNvPr id="50" name="Shape 48"/>
          <p:cNvSpPr/>
          <p:nvPr/>
        </p:nvSpPr>
        <p:spPr>
          <a:xfrm>
            <a:off x="3493008" y="3739896"/>
            <a:ext cx="914400" cy="411480"/>
          </a:xfrm>
          <a:prstGeom prst="rect">
            <a:avLst/>
          </a:prstGeom>
          <a:solidFill>
            <a:srgbClr val="F8FAFC"/>
          </a:solidFill>
          <a:ln w="12700">
            <a:solidFill>
              <a:srgbClr val="E2E8F0"/>
            </a:solidFill>
            <a:prstDash val="solid"/>
          </a:ln>
        </p:spPr>
      </p:sp>
      <p:sp>
        <p:nvSpPr>
          <p:cNvPr id="51" name="Text 49"/>
          <p:cNvSpPr/>
          <p:nvPr/>
        </p:nvSpPr>
        <p:spPr>
          <a:xfrm>
            <a:off x="3621024" y="373989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2</a:t>
            </a:r>
            <a:endParaRPr lang="en-US" sz="1400" dirty="0"/>
          </a:p>
        </p:txBody>
      </p:sp>
      <p:sp>
        <p:nvSpPr>
          <p:cNvPr id="52" name="Shape 50"/>
          <p:cNvSpPr/>
          <p:nvPr/>
        </p:nvSpPr>
        <p:spPr>
          <a:xfrm>
            <a:off x="4407408" y="3739896"/>
            <a:ext cx="7214616" cy="411480"/>
          </a:xfrm>
          <a:prstGeom prst="rect">
            <a:avLst/>
          </a:prstGeom>
          <a:solidFill>
            <a:srgbClr val="F8FAFC"/>
          </a:solidFill>
          <a:ln w="12700">
            <a:solidFill>
              <a:srgbClr val="E2E8F0"/>
            </a:solidFill>
            <a:prstDash val="solid"/>
          </a:ln>
        </p:spPr>
      </p:sp>
      <p:sp>
        <p:nvSpPr>
          <p:cNvPr id="53" name="Text 51"/>
          <p:cNvSpPr/>
          <p:nvPr/>
        </p:nvSpPr>
        <p:spPr>
          <a:xfrm>
            <a:off x="4535424" y="373989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Airframe checks, battery swaps, pad maintenance</a:t>
            </a:r>
            <a:endParaRPr lang="en-US" sz="1400" dirty="0"/>
          </a:p>
        </p:txBody>
      </p:sp>
      <p:sp>
        <p:nvSpPr>
          <p:cNvPr id="54" name="Shape 52"/>
          <p:cNvSpPr/>
          <p:nvPr/>
        </p:nvSpPr>
        <p:spPr>
          <a:xfrm>
            <a:off x="566928" y="3739896"/>
            <a:ext cx="64008" cy="411480"/>
          </a:xfrm>
          <a:prstGeom prst="rect">
            <a:avLst/>
          </a:prstGeom>
          <a:solidFill>
            <a:srgbClr val="800020"/>
          </a:solidFill>
          <a:ln w="12700">
            <a:solidFill>
              <a:srgbClr val="333333"/>
            </a:solidFill>
            <a:prstDash val="solid"/>
          </a:ln>
        </p:spPr>
      </p:sp>
      <p:sp>
        <p:nvSpPr>
          <p:cNvPr id="55" name="Shape 53"/>
          <p:cNvSpPr/>
          <p:nvPr/>
        </p:nvSpPr>
        <p:spPr>
          <a:xfrm>
            <a:off x="566928" y="4151376"/>
            <a:ext cx="2926080" cy="411480"/>
          </a:xfrm>
          <a:prstGeom prst="rect">
            <a:avLst/>
          </a:prstGeom>
          <a:solidFill>
            <a:srgbClr val="FFFFFF"/>
          </a:solidFill>
          <a:ln w="12700">
            <a:solidFill>
              <a:srgbClr val="E2E8F0"/>
            </a:solidFill>
            <a:prstDash val="solid"/>
          </a:ln>
        </p:spPr>
      </p:sp>
      <p:sp>
        <p:nvSpPr>
          <p:cNvPr id="56" name="Text 54"/>
          <p:cNvSpPr/>
          <p:nvPr/>
        </p:nvSpPr>
        <p:spPr>
          <a:xfrm>
            <a:off x="694944" y="415137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Kitchen coordinator</a:t>
            </a:r>
            <a:endParaRPr lang="en-US" sz="1400" dirty="0"/>
          </a:p>
        </p:txBody>
      </p:sp>
      <p:sp>
        <p:nvSpPr>
          <p:cNvPr id="57" name="Shape 55"/>
          <p:cNvSpPr/>
          <p:nvPr/>
        </p:nvSpPr>
        <p:spPr>
          <a:xfrm>
            <a:off x="3493008" y="4151376"/>
            <a:ext cx="914400" cy="411480"/>
          </a:xfrm>
          <a:prstGeom prst="rect">
            <a:avLst/>
          </a:prstGeom>
          <a:solidFill>
            <a:srgbClr val="FFFFFF"/>
          </a:solidFill>
          <a:ln w="12700">
            <a:solidFill>
              <a:srgbClr val="E2E8F0"/>
            </a:solidFill>
            <a:prstDash val="solid"/>
          </a:ln>
        </p:spPr>
      </p:sp>
      <p:sp>
        <p:nvSpPr>
          <p:cNvPr id="58" name="Text 56"/>
          <p:cNvSpPr/>
          <p:nvPr/>
        </p:nvSpPr>
        <p:spPr>
          <a:xfrm>
            <a:off x="3621024" y="415137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59" name="Shape 57"/>
          <p:cNvSpPr/>
          <p:nvPr/>
        </p:nvSpPr>
        <p:spPr>
          <a:xfrm>
            <a:off x="4407408" y="4151376"/>
            <a:ext cx="7214616" cy="411480"/>
          </a:xfrm>
          <a:prstGeom prst="rect">
            <a:avLst/>
          </a:prstGeom>
          <a:solidFill>
            <a:srgbClr val="FFFFFF"/>
          </a:solidFill>
          <a:ln w="12700">
            <a:solidFill>
              <a:srgbClr val="E2E8F0"/>
            </a:solidFill>
            <a:prstDash val="solid"/>
          </a:ln>
        </p:spPr>
      </p:sp>
      <p:sp>
        <p:nvSpPr>
          <p:cNvPr id="60" name="Text 58"/>
          <p:cNvSpPr/>
          <p:nvPr/>
        </p:nvSpPr>
        <p:spPr>
          <a:xfrm>
            <a:off x="4535424" y="415137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Partner kitchens, packaging that survives a landing</a:t>
            </a:r>
            <a:endParaRPr lang="en-US" sz="1400" dirty="0"/>
          </a:p>
        </p:txBody>
      </p:sp>
      <p:sp>
        <p:nvSpPr>
          <p:cNvPr id="61" name="Shape 59"/>
          <p:cNvSpPr/>
          <p:nvPr/>
        </p:nvSpPr>
        <p:spPr>
          <a:xfrm>
            <a:off x="566928" y="4151376"/>
            <a:ext cx="64008" cy="411480"/>
          </a:xfrm>
          <a:prstGeom prst="rect">
            <a:avLst/>
          </a:prstGeom>
          <a:solidFill>
            <a:srgbClr val="800020"/>
          </a:solidFill>
          <a:ln w="12700">
            <a:solidFill>
              <a:srgbClr val="333333"/>
            </a:solidFill>
            <a:prstDash val="solid"/>
          </a:ln>
        </p:spPr>
      </p:sp>
      <p:sp>
        <p:nvSpPr>
          <p:cNvPr id="62" name="Shape 60"/>
          <p:cNvSpPr/>
          <p:nvPr/>
        </p:nvSpPr>
        <p:spPr>
          <a:xfrm>
            <a:off x="566928" y="4562856"/>
            <a:ext cx="2926080" cy="411480"/>
          </a:xfrm>
          <a:prstGeom prst="rect">
            <a:avLst/>
          </a:prstGeom>
          <a:solidFill>
            <a:srgbClr val="F8FAFC"/>
          </a:solidFill>
          <a:ln w="12700">
            <a:solidFill>
              <a:srgbClr val="E2E8F0"/>
            </a:solidFill>
            <a:prstDash val="solid"/>
          </a:ln>
        </p:spPr>
      </p:sp>
      <p:sp>
        <p:nvSpPr>
          <p:cNvPr id="63" name="Text 61"/>
          <p:cNvSpPr/>
          <p:nvPr/>
        </p:nvSpPr>
        <p:spPr>
          <a:xfrm>
            <a:off x="694944" y="456285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Customer support</a:t>
            </a:r>
            <a:endParaRPr lang="en-US" sz="1400" dirty="0"/>
          </a:p>
        </p:txBody>
      </p:sp>
      <p:sp>
        <p:nvSpPr>
          <p:cNvPr id="64" name="Shape 62"/>
          <p:cNvSpPr/>
          <p:nvPr/>
        </p:nvSpPr>
        <p:spPr>
          <a:xfrm>
            <a:off x="3493008" y="4562856"/>
            <a:ext cx="914400" cy="411480"/>
          </a:xfrm>
          <a:prstGeom prst="rect">
            <a:avLst/>
          </a:prstGeom>
          <a:solidFill>
            <a:srgbClr val="F8FAFC"/>
          </a:solidFill>
          <a:ln w="12700">
            <a:solidFill>
              <a:srgbClr val="E2E8F0"/>
            </a:solidFill>
            <a:prstDash val="solid"/>
          </a:ln>
        </p:spPr>
      </p:sp>
      <p:sp>
        <p:nvSpPr>
          <p:cNvPr id="65" name="Text 63"/>
          <p:cNvSpPr/>
          <p:nvPr/>
        </p:nvSpPr>
        <p:spPr>
          <a:xfrm>
            <a:off x="3621024" y="456285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66" name="Shape 64"/>
          <p:cNvSpPr/>
          <p:nvPr/>
        </p:nvSpPr>
        <p:spPr>
          <a:xfrm>
            <a:off x="4407408" y="4562856"/>
            <a:ext cx="7214616" cy="411480"/>
          </a:xfrm>
          <a:prstGeom prst="rect">
            <a:avLst/>
          </a:prstGeom>
          <a:solidFill>
            <a:srgbClr val="F8FAFC"/>
          </a:solidFill>
          <a:ln w="12700">
            <a:solidFill>
              <a:srgbClr val="E2E8F0"/>
            </a:solidFill>
            <a:prstDash val="solid"/>
          </a:ln>
        </p:spPr>
      </p:sp>
      <p:sp>
        <p:nvSpPr>
          <p:cNvPr id="67" name="Text 65"/>
          <p:cNvSpPr/>
          <p:nvPr/>
        </p:nvSpPr>
        <p:spPr>
          <a:xfrm>
            <a:off x="4535424" y="456285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Failed delivery recovery, refunds, pad host complaints</a:t>
            </a:r>
            <a:endParaRPr lang="en-US" sz="1400" dirty="0"/>
          </a:p>
        </p:txBody>
      </p:sp>
      <p:sp>
        <p:nvSpPr>
          <p:cNvPr id="68" name="Shape 66"/>
          <p:cNvSpPr/>
          <p:nvPr/>
        </p:nvSpPr>
        <p:spPr>
          <a:xfrm>
            <a:off x="566928" y="4562856"/>
            <a:ext cx="64008" cy="411480"/>
          </a:xfrm>
          <a:prstGeom prst="rect">
            <a:avLst/>
          </a:prstGeom>
          <a:solidFill>
            <a:srgbClr val="800020"/>
          </a:solidFill>
          <a:ln w="12700">
            <a:solidFill>
              <a:srgbClr val="333333"/>
            </a:solidFill>
            <a:prstDash val="solid"/>
          </a:ln>
        </p:spPr>
      </p:sp>
      <p:sp>
        <p:nvSpPr>
          <p:cNvPr id="69" name="Shape 67"/>
          <p:cNvSpPr/>
          <p:nvPr/>
        </p:nvSpPr>
        <p:spPr>
          <a:xfrm>
            <a:off x="566928" y="4974336"/>
            <a:ext cx="2926080" cy="411480"/>
          </a:xfrm>
          <a:prstGeom prst="rect">
            <a:avLst/>
          </a:prstGeom>
          <a:solidFill>
            <a:srgbClr val="FFFFFF"/>
          </a:solidFill>
          <a:ln w="12700">
            <a:solidFill>
              <a:srgbClr val="E2E8F0"/>
            </a:solidFill>
            <a:prstDash val="solid"/>
          </a:ln>
        </p:spPr>
      </p:sp>
      <p:sp>
        <p:nvSpPr>
          <p:cNvPr id="70" name="Text 68"/>
          <p:cNvSpPr/>
          <p:nvPr/>
        </p:nvSpPr>
        <p:spPr>
          <a:xfrm>
            <a:off x="694944" y="4974336"/>
            <a:ext cx="2670048" cy="41148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Regulatory affairs</a:t>
            </a:r>
            <a:endParaRPr lang="en-US" sz="1400" dirty="0"/>
          </a:p>
        </p:txBody>
      </p:sp>
      <p:sp>
        <p:nvSpPr>
          <p:cNvPr id="71" name="Shape 69"/>
          <p:cNvSpPr/>
          <p:nvPr/>
        </p:nvSpPr>
        <p:spPr>
          <a:xfrm>
            <a:off x="3493008" y="4974336"/>
            <a:ext cx="914400" cy="411480"/>
          </a:xfrm>
          <a:prstGeom prst="rect">
            <a:avLst/>
          </a:prstGeom>
          <a:solidFill>
            <a:srgbClr val="FFFFFF"/>
          </a:solidFill>
          <a:ln w="12700">
            <a:solidFill>
              <a:srgbClr val="E2E8F0"/>
            </a:solidFill>
            <a:prstDash val="solid"/>
          </a:ln>
        </p:spPr>
      </p:sp>
      <p:sp>
        <p:nvSpPr>
          <p:cNvPr id="72" name="Text 70"/>
          <p:cNvSpPr/>
          <p:nvPr/>
        </p:nvSpPr>
        <p:spPr>
          <a:xfrm>
            <a:off x="3621024" y="4974336"/>
            <a:ext cx="658368"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a:t>
            </a:r>
            <a:endParaRPr lang="en-US" sz="1400" dirty="0"/>
          </a:p>
        </p:txBody>
      </p:sp>
      <p:sp>
        <p:nvSpPr>
          <p:cNvPr id="73" name="Shape 71"/>
          <p:cNvSpPr/>
          <p:nvPr/>
        </p:nvSpPr>
        <p:spPr>
          <a:xfrm>
            <a:off x="4407408" y="4974336"/>
            <a:ext cx="7214616" cy="411480"/>
          </a:xfrm>
          <a:prstGeom prst="rect">
            <a:avLst/>
          </a:prstGeom>
          <a:solidFill>
            <a:srgbClr val="FFFFFF"/>
          </a:solidFill>
          <a:ln w="12700">
            <a:solidFill>
              <a:srgbClr val="E2E8F0"/>
            </a:solidFill>
            <a:prstDash val="solid"/>
          </a:ln>
        </p:spPr>
      </p:sp>
      <p:sp>
        <p:nvSpPr>
          <p:cNvPr id="74" name="Text 72"/>
          <p:cNvSpPr/>
          <p:nvPr/>
        </p:nvSpPr>
        <p:spPr>
          <a:xfrm>
            <a:off x="4535424" y="4974336"/>
            <a:ext cx="6958584" cy="41148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CAAB applications, permits, insurance liaison</a:t>
            </a:r>
            <a:endParaRPr lang="en-US" sz="1400" dirty="0"/>
          </a:p>
        </p:txBody>
      </p:sp>
      <p:sp>
        <p:nvSpPr>
          <p:cNvPr id="75" name="Shape 73"/>
          <p:cNvSpPr/>
          <p:nvPr/>
        </p:nvSpPr>
        <p:spPr>
          <a:xfrm>
            <a:off x="566928" y="4974336"/>
            <a:ext cx="64008" cy="411480"/>
          </a:xfrm>
          <a:prstGeom prst="rect">
            <a:avLst/>
          </a:prstGeom>
          <a:solidFill>
            <a:srgbClr val="800020"/>
          </a:solidFill>
          <a:ln w="12700">
            <a:solidFill>
              <a:srgbClr val="333333"/>
            </a:solidFill>
            <a:prstDash val="solid"/>
          </a:ln>
        </p:spPr>
      </p:sp>
      <p:sp>
        <p:nvSpPr>
          <p:cNvPr id="76" name="Text 74"/>
          <p:cNvSpPr/>
          <p:nvPr/>
        </p:nvSpPr>
        <p:spPr>
          <a:xfrm>
            <a:off x="566928" y="5532120"/>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Nine roles, of which three are new to a delivery business: safety lead, AI and data lead, and regulatory affairs. None of the three are optional in Bangladesh.</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10. Operations and People System</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Who decides when the AI is involved</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The escalation rule, as an operating procedure</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40</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2011680" cy="384048"/>
          </a:xfrm>
          <a:prstGeom prst="rect">
            <a:avLst/>
          </a:prstGeom>
          <a:solidFill>
            <a:srgbClr val="0F172A"/>
          </a:solidFill>
          <a:ln w="12700">
            <a:solidFill>
              <a:srgbClr val="333333"/>
            </a:solidFill>
            <a:prstDash val="solid"/>
          </a:ln>
        </p:spPr>
      </p:sp>
      <p:sp>
        <p:nvSpPr>
          <p:cNvPr id="8" name="Text 6"/>
          <p:cNvSpPr/>
          <p:nvPr/>
        </p:nvSpPr>
        <p:spPr>
          <a:xfrm>
            <a:off x="694944" y="1298448"/>
            <a:ext cx="17556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Tier</a:t>
            </a:r>
            <a:endParaRPr lang="en-US" sz="1400" dirty="0"/>
          </a:p>
        </p:txBody>
      </p:sp>
      <p:sp>
        <p:nvSpPr>
          <p:cNvPr id="9" name="Shape 7"/>
          <p:cNvSpPr/>
          <p:nvPr/>
        </p:nvSpPr>
        <p:spPr>
          <a:xfrm>
            <a:off x="2578608" y="1298448"/>
            <a:ext cx="3840480" cy="384048"/>
          </a:xfrm>
          <a:prstGeom prst="rect">
            <a:avLst/>
          </a:prstGeom>
          <a:solidFill>
            <a:srgbClr val="0F172A"/>
          </a:solidFill>
          <a:ln w="12700">
            <a:solidFill>
              <a:srgbClr val="333333"/>
            </a:solidFill>
            <a:prstDash val="solid"/>
          </a:ln>
        </p:spPr>
      </p:sp>
      <p:sp>
        <p:nvSpPr>
          <p:cNvPr id="10" name="Text 8"/>
          <p:cNvSpPr/>
          <p:nvPr/>
        </p:nvSpPr>
        <p:spPr>
          <a:xfrm>
            <a:off x="2706624" y="1298448"/>
            <a:ext cx="35844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Trigger</a:t>
            </a:r>
            <a:endParaRPr lang="en-US" sz="1400" dirty="0"/>
          </a:p>
        </p:txBody>
      </p:sp>
      <p:sp>
        <p:nvSpPr>
          <p:cNvPr id="11" name="Shape 9"/>
          <p:cNvSpPr/>
          <p:nvPr/>
        </p:nvSpPr>
        <p:spPr>
          <a:xfrm>
            <a:off x="6419088" y="1298448"/>
            <a:ext cx="3383280" cy="384048"/>
          </a:xfrm>
          <a:prstGeom prst="rect">
            <a:avLst/>
          </a:prstGeom>
          <a:solidFill>
            <a:srgbClr val="0F172A"/>
          </a:solidFill>
          <a:ln w="12700">
            <a:solidFill>
              <a:srgbClr val="333333"/>
            </a:solidFill>
            <a:prstDash val="solid"/>
          </a:ln>
        </p:spPr>
      </p:sp>
      <p:sp>
        <p:nvSpPr>
          <p:cNvPr id="12" name="Text 10"/>
          <p:cNvSpPr/>
          <p:nvPr/>
        </p:nvSpPr>
        <p:spPr>
          <a:xfrm>
            <a:off x="6547104" y="1298448"/>
            <a:ext cx="31272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Action</a:t>
            </a:r>
            <a:endParaRPr lang="en-US" sz="1400" dirty="0"/>
          </a:p>
        </p:txBody>
      </p:sp>
      <p:sp>
        <p:nvSpPr>
          <p:cNvPr id="13" name="Shape 11"/>
          <p:cNvSpPr/>
          <p:nvPr/>
        </p:nvSpPr>
        <p:spPr>
          <a:xfrm>
            <a:off x="9802368" y="1298448"/>
            <a:ext cx="1819656" cy="384048"/>
          </a:xfrm>
          <a:prstGeom prst="rect">
            <a:avLst/>
          </a:prstGeom>
          <a:solidFill>
            <a:srgbClr val="0F172A"/>
          </a:solidFill>
          <a:ln w="12700">
            <a:solidFill>
              <a:srgbClr val="333333"/>
            </a:solidFill>
            <a:prstDash val="solid"/>
          </a:ln>
        </p:spPr>
      </p:sp>
      <p:sp>
        <p:nvSpPr>
          <p:cNvPr id="14" name="Text 12"/>
          <p:cNvSpPr/>
          <p:nvPr/>
        </p:nvSpPr>
        <p:spPr>
          <a:xfrm>
            <a:off x="9930384" y="1298448"/>
            <a:ext cx="156362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Frequency</a:t>
            </a:r>
            <a:endParaRPr lang="en-US" sz="1400" dirty="0"/>
          </a:p>
        </p:txBody>
      </p:sp>
      <p:sp>
        <p:nvSpPr>
          <p:cNvPr id="15" name="Shape 13"/>
          <p:cNvSpPr/>
          <p:nvPr/>
        </p:nvSpPr>
        <p:spPr>
          <a:xfrm>
            <a:off x="566928" y="1682496"/>
            <a:ext cx="2011680" cy="731520"/>
          </a:xfrm>
          <a:prstGeom prst="rect">
            <a:avLst/>
          </a:prstGeom>
          <a:solidFill>
            <a:srgbClr val="FFFFFF"/>
          </a:solidFill>
          <a:ln w="12700">
            <a:solidFill>
              <a:srgbClr val="E2E8F0"/>
            </a:solidFill>
            <a:prstDash val="solid"/>
          </a:ln>
        </p:spPr>
      </p:sp>
      <p:sp>
        <p:nvSpPr>
          <p:cNvPr id="16" name="Text 14"/>
          <p:cNvSpPr/>
          <p:nvPr/>
        </p:nvSpPr>
        <p:spPr>
          <a:xfrm>
            <a:off x="694944" y="168249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only</a:t>
            </a:r>
            <a:endParaRPr lang="en-US" sz="1400" dirty="0"/>
          </a:p>
        </p:txBody>
      </p:sp>
      <p:sp>
        <p:nvSpPr>
          <p:cNvPr id="17" name="Shape 15"/>
          <p:cNvSpPr/>
          <p:nvPr/>
        </p:nvSpPr>
        <p:spPr>
          <a:xfrm>
            <a:off x="2578608" y="1682496"/>
            <a:ext cx="3840480" cy="731520"/>
          </a:xfrm>
          <a:prstGeom prst="rect">
            <a:avLst/>
          </a:prstGeom>
          <a:solidFill>
            <a:srgbClr val="FFFFFF"/>
          </a:solidFill>
          <a:ln w="12700">
            <a:solidFill>
              <a:srgbClr val="E2E8F0"/>
            </a:solidFill>
            <a:prstDash val="solid"/>
          </a:ln>
        </p:spPr>
      </p:sp>
      <p:sp>
        <p:nvSpPr>
          <p:cNvPr id="18" name="Text 16"/>
          <p:cNvSpPr/>
          <p:nvPr/>
        </p:nvSpPr>
        <p:spPr>
          <a:xfrm>
            <a:off x="2706624" y="168249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Obstacle is clear of the corridor, pad is free, weather is inside limits</a:t>
            </a:r>
            <a:endParaRPr lang="en-US" sz="1400" dirty="0"/>
          </a:p>
        </p:txBody>
      </p:sp>
      <p:sp>
        <p:nvSpPr>
          <p:cNvPr id="19" name="Shape 17"/>
          <p:cNvSpPr/>
          <p:nvPr/>
        </p:nvSpPr>
        <p:spPr>
          <a:xfrm>
            <a:off x="6419088" y="1682496"/>
            <a:ext cx="3383280" cy="731520"/>
          </a:xfrm>
          <a:prstGeom prst="rect">
            <a:avLst/>
          </a:prstGeom>
          <a:solidFill>
            <a:srgbClr val="FFFFFF"/>
          </a:solidFill>
          <a:ln w="12700">
            <a:solidFill>
              <a:srgbClr val="E2E8F0"/>
            </a:solidFill>
            <a:prstDash val="solid"/>
          </a:ln>
        </p:spPr>
      </p:sp>
      <p:sp>
        <p:nvSpPr>
          <p:cNvPr id="20" name="Text 18"/>
          <p:cNvSpPr/>
          <p:nvPr/>
        </p:nvSpPr>
        <p:spPr>
          <a:xfrm>
            <a:off x="6547104" y="168249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Continue, entirely on board</a:t>
            </a:r>
            <a:endParaRPr lang="en-US" sz="1400" dirty="0"/>
          </a:p>
        </p:txBody>
      </p:sp>
      <p:sp>
        <p:nvSpPr>
          <p:cNvPr id="21" name="Shape 19"/>
          <p:cNvSpPr/>
          <p:nvPr/>
        </p:nvSpPr>
        <p:spPr>
          <a:xfrm>
            <a:off x="9802368" y="1682496"/>
            <a:ext cx="1819656" cy="731520"/>
          </a:xfrm>
          <a:prstGeom prst="rect">
            <a:avLst/>
          </a:prstGeom>
          <a:solidFill>
            <a:srgbClr val="FFFFFF"/>
          </a:solidFill>
          <a:ln w="12700">
            <a:solidFill>
              <a:srgbClr val="E2E8F0"/>
            </a:solidFill>
            <a:prstDash val="solid"/>
          </a:ln>
        </p:spPr>
      </p:sp>
      <p:sp>
        <p:nvSpPr>
          <p:cNvPr id="22" name="Text 20"/>
          <p:cNvSpPr/>
          <p:nvPr/>
        </p:nvSpPr>
        <p:spPr>
          <a:xfrm>
            <a:off x="9930384" y="168249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Always</a:t>
            </a:r>
            <a:endParaRPr lang="en-US" sz="1400" dirty="0"/>
          </a:p>
        </p:txBody>
      </p:sp>
      <p:sp>
        <p:nvSpPr>
          <p:cNvPr id="23" name="Shape 21"/>
          <p:cNvSpPr/>
          <p:nvPr/>
        </p:nvSpPr>
        <p:spPr>
          <a:xfrm>
            <a:off x="566928" y="1682496"/>
            <a:ext cx="64008" cy="731520"/>
          </a:xfrm>
          <a:prstGeom prst="rect">
            <a:avLst/>
          </a:prstGeom>
          <a:solidFill>
            <a:srgbClr val="800020"/>
          </a:solidFill>
          <a:ln w="12700">
            <a:solidFill>
              <a:srgbClr val="333333"/>
            </a:solidFill>
            <a:prstDash val="solid"/>
          </a:ln>
        </p:spPr>
      </p:sp>
      <p:sp>
        <p:nvSpPr>
          <p:cNvPr id="24" name="Shape 22"/>
          <p:cNvSpPr/>
          <p:nvPr/>
        </p:nvSpPr>
        <p:spPr>
          <a:xfrm>
            <a:off x="566928" y="2414016"/>
            <a:ext cx="2011680" cy="731520"/>
          </a:xfrm>
          <a:prstGeom prst="rect">
            <a:avLst/>
          </a:prstGeom>
          <a:solidFill>
            <a:srgbClr val="F8FAFC"/>
          </a:solidFill>
          <a:ln w="12700">
            <a:solidFill>
              <a:srgbClr val="E2E8F0"/>
            </a:solidFill>
            <a:prstDash val="solid"/>
          </a:ln>
        </p:spPr>
      </p:sp>
      <p:sp>
        <p:nvSpPr>
          <p:cNvPr id="25" name="Text 23"/>
          <p:cNvSpPr/>
          <p:nvPr/>
        </p:nvSpPr>
        <p:spPr>
          <a:xfrm>
            <a:off x="694944" y="241401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Vision to Jev</a:t>
            </a:r>
            <a:endParaRPr lang="en-US" sz="1400" dirty="0"/>
          </a:p>
        </p:txBody>
      </p:sp>
      <p:sp>
        <p:nvSpPr>
          <p:cNvPr id="26" name="Shape 24"/>
          <p:cNvSpPr/>
          <p:nvPr/>
        </p:nvSpPr>
        <p:spPr>
          <a:xfrm>
            <a:off x="2578608" y="2414016"/>
            <a:ext cx="3840480" cy="731520"/>
          </a:xfrm>
          <a:prstGeom prst="rect">
            <a:avLst/>
          </a:prstGeom>
          <a:solidFill>
            <a:srgbClr val="F8FAFC"/>
          </a:solidFill>
          <a:ln w="12700">
            <a:solidFill>
              <a:srgbClr val="E2E8F0"/>
            </a:solidFill>
            <a:prstDash val="solid"/>
          </a:ln>
        </p:spPr>
      </p:sp>
      <p:sp>
        <p:nvSpPr>
          <p:cNvPr id="27" name="Text 25"/>
          <p:cNvSpPr/>
          <p:nvPr/>
        </p:nvSpPr>
        <p:spPr>
          <a:xfrm>
            <a:off x="2706624" y="241401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Pad occupied, approach is degraded, confidence is below the floor</a:t>
            </a:r>
            <a:endParaRPr lang="en-US" sz="1400" dirty="0"/>
          </a:p>
        </p:txBody>
      </p:sp>
      <p:sp>
        <p:nvSpPr>
          <p:cNvPr id="28" name="Shape 26"/>
          <p:cNvSpPr/>
          <p:nvPr/>
        </p:nvSpPr>
        <p:spPr>
          <a:xfrm>
            <a:off x="6419088" y="2414016"/>
            <a:ext cx="3383280" cy="731520"/>
          </a:xfrm>
          <a:prstGeom prst="rect">
            <a:avLst/>
          </a:prstGeom>
          <a:solidFill>
            <a:srgbClr val="F8FAFC"/>
          </a:solidFill>
          <a:ln w="12700">
            <a:solidFill>
              <a:srgbClr val="E2E8F0"/>
            </a:solidFill>
            <a:prstDash val="solid"/>
          </a:ln>
        </p:spPr>
      </p:sp>
      <p:sp>
        <p:nvSpPr>
          <p:cNvPr id="29" name="Text 27"/>
          <p:cNvSpPr/>
          <p:nvPr/>
        </p:nvSpPr>
        <p:spPr>
          <a:xfrm>
            <a:off x="6547104" y="241401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Continue, reposition, abort landing, or return home</a:t>
            </a:r>
            <a:endParaRPr lang="en-US" sz="1400" dirty="0"/>
          </a:p>
        </p:txBody>
      </p:sp>
      <p:sp>
        <p:nvSpPr>
          <p:cNvPr id="30" name="Shape 28"/>
          <p:cNvSpPr/>
          <p:nvPr/>
        </p:nvSpPr>
        <p:spPr>
          <a:xfrm>
            <a:off x="9802368" y="2414016"/>
            <a:ext cx="1819656" cy="731520"/>
          </a:xfrm>
          <a:prstGeom prst="rect">
            <a:avLst/>
          </a:prstGeom>
          <a:solidFill>
            <a:srgbClr val="F8FAFC"/>
          </a:solidFill>
          <a:ln w="12700">
            <a:solidFill>
              <a:srgbClr val="E2E8F0"/>
            </a:solidFill>
            <a:prstDash val="solid"/>
          </a:ln>
        </p:spPr>
      </p:sp>
      <p:sp>
        <p:nvSpPr>
          <p:cNvPr id="31" name="Text 29"/>
          <p:cNvSpPr/>
          <p:nvPr/>
        </p:nvSpPr>
        <p:spPr>
          <a:xfrm>
            <a:off x="9930384" y="241401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Most decisions</a:t>
            </a:r>
            <a:endParaRPr lang="en-US" sz="1400" dirty="0"/>
          </a:p>
        </p:txBody>
      </p:sp>
      <p:sp>
        <p:nvSpPr>
          <p:cNvPr id="32" name="Shape 30"/>
          <p:cNvSpPr/>
          <p:nvPr/>
        </p:nvSpPr>
        <p:spPr>
          <a:xfrm>
            <a:off x="566928" y="2414016"/>
            <a:ext cx="64008" cy="731520"/>
          </a:xfrm>
          <a:prstGeom prst="rect">
            <a:avLst/>
          </a:prstGeom>
          <a:solidFill>
            <a:srgbClr val="800020"/>
          </a:solidFill>
          <a:ln w="12700">
            <a:solidFill>
              <a:srgbClr val="333333"/>
            </a:solidFill>
            <a:prstDash val="solid"/>
          </a:ln>
        </p:spPr>
      </p:sp>
      <p:sp>
        <p:nvSpPr>
          <p:cNvPr id="33" name="Shape 31"/>
          <p:cNvSpPr/>
          <p:nvPr/>
        </p:nvSpPr>
        <p:spPr>
          <a:xfrm>
            <a:off x="566928" y="3145536"/>
            <a:ext cx="2011680" cy="731520"/>
          </a:xfrm>
          <a:prstGeom prst="rect">
            <a:avLst/>
          </a:prstGeom>
          <a:solidFill>
            <a:srgbClr val="FFFFFF"/>
          </a:solidFill>
          <a:ln w="12700">
            <a:solidFill>
              <a:srgbClr val="E2E8F0"/>
            </a:solidFill>
            <a:prstDash val="solid"/>
          </a:ln>
        </p:spPr>
      </p:sp>
      <p:sp>
        <p:nvSpPr>
          <p:cNvPr id="34" name="Text 32"/>
          <p:cNvSpPr/>
          <p:nvPr/>
        </p:nvSpPr>
        <p:spPr>
          <a:xfrm>
            <a:off x="694944" y="314553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Jev to GLM</a:t>
            </a:r>
            <a:endParaRPr lang="en-US" sz="1400" dirty="0"/>
          </a:p>
        </p:txBody>
      </p:sp>
      <p:sp>
        <p:nvSpPr>
          <p:cNvPr id="35" name="Shape 33"/>
          <p:cNvSpPr/>
          <p:nvPr/>
        </p:nvSpPr>
        <p:spPr>
          <a:xfrm>
            <a:off x="2578608" y="3145536"/>
            <a:ext cx="3840480" cy="731520"/>
          </a:xfrm>
          <a:prstGeom prst="rect">
            <a:avLst/>
          </a:prstGeom>
          <a:solidFill>
            <a:srgbClr val="FFFFFF"/>
          </a:solidFill>
          <a:ln w="12700">
            <a:solidFill>
              <a:srgbClr val="E2E8F0"/>
            </a:solidFill>
            <a:prstDash val="solid"/>
          </a:ln>
        </p:spPr>
      </p:sp>
      <p:sp>
        <p:nvSpPr>
          <p:cNvPr id="36" name="Text 34"/>
          <p:cNvSpPr/>
          <p:nvPr/>
        </p:nvSpPr>
        <p:spPr>
          <a:xfrm>
            <a:off x="2706624" y="314553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Case is ambiguous or unlike anything seen in training</a:t>
            </a:r>
            <a:endParaRPr lang="en-US" sz="1400" dirty="0"/>
          </a:p>
        </p:txBody>
      </p:sp>
      <p:sp>
        <p:nvSpPr>
          <p:cNvPr id="37" name="Shape 35"/>
          <p:cNvSpPr/>
          <p:nvPr/>
        </p:nvSpPr>
        <p:spPr>
          <a:xfrm>
            <a:off x="6419088" y="3145536"/>
            <a:ext cx="3383280" cy="731520"/>
          </a:xfrm>
          <a:prstGeom prst="rect">
            <a:avLst/>
          </a:prstGeom>
          <a:solidFill>
            <a:srgbClr val="FFFFFF"/>
          </a:solidFill>
          <a:ln w="12700">
            <a:solidFill>
              <a:srgbClr val="E2E8F0"/>
            </a:solidFill>
            <a:prstDash val="solid"/>
          </a:ln>
        </p:spPr>
      </p:sp>
      <p:sp>
        <p:nvSpPr>
          <p:cNvPr id="38" name="Text 36"/>
          <p:cNvSpPr/>
          <p:nvPr/>
        </p:nvSpPr>
        <p:spPr>
          <a:xfrm>
            <a:off x="6547104" y="314553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Higher level recommendation to the flight supervisor</a:t>
            </a:r>
            <a:endParaRPr lang="en-US" sz="1400" dirty="0"/>
          </a:p>
        </p:txBody>
      </p:sp>
      <p:sp>
        <p:nvSpPr>
          <p:cNvPr id="39" name="Shape 37"/>
          <p:cNvSpPr/>
          <p:nvPr/>
        </p:nvSpPr>
        <p:spPr>
          <a:xfrm>
            <a:off x="9802368" y="3145536"/>
            <a:ext cx="1819656" cy="731520"/>
          </a:xfrm>
          <a:prstGeom prst="rect">
            <a:avLst/>
          </a:prstGeom>
          <a:solidFill>
            <a:srgbClr val="FFFFFF"/>
          </a:solidFill>
          <a:ln w="12700">
            <a:solidFill>
              <a:srgbClr val="E2E8F0"/>
            </a:solidFill>
            <a:prstDash val="solid"/>
          </a:ln>
        </p:spPr>
      </p:sp>
      <p:sp>
        <p:nvSpPr>
          <p:cNvPr id="40" name="Text 38"/>
          <p:cNvSpPr/>
          <p:nvPr/>
        </p:nvSpPr>
        <p:spPr>
          <a:xfrm>
            <a:off x="9930384" y="314553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Rare</a:t>
            </a:r>
            <a:endParaRPr lang="en-US" sz="1400" dirty="0"/>
          </a:p>
        </p:txBody>
      </p:sp>
      <p:sp>
        <p:nvSpPr>
          <p:cNvPr id="41" name="Shape 39"/>
          <p:cNvSpPr/>
          <p:nvPr/>
        </p:nvSpPr>
        <p:spPr>
          <a:xfrm>
            <a:off x="566928" y="3145536"/>
            <a:ext cx="64008" cy="731520"/>
          </a:xfrm>
          <a:prstGeom prst="rect">
            <a:avLst/>
          </a:prstGeom>
          <a:solidFill>
            <a:srgbClr val="800020"/>
          </a:solidFill>
          <a:ln w="12700">
            <a:solidFill>
              <a:srgbClr val="333333"/>
            </a:solidFill>
            <a:prstDash val="solid"/>
          </a:ln>
        </p:spPr>
      </p:sp>
      <p:sp>
        <p:nvSpPr>
          <p:cNvPr id="42" name="Shape 40"/>
          <p:cNvSpPr/>
          <p:nvPr/>
        </p:nvSpPr>
        <p:spPr>
          <a:xfrm>
            <a:off x="566928" y="3877056"/>
            <a:ext cx="2011680" cy="731520"/>
          </a:xfrm>
          <a:prstGeom prst="rect">
            <a:avLst/>
          </a:prstGeom>
          <a:solidFill>
            <a:srgbClr val="F8FAFC"/>
          </a:solidFill>
          <a:ln w="12700">
            <a:solidFill>
              <a:srgbClr val="E2E8F0"/>
            </a:solidFill>
            <a:prstDash val="solid"/>
          </a:ln>
        </p:spPr>
      </p:sp>
      <p:sp>
        <p:nvSpPr>
          <p:cNvPr id="43" name="Text 41"/>
          <p:cNvSpPr/>
          <p:nvPr/>
        </p:nvSpPr>
        <p:spPr>
          <a:xfrm>
            <a:off x="694944" y="3877056"/>
            <a:ext cx="1755648" cy="731520"/>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Safety path</a:t>
            </a:r>
            <a:endParaRPr lang="en-US" sz="1400" dirty="0"/>
          </a:p>
        </p:txBody>
      </p:sp>
      <p:sp>
        <p:nvSpPr>
          <p:cNvPr id="44" name="Shape 42"/>
          <p:cNvSpPr/>
          <p:nvPr/>
        </p:nvSpPr>
        <p:spPr>
          <a:xfrm>
            <a:off x="2578608" y="3877056"/>
            <a:ext cx="3840480" cy="731520"/>
          </a:xfrm>
          <a:prstGeom prst="rect">
            <a:avLst/>
          </a:prstGeom>
          <a:solidFill>
            <a:srgbClr val="F8FAFC"/>
          </a:solidFill>
          <a:ln w="12700">
            <a:solidFill>
              <a:srgbClr val="E2E8F0"/>
            </a:solidFill>
            <a:prstDash val="solid"/>
          </a:ln>
        </p:spPr>
      </p:sp>
      <p:sp>
        <p:nvSpPr>
          <p:cNvPr id="45" name="Text 43"/>
          <p:cNvSpPr/>
          <p:nvPr/>
        </p:nvSpPr>
        <p:spPr>
          <a:xfrm>
            <a:off x="2706624" y="3877056"/>
            <a:ext cx="35844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Any hard limit is crossed, or the link is lost</a:t>
            </a:r>
            <a:endParaRPr lang="en-US" sz="1400" dirty="0"/>
          </a:p>
        </p:txBody>
      </p:sp>
      <p:sp>
        <p:nvSpPr>
          <p:cNvPr id="46" name="Shape 44"/>
          <p:cNvSpPr/>
          <p:nvPr/>
        </p:nvSpPr>
        <p:spPr>
          <a:xfrm>
            <a:off x="6419088" y="3877056"/>
            <a:ext cx="3383280" cy="731520"/>
          </a:xfrm>
          <a:prstGeom prst="rect">
            <a:avLst/>
          </a:prstGeom>
          <a:solidFill>
            <a:srgbClr val="F8FAFC"/>
          </a:solidFill>
          <a:ln w="12700">
            <a:solidFill>
              <a:srgbClr val="E2E8F0"/>
            </a:solidFill>
            <a:prstDash val="solid"/>
          </a:ln>
        </p:spPr>
      </p:sp>
      <p:sp>
        <p:nvSpPr>
          <p:cNvPr id="47" name="Text 45"/>
          <p:cNvSpPr/>
          <p:nvPr/>
        </p:nvSpPr>
        <p:spPr>
          <a:xfrm>
            <a:off x="6547104" y="3877056"/>
            <a:ext cx="3127248"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Deterministic return, land and disarm</a:t>
            </a:r>
            <a:endParaRPr lang="en-US" sz="1400" dirty="0"/>
          </a:p>
        </p:txBody>
      </p:sp>
      <p:sp>
        <p:nvSpPr>
          <p:cNvPr id="48" name="Shape 46"/>
          <p:cNvSpPr/>
          <p:nvPr/>
        </p:nvSpPr>
        <p:spPr>
          <a:xfrm>
            <a:off x="9802368" y="3877056"/>
            <a:ext cx="1819656" cy="731520"/>
          </a:xfrm>
          <a:prstGeom prst="rect">
            <a:avLst/>
          </a:prstGeom>
          <a:solidFill>
            <a:srgbClr val="F8FAFC"/>
          </a:solidFill>
          <a:ln w="12700">
            <a:solidFill>
              <a:srgbClr val="E2E8F0"/>
            </a:solidFill>
            <a:prstDash val="solid"/>
          </a:ln>
        </p:spPr>
      </p:sp>
      <p:sp>
        <p:nvSpPr>
          <p:cNvPr id="49" name="Text 47"/>
          <p:cNvSpPr/>
          <p:nvPr/>
        </p:nvSpPr>
        <p:spPr>
          <a:xfrm>
            <a:off x="9930384" y="3877056"/>
            <a:ext cx="1563624" cy="731520"/>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Never escalated</a:t>
            </a:r>
            <a:endParaRPr lang="en-US" sz="1400" dirty="0"/>
          </a:p>
        </p:txBody>
      </p:sp>
      <p:sp>
        <p:nvSpPr>
          <p:cNvPr id="50" name="Shape 48"/>
          <p:cNvSpPr/>
          <p:nvPr/>
        </p:nvSpPr>
        <p:spPr>
          <a:xfrm>
            <a:off x="566928" y="3877056"/>
            <a:ext cx="64008" cy="731520"/>
          </a:xfrm>
          <a:prstGeom prst="rect">
            <a:avLst/>
          </a:prstGeom>
          <a:solidFill>
            <a:srgbClr val="166534"/>
          </a:solidFill>
          <a:ln w="12700">
            <a:solidFill>
              <a:srgbClr val="333333"/>
            </a:solidFill>
            <a:prstDash val="solid"/>
          </a:ln>
        </p:spPr>
      </p:sp>
      <p:sp>
        <p:nvSpPr>
          <p:cNvPr id="51" name="Shape 49"/>
          <p:cNvSpPr/>
          <p:nvPr/>
        </p:nvSpPr>
        <p:spPr>
          <a:xfrm>
            <a:off x="566928" y="4791456"/>
            <a:ext cx="11057839" cy="822960"/>
          </a:xfrm>
          <a:prstGeom prst="roundRect">
            <a:avLst>
              <a:gd name="adj" fmla="val 5556"/>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52" name="Text 50"/>
          <p:cNvSpPr/>
          <p:nvPr/>
        </p:nvSpPr>
        <p:spPr>
          <a:xfrm>
            <a:off x="786384" y="4791456"/>
            <a:ext cx="10618927" cy="822960"/>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Escalation is a cost control and a safety control at the same time. Fewer calls mean a lower bill, and a lower tier means a faster, more predictable answer.</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800020"/>
          </a:solidFill>
          <a:ln w="12700">
            <a:solidFill>
              <a:srgbClr val="333333"/>
            </a:solidFill>
            <a:prstDash val="solid"/>
          </a:ln>
        </p:spPr>
      </p:sp>
      <p:sp>
        <p:nvSpPr>
          <p:cNvPr id="3" name="Text 1"/>
          <p:cNvSpPr/>
          <p:nvPr/>
        </p:nvSpPr>
        <p:spPr>
          <a:xfrm>
            <a:off x="822960" y="2487168"/>
            <a:ext cx="9966960" cy="1371600"/>
          </a:xfrm>
          <a:prstGeom prst="rect">
            <a:avLst/>
          </a:prstGeom>
          <a:noFill/>
          <a:ln/>
        </p:spPr>
        <p:txBody>
          <a:bodyPr wrap="square" lIns="0" tIns="0" rIns="0" bIns="0" rtlCol="0" anchor="ctr"/>
          <a:lstStyle/>
          <a:p>
            <a:pPr indent="0" marL="0">
              <a:lnSpc>
                <a:spcPts val="4600"/>
              </a:lnSpc>
              <a:buNone/>
            </a:pPr>
            <a:r>
              <a:rPr lang="en-US" sz="3800" b="1" dirty="0">
                <a:solidFill>
                  <a:srgbClr val="0F172A"/>
                </a:solidFill>
                <a:latin typeface="Century Schoolbook" pitchFamily="34" charset="0"/>
                <a:ea typeface="Century Schoolbook" pitchFamily="34" charset="-122"/>
                <a:cs typeface="Century Schoolbook" pitchFamily="34" charset="-120"/>
              </a:rPr>
              <a:t>Social Impact, Ethics and Future Strategy</a:t>
            </a:r>
            <a:endParaRPr lang="en-US" sz="3800" dirty="0"/>
          </a:p>
        </p:txBody>
      </p:sp>
      <p:sp>
        <p:nvSpPr>
          <p:cNvPr id="4" name="Shape 2"/>
          <p:cNvSpPr/>
          <p:nvPr/>
        </p:nvSpPr>
        <p:spPr>
          <a:xfrm>
            <a:off x="841248" y="4334256"/>
            <a:ext cx="1005840" cy="54864"/>
          </a:xfrm>
          <a:prstGeom prst="rect">
            <a:avLst/>
          </a:prstGeom>
          <a:solidFill>
            <a:srgbClr val="800020"/>
          </a:solidFill>
          <a:ln w="12700">
            <a:solidFill>
              <a:srgbClr val="333333"/>
            </a:solidFill>
            <a:prstDash val="solid"/>
          </a:ln>
        </p:spPr>
      </p:sp>
      <p:sp>
        <p:nvSpPr>
          <p:cNvPr id="5" name="Text 3"/>
          <p:cNvSpPr/>
          <p:nvPr/>
        </p:nvSpPr>
        <p:spPr>
          <a:xfrm>
            <a:off x="822960" y="4553712"/>
            <a:ext cx="9966960"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Triple Bottom Line + Ethics + Future Strategy</a:t>
            </a:r>
            <a:endParaRPr lang="en-US" sz="1600" dirty="0"/>
          </a:p>
        </p:txBody>
      </p:sp>
      <p:sp>
        <p:nvSpPr>
          <p:cNvPr id="6" name="Text 4"/>
          <p:cNvSpPr/>
          <p:nvPr/>
        </p:nvSpPr>
        <p:spPr>
          <a:xfrm>
            <a:off x="822960" y="4992624"/>
            <a:ext cx="9692640" cy="640080"/>
          </a:xfrm>
          <a:prstGeom prst="rect">
            <a:avLst/>
          </a:prstGeom>
          <a:noFill/>
          <a:ln/>
        </p:spPr>
        <p:txBody>
          <a:bodyPr wrap="square" lIns="0" tIns="0" rIns="0" bIns="0" rtlCol="0" anchor="t"/>
          <a:lstStyle/>
          <a:p>
            <a:pPr indent="0" marL="0">
              <a:lnSpc>
                <a:spcPts val="2500"/>
              </a:lnSpc>
              <a:buNone/>
            </a:pPr>
            <a:r>
              <a:rPr lang="en-US" sz="1800" i="1" dirty="0">
                <a:solidFill>
                  <a:srgbClr val="334155"/>
                </a:solidFill>
                <a:latin typeface="Calibri" pitchFamily="34" charset="0"/>
                <a:ea typeface="Calibri" pitchFamily="34" charset="-122"/>
                <a:cs typeface="Calibri" pitchFamily="34" charset="-120"/>
              </a:rPr>
              <a:t>A business that only answers to its balance sheet is not a business we want to run.</a:t>
            </a:r>
            <a:endParaRPr lang="en-US" sz="1800" dirty="0"/>
          </a:p>
        </p:txBody>
      </p:sp>
      <p:sp>
        <p:nvSpPr>
          <p:cNvPr id="7" name="Text 5"/>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8" name="Text 6"/>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41</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Triple bottom line: what helps and what hurts</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People, planet and profit, in that order of how we will judge it</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42</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3503066" cy="2468880"/>
          </a:xfrm>
          <a:prstGeom prst="roundRect">
            <a:avLst>
              <a:gd name="adj" fmla="val 185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3503066" cy="82296"/>
          </a:xfrm>
          <a:prstGeom prst="rect">
            <a:avLst/>
          </a:prstGeom>
          <a:solidFill>
            <a:srgbClr val="166534"/>
          </a:solidFill>
          <a:ln w="12700">
            <a:solidFill>
              <a:srgbClr val="333333"/>
            </a:solidFill>
            <a:prstDash val="solid"/>
          </a:ln>
        </p:spPr>
      </p:sp>
      <p:sp>
        <p:nvSpPr>
          <p:cNvPr id="9" name="Text 7"/>
          <p:cNvSpPr/>
          <p:nvPr/>
        </p:nvSpPr>
        <p:spPr>
          <a:xfrm>
            <a:off x="731520" y="1481328"/>
            <a:ext cx="3173882" cy="384048"/>
          </a:xfrm>
          <a:prstGeom prst="rect">
            <a:avLst/>
          </a:prstGeom>
          <a:noFill/>
          <a:ln/>
        </p:spPr>
        <p:txBody>
          <a:bodyPr wrap="square" lIns="0" tIns="0" rIns="0" bIns="0" rtlCol="0" anchor="ctr"/>
          <a:lstStyle/>
          <a:p>
            <a:pPr indent="0" marL="0">
              <a:buNone/>
            </a:pPr>
            <a:r>
              <a:rPr lang="en-US" sz="2100" b="1" dirty="0">
                <a:solidFill>
                  <a:srgbClr val="166534"/>
                </a:solidFill>
                <a:latin typeface="Century Schoolbook" pitchFamily="34" charset="0"/>
                <a:ea typeface="Century Schoolbook" pitchFamily="34" charset="-122"/>
                <a:cs typeface="Century Schoolbook" pitchFamily="34" charset="-120"/>
              </a:rPr>
              <a:t>People</a:t>
            </a:r>
            <a:endParaRPr lang="en-US" sz="2100" dirty="0"/>
          </a:p>
        </p:txBody>
      </p:sp>
      <p:sp>
        <p:nvSpPr>
          <p:cNvPr id="10" name="Text 8"/>
          <p:cNvSpPr/>
          <p:nvPr/>
        </p:nvSpPr>
        <p:spPr>
          <a:xfrm>
            <a:off x="731520"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Riders lose the worst trips on the network</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pad income for households that own a roof</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Fewer injuries, because fewer road kilometres</a:t>
            </a:r>
            <a:endParaRPr lang="en-US" sz="1400" dirty="0"/>
          </a:p>
        </p:txBody>
      </p:sp>
      <p:sp>
        <p:nvSpPr>
          <p:cNvPr id="11" name="Shape 9"/>
          <p:cNvSpPr/>
          <p:nvPr/>
        </p:nvSpPr>
        <p:spPr>
          <a:xfrm>
            <a:off x="4344314" y="1298448"/>
            <a:ext cx="3503066" cy="2468880"/>
          </a:xfrm>
          <a:prstGeom prst="roundRect">
            <a:avLst>
              <a:gd name="adj" fmla="val 185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4344314" y="1298448"/>
            <a:ext cx="3503066" cy="82296"/>
          </a:xfrm>
          <a:prstGeom prst="rect">
            <a:avLst/>
          </a:prstGeom>
          <a:solidFill>
            <a:srgbClr val="B45309"/>
          </a:solidFill>
          <a:ln w="12700">
            <a:solidFill>
              <a:srgbClr val="333333"/>
            </a:solidFill>
            <a:prstDash val="solid"/>
          </a:ln>
        </p:spPr>
      </p:sp>
      <p:sp>
        <p:nvSpPr>
          <p:cNvPr id="13" name="Text 11"/>
          <p:cNvSpPr/>
          <p:nvPr/>
        </p:nvSpPr>
        <p:spPr>
          <a:xfrm>
            <a:off x="4508906" y="1481328"/>
            <a:ext cx="3173882" cy="384048"/>
          </a:xfrm>
          <a:prstGeom prst="rect">
            <a:avLst/>
          </a:prstGeom>
          <a:noFill/>
          <a:ln/>
        </p:spPr>
        <p:txBody>
          <a:bodyPr wrap="square" lIns="0" tIns="0" rIns="0" bIns="0" rtlCol="0" anchor="ctr"/>
          <a:lstStyle/>
          <a:p>
            <a:pPr indent="0" marL="0">
              <a:buNone/>
            </a:pPr>
            <a:r>
              <a:rPr lang="en-US" sz="2100" b="1" dirty="0">
                <a:solidFill>
                  <a:srgbClr val="B45309"/>
                </a:solidFill>
                <a:latin typeface="Century Schoolbook" pitchFamily="34" charset="0"/>
                <a:ea typeface="Century Schoolbook" pitchFamily="34" charset="-122"/>
                <a:cs typeface="Century Schoolbook" pitchFamily="34" charset="-120"/>
              </a:rPr>
              <a:t>Planet</a:t>
            </a:r>
            <a:endParaRPr lang="en-US" sz="2100" dirty="0"/>
          </a:p>
        </p:txBody>
      </p:sp>
      <p:sp>
        <p:nvSpPr>
          <p:cNvPr id="14" name="Text 12"/>
          <p:cNvSpPr/>
          <p:nvPr/>
        </p:nvSpPr>
        <p:spPr>
          <a:xfrm>
            <a:off x="4508906"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No tailpipe emissions on the corridor</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Less fuel burned across the network</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Rotor noise is a cost we pay in goodwill</a:t>
            </a:r>
            <a:endParaRPr lang="en-US" sz="1400" dirty="0"/>
          </a:p>
        </p:txBody>
      </p:sp>
      <p:sp>
        <p:nvSpPr>
          <p:cNvPr id="15" name="Shape 13"/>
          <p:cNvSpPr/>
          <p:nvPr/>
        </p:nvSpPr>
        <p:spPr>
          <a:xfrm>
            <a:off x="8121701" y="1298448"/>
            <a:ext cx="3503066" cy="2468880"/>
          </a:xfrm>
          <a:prstGeom prst="roundRect">
            <a:avLst>
              <a:gd name="adj" fmla="val 1852"/>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8121701" y="1298448"/>
            <a:ext cx="3503066" cy="82296"/>
          </a:xfrm>
          <a:prstGeom prst="rect">
            <a:avLst/>
          </a:prstGeom>
          <a:solidFill>
            <a:srgbClr val="800020"/>
          </a:solidFill>
          <a:ln w="12700">
            <a:solidFill>
              <a:srgbClr val="333333"/>
            </a:solidFill>
            <a:prstDash val="solid"/>
          </a:ln>
        </p:spPr>
      </p:sp>
      <p:sp>
        <p:nvSpPr>
          <p:cNvPr id="17" name="Text 15"/>
          <p:cNvSpPr/>
          <p:nvPr/>
        </p:nvSpPr>
        <p:spPr>
          <a:xfrm>
            <a:off x="8286293" y="1481328"/>
            <a:ext cx="3173882" cy="384048"/>
          </a:xfrm>
          <a:prstGeom prst="rect">
            <a:avLst/>
          </a:prstGeom>
          <a:noFill/>
          <a:ln/>
        </p:spPr>
        <p:txBody>
          <a:bodyPr wrap="square" lIns="0" tIns="0" rIns="0" bIns="0" rtlCol="0" anchor="ctr"/>
          <a:lstStyle/>
          <a:p>
            <a:pPr indent="0" marL="0">
              <a:buNone/>
            </a:pPr>
            <a:r>
              <a:rPr lang="en-US" sz="2100" b="1" dirty="0">
                <a:solidFill>
                  <a:srgbClr val="800020"/>
                </a:solidFill>
                <a:latin typeface="Century Schoolbook" pitchFamily="34" charset="0"/>
                <a:ea typeface="Century Schoolbook" pitchFamily="34" charset="-122"/>
                <a:cs typeface="Century Schoolbook" pitchFamily="34" charset="-120"/>
              </a:rPr>
              <a:t>Profit</a:t>
            </a:r>
            <a:endParaRPr lang="en-US" sz="2100" dirty="0"/>
          </a:p>
        </p:txBody>
      </p:sp>
      <p:sp>
        <p:nvSpPr>
          <p:cNvPr id="18" name="Text 16"/>
          <p:cNvSpPr/>
          <p:nvPr/>
        </p:nvSpPr>
        <p:spPr>
          <a:xfrm>
            <a:off x="8286293" y="1938528"/>
            <a:ext cx="3173882" cy="1773936"/>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fixed window the platforms cannot match</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Contribution that scales with corridors</a:t>
            </a:r>
            <a:endParaRPr lang="en-US" sz="1400" dirty="0"/>
          </a:p>
          <a:p>
            <a:pPr marL="342900" indent="-342900">
              <a:spcAft>
                <a:spcPts val="700"/>
              </a:spcAft>
              <a:buSzPct val="100000"/>
              <a:buChar char="•"/>
            </a:pPr>
            <a:r>
              <a:rPr lang="en-US" sz="1400" dirty="0">
                <a:solidFill>
                  <a:srgbClr val="334155"/>
                </a:solidFill>
                <a:latin typeface="Calibri" pitchFamily="34" charset="0"/>
                <a:ea typeface="Calibri" pitchFamily="34" charset="-122"/>
                <a:cs typeface="Calibri" pitchFamily="34" charset="-120"/>
              </a:rPr>
              <a:t>A regulator who can say no to us at any time</a:t>
            </a:r>
            <a:endParaRPr lang="en-US" sz="1400" dirty="0"/>
          </a:p>
        </p:txBody>
      </p:sp>
      <p:sp>
        <p:nvSpPr>
          <p:cNvPr id="19" name="Shape 17"/>
          <p:cNvSpPr/>
          <p:nvPr/>
        </p:nvSpPr>
        <p:spPr>
          <a:xfrm>
            <a:off x="566928" y="3968496"/>
            <a:ext cx="11057839" cy="969264"/>
          </a:xfrm>
          <a:prstGeom prst="roundRect">
            <a:avLst>
              <a:gd name="adj" fmla="val 4717"/>
            </a:avLst>
          </a:prstGeom>
          <a:solidFill>
            <a:srgbClr val="F8FAFC"/>
          </a:solidFill>
          <a:ln w="12700">
            <a:solidFill>
              <a:srgbClr val="E2E8F0"/>
            </a:solidFill>
            <a:prstDash val="solid"/>
          </a:ln>
        </p:spPr>
      </p:sp>
      <p:sp>
        <p:nvSpPr>
          <p:cNvPr id="20" name="Text 18"/>
          <p:cNvSpPr/>
          <p:nvPr/>
        </p:nvSpPr>
        <p:spPr>
          <a:xfrm>
            <a:off x="786384" y="4059936"/>
            <a:ext cx="10618927" cy="292608"/>
          </a:xfrm>
          <a:prstGeom prst="rect">
            <a:avLst/>
          </a:prstGeom>
          <a:noFill/>
          <a:ln/>
        </p:spPr>
        <p:txBody>
          <a:bodyPr wrap="square" lIns="0" tIns="0" rIns="0" bIns="0" rtlCol="0" anchor="ctr"/>
          <a:lstStyle/>
          <a:p>
            <a:pPr indent="0" marL="0">
              <a:buNone/>
            </a:pPr>
            <a:r>
              <a:rPr lang="en-US" sz="1600" b="1" dirty="0">
                <a:solidFill>
                  <a:srgbClr val="334155"/>
                </a:solidFill>
                <a:latin typeface="Calibri" pitchFamily="34" charset="0"/>
                <a:ea typeface="Calibri" pitchFamily="34" charset="-122"/>
                <a:cs typeface="Calibri" pitchFamily="34" charset="-120"/>
              </a:rPr>
              <a:t>The trade we accept</a:t>
            </a:r>
            <a:endParaRPr lang="en-US" sz="1600" dirty="0"/>
          </a:p>
        </p:txBody>
      </p:sp>
      <p:sp>
        <p:nvSpPr>
          <p:cNvPr id="21" name="Text 19"/>
          <p:cNvSpPr/>
          <p:nvPr/>
        </p:nvSpPr>
        <p:spPr>
          <a:xfrm>
            <a:off x="786384" y="4352544"/>
            <a:ext cx="10618927" cy="493776"/>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Riders lose the highest paying, worst paying, most dangerous trips if we take the easy ones first. We will take them deliberately and slowly, and publish what it costs the rider who loses one.</a:t>
            </a:r>
            <a:endParaRPr lang="en-US" sz="1400" dirty="0"/>
          </a:p>
        </p:txBody>
      </p:sp>
      <p:sp>
        <p:nvSpPr>
          <p:cNvPr id="22" name="Text 20"/>
          <p:cNvSpPr/>
          <p:nvPr/>
        </p:nvSpPr>
        <p:spPr>
          <a:xfrm>
            <a:off x="566928" y="5138928"/>
            <a:ext cx="11057839" cy="365760"/>
          </a:xfrm>
          <a:prstGeom prst="rect">
            <a:avLst/>
          </a:prstGeom>
          <a:noFill/>
          <a:ln/>
        </p:spPr>
        <p:txBody>
          <a:bodyPr wrap="square" lIns="0" tIns="0" rIns="0" bIns="0" rtlCol="0" anchor="ctr"/>
          <a:lstStyle/>
          <a:p>
            <a:pPr indent="0" marL="0">
              <a:buNone/>
            </a:pPr>
            <a:r>
              <a:rPr lang="en-US" sz="1800" b="1" dirty="0">
                <a:solidFill>
                  <a:srgbClr val="0F172A"/>
                </a:solidFill>
                <a:latin typeface="Calibri" pitchFamily="34" charset="0"/>
                <a:ea typeface="Calibri" pitchFamily="34" charset="-122"/>
                <a:cs typeface="Calibri" pitchFamily="34" charset="-120"/>
              </a:rPr>
              <a:t>People first is only credible if it names who pays for it. The riders pay, so the riders are in scope.</a:t>
            </a:r>
            <a:endParaRPr lang="en-US" sz="1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Ethics: five commitments we would publish</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Written before launch, not after criticism</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43</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731520"/>
          </a:xfrm>
          <a:prstGeom prst="rect">
            <a:avLst/>
          </a:prstGeom>
          <a:solidFill>
            <a:srgbClr val="800020"/>
          </a:solidFill>
          <a:ln w="12700">
            <a:solidFill>
              <a:srgbClr val="333333"/>
            </a:solidFill>
            <a:prstDash val="solid"/>
          </a:ln>
        </p:spPr>
      </p:sp>
      <p:sp>
        <p:nvSpPr>
          <p:cNvPr id="9" name="Text 7"/>
          <p:cNvSpPr/>
          <p:nvPr/>
        </p:nvSpPr>
        <p:spPr>
          <a:xfrm>
            <a:off x="786384" y="129844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1. No flight over a crowd</a:t>
            </a:r>
            <a:endParaRPr lang="en-US" sz="1600" dirty="0"/>
          </a:p>
        </p:txBody>
      </p:sp>
      <p:sp>
        <p:nvSpPr>
          <p:cNvPr id="10" name="Text 8"/>
          <p:cNvSpPr/>
          <p:nvPr/>
        </p:nvSpPr>
        <p:spPr>
          <a:xfrm>
            <a:off x="4956048" y="129844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Schools, hospitals and stadiums are excluded from every corridor</a:t>
            </a:r>
            <a:endParaRPr lang="en-US" sz="1400" dirty="0"/>
          </a:p>
        </p:txBody>
      </p:sp>
      <p:sp>
        <p:nvSpPr>
          <p:cNvPr id="11" name="Shape 9"/>
          <p:cNvSpPr/>
          <p:nvPr/>
        </p:nvSpPr>
        <p:spPr>
          <a:xfrm>
            <a:off x="566928" y="212140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566928" y="2121408"/>
            <a:ext cx="73152" cy="731520"/>
          </a:xfrm>
          <a:prstGeom prst="rect">
            <a:avLst/>
          </a:prstGeom>
          <a:solidFill>
            <a:srgbClr val="800020"/>
          </a:solidFill>
          <a:ln w="12700">
            <a:solidFill>
              <a:srgbClr val="333333"/>
            </a:solidFill>
            <a:prstDash val="solid"/>
          </a:ln>
        </p:spPr>
      </p:sp>
      <p:sp>
        <p:nvSpPr>
          <p:cNvPr id="13" name="Text 11"/>
          <p:cNvSpPr/>
          <p:nvPr/>
        </p:nvSpPr>
        <p:spPr>
          <a:xfrm>
            <a:off x="786384" y="212140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2. The aircraft may refuse</a:t>
            </a:r>
            <a:endParaRPr lang="en-US" sz="1600" dirty="0"/>
          </a:p>
        </p:txBody>
      </p:sp>
      <p:sp>
        <p:nvSpPr>
          <p:cNvPr id="14" name="Text 12"/>
          <p:cNvSpPr/>
          <p:nvPr/>
        </p:nvSpPr>
        <p:spPr>
          <a:xfrm>
            <a:off x="4956048" y="212140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No operator or model can force a landing the safety path rejects</a:t>
            </a:r>
            <a:endParaRPr lang="en-US" sz="1400" dirty="0"/>
          </a:p>
        </p:txBody>
      </p:sp>
      <p:sp>
        <p:nvSpPr>
          <p:cNvPr id="15" name="Shape 13"/>
          <p:cNvSpPr/>
          <p:nvPr/>
        </p:nvSpPr>
        <p:spPr>
          <a:xfrm>
            <a:off x="566928" y="294436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944368"/>
            <a:ext cx="73152" cy="731520"/>
          </a:xfrm>
          <a:prstGeom prst="rect">
            <a:avLst/>
          </a:prstGeom>
          <a:solidFill>
            <a:srgbClr val="800020"/>
          </a:solidFill>
          <a:ln w="12700">
            <a:solidFill>
              <a:srgbClr val="333333"/>
            </a:solidFill>
            <a:prstDash val="solid"/>
          </a:ln>
        </p:spPr>
      </p:sp>
      <p:sp>
        <p:nvSpPr>
          <p:cNvPr id="17" name="Text 15"/>
          <p:cNvSpPr/>
          <p:nvPr/>
        </p:nvSpPr>
        <p:spPr>
          <a:xfrm>
            <a:off x="786384" y="294436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3. Pad consent is renewable</a:t>
            </a:r>
            <a:endParaRPr lang="en-US" sz="1600" dirty="0"/>
          </a:p>
        </p:txBody>
      </p:sp>
      <p:sp>
        <p:nvSpPr>
          <p:cNvPr id="18" name="Text 16"/>
          <p:cNvSpPr/>
          <p:nvPr/>
        </p:nvSpPr>
        <p:spPr>
          <a:xfrm>
            <a:off x="4956048" y="294436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Any host can end hosting with thirty days notice, and we remove the pad</a:t>
            </a:r>
            <a:endParaRPr lang="en-US" sz="1400" dirty="0"/>
          </a:p>
        </p:txBody>
      </p:sp>
      <p:sp>
        <p:nvSpPr>
          <p:cNvPr id="19" name="Shape 17"/>
          <p:cNvSpPr/>
          <p:nvPr/>
        </p:nvSpPr>
        <p:spPr>
          <a:xfrm>
            <a:off x="566928" y="376732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566928" y="3767328"/>
            <a:ext cx="73152" cy="731520"/>
          </a:xfrm>
          <a:prstGeom prst="rect">
            <a:avLst/>
          </a:prstGeom>
          <a:solidFill>
            <a:srgbClr val="800020"/>
          </a:solidFill>
          <a:ln w="12700">
            <a:solidFill>
              <a:srgbClr val="333333"/>
            </a:solidFill>
            <a:prstDash val="solid"/>
          </a:ln>
        </p:spPr>
      </p:sp>
      <p:sp>
        <p:nvSpPr>
          <p:cNvPr id="21" name="Text 19"/>
          <p:cNvSpPr/>
          <p:nvPr/>
        </p:nvSpPr>
        <p:spPr>
          <a:xfrm>
            <a:off x="786384" y="376732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4. Riders keep their income floor</a:t>
            </a:r>
            <a:endParaRPr lang="en-US" sz="1600" dirty="0"/>
          </a:p>
        </p:txBody>
      </p:sp>
      <p:sp>
        <p:nvSpPr>
          <p:cNvPr id="22" name="Text 20"/>
          <p:cNvSpPr/>
          <p:nvPr/>
        </p:nvSpPr>
        <p:spPr>
          <a:xfrm>
            <a:off x="4956048" y="376732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Corridor assignment never drops a rider below their current daily average</a:t>
            </a:r>
            <a:endParaRPr lang="en-US" sz="1400" dirty="0"/>
          </a:p>
        </p:txBody>
      </p:sp>
      <p:sp>
        <p:nvSpPr>
          <p:cNvPr id="23" name="Shape 21"/>
          <p:cNvSpPr/>
          <p:nvPr/>
        </p:nvSpPr>
        <p:spPr>
          <a:xfrm>
            <a:off x="566928" y="459028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590288"/>
            <a:ext cx="73152" cy="731520"/>
          </a:xfrm>
          <a:prstGeom prst="rect">
            <a:avLst/>
          </a:prstGeom>
          <a:solidFill>
            <a:srgbClr val="800020"/>
          </a:solidFill>
          <a:ln w="12700">
            <a:solidFill>
              <a:srgbClr val="333333"/>
            </a:solidFill>
            <a:prstDash val="solid"/>
          </a:ln>
        </p:spPr>
      </p:sp>
      <p:sp>
        <p:nvSpPr>
          <p:cNvPr id="25" name="Text 23"/>
          <p:cNvSpPr/>
          <p:nvPr/>
        </p:nvSpPr>
        <p:spPr>
          <a:xfrm>
            <a:off x="786384" y="459028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5. Every incident is disclosed</a:t>
            </a:r>
            <a:endParaRPr lang="en-US" sz="1600" dirty="0"/>
          </a:p>
        </p:txBody>
      </p:sp>
      <p:sp>
        <p:nvSpPr>
          <p:cNvPr id="26" name="Text 24"/>
          <p:cNvSpPr/>
          <p:nvPr/>
        </p:nvSpPr>
        <p:spPr>
          <a:xfrm>
            <a:off x="4956048" y="459028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Reported to the customer, the pad owner and the regulator, in that order</a:t>
            </a:r>
            <a:endParaRPr lang="en-US" sz="1400" dirty="0"/>
          </a:p>
        </p:txBody>
      </p:sp>
      <p:sp>
        <p:nvSpPr>
          <p:cNvPr id="27" name="Text 25"/>
          <p:cNvSpPr/>
          <p:nvPr/>
        </p:nvSpPr>
        <p:spPr>
          <a:xfrm>
            <a:off x="566928" y="5486400"/>
            <a:ext cx="11057839" cy="310896"/>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Five commitments, each one a promise a customer or a rider can hold us to.</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Ethics of the AI, specifically</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Five limits we will not cross, whichever model is in the loop</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44</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73152" cy="731520"/>
          </a:xfrm>
          <a:prstGeom prst="rect">
            <a:avLst/>
          </a:prstGeom>
          <a:solidFill>
            <a:srgbClr val="166534"/>
          </a:solidFill>
          <a:ln w="12700">
            <a:solidFill>
              <a:srgbClr val="333333"/>
            </a:solidFill>
            <a:prstDash val="solid"/>
          </a:ln>
        </p:spPr>
      </p:sp>
      <p:sp>
        <p:nvSpPr>
          <p:cNvPr id="9" name="Text 7"/>
          <p:cNvSpPr/>
          <p:nvPr/>
        </p:nvSpPr>
        <p:spPr>
          <a:xfrm>
            <a:off x="786384" y="129844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No model commands a flight</a:t>
            </a:r>
            <a:endParaRPr lang="en-US" sz="1600" dirty="0"/>
          </a:p>
        </p:txBody>
      </p:sp>
      <p:sp>
        <p:nvSpPr>
          <p:cNvPr id="10" name="Text 8"/>
          <p:cNvSpPr/>
          <p:nvPr/>
        </p:nvSpPr>
        <p:spPr>
          <a:xfrm>
            <a:off x="4956048" y="129844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Models recommend. State estimation, planning and control stay local and deterministic</a:t>
            </a:r>
            <a:endParaRPr lang="en-US" sz="1400" dirty="0"/>
          </a:p>
        </p:txBody>
      </p:sp>
      <p:sp>
        <p:nvSpPr>
          <p:cNvPr id="11" name="Shape 9"/>
          <p:cNvSpPr/>
          <p:nvPr/>
        </p:nvSpPr>
        <p:spPr>
          <a:xfrm>
            <a:off x="566928" y="212140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2" name="Shape 10"/>
          <p:cNvSpPr/>
          <p:nvPr/>
        </p:nvSpPr>
        <p:spPr>
          <a:xfrm>
            <a:off x="566928" y="2121408"/>
            <a:ext cx="73152" cy="731520"/>
          </a:xfrm>
          <a:prstGeom prst="rect">
            <a:avLst/>
          </a:prstGeom>
          <a:solidFill>
            <a:srgbClr val="166534"/>
          </a:solidFill>
          <a:ln w="12700">
            <a:solidFill>
              <a:srgbClr val="333333"/>
            </a:solidFill>
            <a:prstDash val="solid"/>
          </a:ln>
        </p:spPr>
      </p:sp>
      <p:sp>
        <p:nvSpPr>
          <p:cNvPr id="13" name="Text 11"/>
          <p:cNvSpPr/>
          <p:nvPr/>
        </p:nvSpPr>
        <p:spPr>
          <a:xfrm>
            <a:off x="786384" y="212140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No training on customer data</a:t>
            </a:r>
            <a:endParaRPr lang="en-US" sz="1600" dirty="0"/>
          </a:p>
        </p:txBody>
      </p:sp>
      <p:sp>
        <p:nvSpPr>
          <p:cNvPr id="14" name="Text 12"/>
          <p:cNvSpPr/>
          <p:nvPr/>
        </p:nvSpPr>
        <p:spPr>
          <a:xfrm>
            <a:off x="4956048" y="212140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No images, addresses or order history leave our infrastructure for training</a:t>
            </a:r>
            <a:endParaRPr lang="en-US" sz="1400" dirty="0"/>
          </a:p>
        </p:txBody>
      </p:sp>
      <p:sp>
        <p:nvSpPr>
          <p:cNvPr id="15" name="Shape 13"/>
          <p:cNvSpPr/>
          <p:nvPr/>
        </p:nvSpPr>
        <p:spPr>
          <a:xfrm>
            <a:off x="566928" y="294436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6" name="Shape 14"/>
          <p:cNvSpPr/>
          <p:nvPr/>
        </p:nvSpPr>
        <p:spPr>
          <a:xfrm>
            <a:off x="566928" y="2944368"/>
            <a:ext cx="73152" cy="731520"/>
          </a:xfrm>
          <a:prstGeom prst="rect">
            <a:avLst/>
          </a:prstGeom>
          <a:solidFill>
            <a:srgbClr val="166534"/>
          </a:solidFill>
          <a:ln w="12700">
            <a:solidFill>
              <a:srgbClr val="333333"/>
            </a:solidFill>
            <a:prstDash val="solid"/>
          </a:ln>
        </p:spPr>
      </p:sp>
      <p:sp>
        <p:nvSpPr>
          <p:cNvPr id="17" name="Text 15"/>
          <p:cNvSpPr/>
          <p:nvPr/>
        </p:nvSpPr>
        <p:spPr>
          <a:xfrm>
            <a:off x="786384" y="294436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Every decision is logged</a:t>
            </a:r>
            <a:endParaRPr lang="en-US" sz="1600" dirty="0"/>
          </a:p>
        </p:txBody>
      </p:sp>
      <p:sp>
        <p:nvSpPr>
          <p:cNvPr id="18" name="Text 16"/>
          <p:cNvSpPr/>
          <p:nvPr/>
        </p:nvSpPr>
        <p:spPr>
          <a:xfrm>
            <a:off x="4956048" y="294436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Vision output, Jev action and GLM recommendation are recorded for review</a:t>
            </a:r>
            <a:endParaRPr lang="en-US" sz="1400" dirty="0"/>
          </a:p>
        </p:txBody>
      </p:sp>
      <p:sp>
        <p:nvSpPr>
          <p:cNvPr id="19" name="Shape 17"/>
          <p:cNvSpPr/>
          <p:nvPr/>
        </p:nvSpPr>
        <p:spPr>
          <a:xfrm>
            <a:off x="566928" y="3767328"/>
            <a:ext cx="11057839" cy="731520"/>
          </a:xfrm>
          <a:prstGeom prst="roundRect">
            <a:avLst>
              <a:gd name="adj" fmla="val 6250"/>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0" name="Shape 18"/>
          <p:cNvSpPr/>
          <p:nvPr/>
        </p:nvSpPr>
        <p:spPr>
          <a:xfrm>
            <a:off x="566928" y="3767328"/>
            <a:ext cx="73152" cy="731520"/>
          </a:xfrm>
          <a:prstGeom prst="rect">
            <a:avLst/>
          </a:prstGeom>
          <a:solidFill>
            <a:srgbClr val="166534"/>
          </a:solidFill>
          <a:ln w="12700">
            <a:solidFill>
              <a:srgbClr val="333333"/>
            </a:solidFill>
            <a:prstDash val="solid"/>
          </a:ln>
        </p:spPr>
      </p:sp>
      <p:sp>
        <p:nvSpPr>
          <p:cNvPr id="21" name="Text 19"/>
          <p:cNvSpPr/>
          <p:nvPr/>
        </p:nvSpPr>
        <p:spPr>
          <a:xfrm>
            <a:off x="786384" y="376732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Confidence is respected</a:t>
            </a:r>
            <a:endParaRPr lang="en-US" sz="1600" dirty="0"/>
          </a:p>
        </p:txBody>
      </p:sp>
      <p:sp>
        <p:nvSpPr>
          <p:cNvPr id="22" name="Text 20"/>
          <p:cNvSpPr/>
          <p:nvPr/>
        </p:nvSpPr>
        <p:spPr>
          <a:xfrm>
            <a:off x="4956048" y="376732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Below the floor the system abstains and asks a human. It never guesses a landing</a:t>
            </a:r>
            <a:endParaRPr lang="en-US" sz="1400" dirty="0"/>
          </a:p>
        </p:txBody>
      </p:sp>
      <p:sp>
        <p:nvSpPr>
          <p:cNvPr id="23" name="Shape 21"/>
          <p:cNvSpPr/>
          <p:nvPr/>
        </p:nvSpPr>
        <p:spPr>
          <a:xfrm>
            <a:off x="566928" y="4590288"/>
            <a:ext cx="11057839" cy="731520"/>
          </a:xfrm>
          <a:prstGeom prst="roundRect">
            <a:avLst>
              <a:gd name="adj" fmla="val 6250"/>
            </a:avLst>
          </a:prstGeom>
          <a:solidFill>
            <a:srgbClr val="F8FAFC"/>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24" name="Shape 22"/>
          <p:cNvSpPr/>
          <p:nvPr/>
        </p:nvSpPr>
        <p:spPr>
          <a:xfrm>
            <a:off x="566928" y="4590288"/>
            <a:ext cx="73152" cy="731520"/>
          </a:xfrm>
          <a:prstGeom prst="rect">
            <a:avLst/>
          </a:prstGeom>
          <a:solidFill>
            <a:srgbClr val="166534"/>
          </a:solidFill>
          <a:ln w="12700">
            <a:solidFill>
              <a:srgbClr val="333333"/>
            </a:solidFill>
            <a:prstDash val="solid"/>
          </a:ln>
        </p:spPr>
      </p:sp>
      <p:sp>
        <p:nvSpPr>
          <p:cNvPr id="25" name="Text 23"/>
          <p:cNvSpPr/>
          <p:nvPr/>
        </p:nvSpPr>
        <p:spPr>
          <a:xfrm>
            <a:off x="786384" y="4590288"/>
            <a:ext cx="4023360" cy="731520"/>
          </a:xfrm>
          <a:prstGeom prst="rect">
            <a:avLst/>
          </a:prstGeom>
          <a:noFill/>
          <a:ln/>
        </p:spPr>
        <p:txBody>
          <a:bodyPr wrap="square" lIns="0" tIns="0" rIns="0" bIns="0" rtlCol="0" anchor="ctr"/>
          <a:lstStyle/>
          <a:p>
            <a:pPr indent="0" marL="0">
              <a:buNone/>
            </a:pPr>
            <a:r>
              <a:rPr lang="en-US" sz="1600" b="1" dirty="0">
                <a:solidFill>
                  <a:srgbClr val="0F172A"/>
                </a:solidFill>
                <a:latin typeface="Calibri" pitchFamily="34" charset="0"/>
                <a:ea typeface="Calibri" pitchFamily="34" charset="-122"/>
                <a:cs typeface="Calibri" pitchFamily="34" charset="-120"/>
              </a:rPr>
              <a:t>Human escalation has authority</a:t>
            </a:r>
            <a:endParaRPr lang="en-US" sz="1600" dirty="0"/>
          </a:p>
        </p:txBody>
      </p:sp>
      <p:sp>
        <p:nvSpPr>
          <p:cNvPr id="26" name="Text 24"/>
          <p:cNvSpPr/>
          <p:nvPr/>
        </p:nvSpPr>
        <p:spPr>
          <a:xfrm>
            <a:off x="4956048" y="4590288"/>
            <a:ext cx="6485839" cy="731520"/>
          </a:xfrm>
          <a:prstGeom prst="rect">
            <a:avLst/>
          </a:prstGeom>
          <a:noFill/>
          <a:ln/>
        </p:spPr>
        <p:txBody>
          <a:bodyPr wrap="square" lIns="0" tIns="0" rIns="0" bIns="0" rtlCol="0" anchor="ctr"/>
          <a:lstStyle/>
          <a:p>
            <a:pPr indent="0" marL="0">
              <a:buNone/>
            </a:pPr>
            <a:r>
              <a:rPr lang="en-US" sz="1400" dirty="0">
                <a:solidFill>
                  <a:srgbClr val="334155"/>
                </a:solidFill>
                <a:latin typeface="Calibri" pitchFamily="34" charset="0"/>
                <a:ea typeface="Calibri" pitchFamily="34" charset="-122"/>
                <a:cs typeface="Calibri" pitchFamily="34" charset="-120"/>
              </a:rPr>
              <a:t>A supervisor can stop any flight, and the aircraft will not argue</a:t>
            </a:r>
            <a:endParaRPr lang="en-US" sz="1400" dirty="0"/>
          </a:p>
        </p:txBody>
      </p:sp>
      <p:sp>
        <p:nvSpPr>
          <p:cNvPr id="27" name="Shape 25"/>
          <p:cNvSpPr/>
          <p:nvPr/>
        </p:nvSpPr>
        <p:spPr>
          <a:xfrm>
            <a:off x="566928" y="5468112"/>
            <a:ext cx="11057839" cy="310896"/>
          </a:xfrm>
          <a:prstGeom prst="roundRect">
            <a:avLst>
              <a:gd name="adj" fmla="val 14706"/>
            </a:avLst>
          </a:prstGeom>
          <a:solidFill>
            <a:srgbClr val="F0FDF4"/>
          </a:solidFill>
          <a:ln w="12700">
            <a:solidFill>
              <a:srgbClr val="CBD5E1"/>
            </a:solidFill>
            <a:prstDash val="solid"/>
          </a:ln>
        </p:spPr>
      </p:sp>
      <p:sp>
        <p:nvSpPr>
          <p:cNvPr id="28" name="Text 26"/>
          <p:cNvSpPr/>
          <p:nvPr/>
        </p:nvSpPr>
        <p:spPr>
          <a:xfrm>
            <a:off x="749808" y="5468112"/>
            <a:ext cx="10692079" cy="310896"/>
          </a:xfrm>
          <a:prstGeom prst="rect">
            <a:avLst/>
          </a:prstGeom>
          <a:noFill/>
          <a:ln/>
        </p:spPr>
        <p:txBody>
          <a:bodyPr wrap="square" lIns="0" tIns="0" rIns="0" bIns="0" rtlCol="0" anchor="ctr"/>
          <a:lstStyle/>
          <a:p>
            <a:pPr indent="0" marL="0">
              <a:buNone/>
            </a:pPr>
            <a:r>
              <a:rPr lang="en-US" sz="1400" b="1" dirty="0">
                <a:solidFill>
                  <a:srgbClr val="166534"/>
                </a:solidFill>
                <a:latin typeface="Calibri" pitchFamily="34" charset="0"/>
                <a:ea typeface="Calibri" pitchFamily="34" charset="-122"/>
                <a:cs typeface="Calibri" pitchFamily="34" charset="-120"/>
              </a:rPr>
              <a:t>Rule zero: the drone must be safe to fly with no network, no model and no data. Anything we cannot guarantee that, we do not launch.</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Three horizons, and what each one must prove</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A roadmap that a regulator and an investor can both read</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45</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3503066" cy="3200400"/>
          </a:xfrm>
          <a:prstGeom prst="roundRect">
            <a:avLst>
              <a:gd name="adj" fmla="val 1429"/>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8" name="Shape 6"/>
          <p:cNvSpPr/>
          <p:nvPr/>
        </p:nvSpPr>
        <p:spPr>
          <a:xfrm>
            <a:off x="566928" y="1298448"/>
            <a:ext cx="3503066" cy="82296"/>
          </a:xfrm>
          <a:prstGeom prst="rect">
            <a:avLst/>
          </a:prstGeom>
          <a:solidFill>
            <a:srgbClr val="800020"/>
          </a:solidFill>
          <a:ln w="12700">
            <a:solidFill>
              <a:srgbClr val="333333"/>
            </a:solidFill>
            <a:prstDash val="solid"/>
          </a:ln>
        </p:spPr>
      </p:sp>
      <p:sp>
        <p:nvSpPr>
          <p:cNvPr id="9" name="Text 7"/>
          <p:cNvSpPr/>
          <p:nvPr/>
        </p:nvSpPr>
        <p:spPr>
          <a:xfrm>
            <a:off x="731520" y="1481328"/>
            <a:ext cx="3173882" cy="384048"/>
          </a:xfrm>
          <a:prstGeom prst="rect">
            <a:avLst/>
          </a:prstGeom>
          <a:noFill/>
          <a:ln/>
        </p:spPr>
        <p:txBody>
          <a:bodyPr wrap="square" lIns="0" tIns="0" rIns="0" bIns="0" rtlCol="0" anchor="ctr"/>
          <a:lstStyle/>
          <a:p>
            <a:pPr indent="0" marL="0">
              <a:buNone/>
            </a:pPr>
            <a:r>
              <a:rPr lang="en-US" sz="2100" b="1" dirty="0">
                <a:solidFill>
                  <a:srgbClr val="800020"/>
                </a:solidFill>
                <a:latin typeface="Century Schoolbook" pitchFamily="34" charset="0"/>
                <a:ea typeface="Century Schoolbook" pitchFamily="34" charset="-122"/>
                <a:cs typeface="Century Schoolbook" pitchFamily="34" charset="-120"/>
              </a:rPr>
              <a:t>Horizon 1</a:t>
            </a:r>
            <a:endParaRPr lang="en-US" sz="2100" dirty="0"/>
          </a:p>
        </p:txBody>
      </p:sp>
      <p:sp>
        <p:nvSpPr>
          <p:cNvPr id="10" name="Text 8"/>
          <p:cNvSpPr/>
          <p:nvPr/>
        </p:nvSpPr>
        <p:spPr>
          <a:xfrm>
            <a:off x="731520" y="1883664"/>
            <a:ext cx="3173882" cy="27432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Months 0 to 6</a:t>
            </a:r>
            <a:endParaRPr lang="en-US" sz="1200" dirty="0"/>
          </a:p>
        </p:txBody>
      </p:sp>
      <p:sp>
        <p:nvSpPr>
          <p:cNvPr id="11" name="Text 9"/>
          <p:cNvSpPr/>
          <p:nvPr/>
        </p:nvSpPr>
        <p:spPr>
          <a:xfrm>
            <a:off x="731520"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CAAB pre-application answered</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One hub, two corridors, forty pads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Vision only, with Jev behind a flag</a:t>
            </a:r>
            <a:endParaRPr lang="en-US" sz="1400" dirty="0"/>
          </a:p>
        </p:txBody>
      </p:sp>
      <p:sp>
        <p:nvSpPr>
          <p:cNvPr id="12" name="Shape 10"/>
          <p:cNvSpPr/>
          <p:nvPr/>
        </p:nvSpPr>
        <p:spPr>
          <a:xfrm>
            <a:off x="4344314" y="1298448"/>
            <a:ext cx="3503066" cy="3200400"/>
          </a:xfrm>
          <a:prstGeom prst="roundRect">
            <a:avLst>
              <a:gd name="adj" fmla="val 1429"/>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3" name="Shape 11"/>
          <p:cNvSpPr/>
          <p:nvPr/>
        </p:nvSpPr>
        <p:spPr>
          <a:xfrm>
            <a:off x="4344314" y="1298448"/>
            <a:ext cx="3503066" cy="82296"/>
          </a:xfrm>
          <a:prstGeom prst="rect">
            <a:avLst/>
          </a:prstGeom>
          <a:solidFill>
            <a:srgbClr val="B45309"/>
          </a:solidFill>
          <a:ln w="12700">
            <a:solidFill>
              <a:srgbClr val="333333"/>
            </a:solidFill>
            <a:prstDash val="solid"/>
          </a:ln>
        </p:spPr>
      </p:sp>
      <p:sp>
        <p:nvSpPr>
          <p:cNvPr id="14" name="Text 12"/>
          <p:cNvSpPr/>
          <p:nvPr/>
        </p:nvSpPr>
        <p:spPr>
          <a:xfrm>
            <a:off x="4508906" y="1481328"/>
            <a:ext cx="3173882" cy="384048"/>
          </a:xfrm>
          <a:prstGeom prst="rect">
            <a:avLst/>
          </a:prstGeom>
          <a:noFill/>
          <a:ln/>
        </p:spPr>
        <p:txBody>
          <a:bodyPr wrap="square" lIns="0" tIns="0" rIns="0" bIns="0" rtlCol="0" anchor="ctr"/>
          <a:lstStyle/>
          <a:p>
            <a:pPr indent="0" marL="0">
              <a:buNone/>
            </a:pPr>
            <a:r>
              <a:rPr lang="en-US" sz="2100" b="1" dirty="0">
                <a:solidFill>
                  <a:srgbClr val="B45309"/>
                </a:solidFill>
                <a:latin typeface="Century Schoolbook" pitchFamily="34" charset="0"/>
                <a:ea typeface="Century Schoolbook" pitchFamily="34" charset="-122"/>
                <a:cs typeface="Century Schoolbook" pitchFamily="34" charset="-120"/>
              </a:rPr>
              <a:t>Horizon 2</a:t>
            </a:r>
            <a:endParaRPr lang="en-US" sz="2100" dirty="0"/>
          </a:p>
        </p:txBody>
      </p:sp>
      <p:sp>
        <p:nvSpPr>
          <p:cNvPr id="15" name="Text 13"/>
          <p:cNvSpPr/>
          <p:nvPr/>
        </p:nvSpPr>
        <p:spPr>
          <a:xfrm>
            <a:off x="4508906" y="1883664"/>
            <a:ext cx="3173882" cy="27432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Months 6 to 18</a:t>
            </a:r>
            <a:endParaRPr lang="en-US" sz="1200" dirty="0"/>
          </a:p>
        </p:txBody>
      </p:sp>
      <p:sp>
        <p:nvSpPr>
          <p:cNvPr id="16" name="Text 14"/>
          <p:cNvSpPr/>
          <p:nvPr/>
        </p:nvSpPr>
        <p:spPr>
          <a:xfrm>
            <a:off x="4508906"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Written permission in hand</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Jev and GLM live on escalated flights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Break even on one hub</a:t>
            </a:r>
            <a:endParaRPr lang="en-US" sz="1400" dirty="0"/>
          </a:p>
        </p:txBody>
      </p:sp>
      <p:sp>
        <p:nvSpPr>
          <p:cNvPr id="17" name="Shape 15"/>
          <p:cNvSpPr/>
          <p:nvPr/>
        </p:nvSpPr>
        <p:spPr>
          <a:xfrm>
            <a:off x="8121701" y="1298448"/>
            <a:ext cx="3503066" cy="3200400"/>
          </a:xfrm>
          <a:prstGeom prst="roundRect">
            <a:avLst>
              <a:gd name="adj" fmla="val 1429"/>
            </a:avLst>
          </a:prstGeom>
          <a:solidFill>
            <a:srgbClr val="FFFFFF"/>
          </a:solidFill>
          <a:ln w="12700">
            <a:solidFill>
              <a:srgbClr val="E2E8F0"/>
            </a:solidFill>
            <a:prstDash val="solid"/>
          </a:ln>
          <a:effectLst>
            <a:outerShdw sx="100000" sy="100000" kx="0" ky="0" algn="bl" rotWithShape="0" blurRad="114300" dist="12700" dir="5400000">
              <a:srgbClr val="0F172A">
                <a:alpha val="8000"/>
              </a:srgbClr>
            </a:outerShdw>
          </a:effectLst>
        </p:spPr>
      </p:sp>
      <p:sp>
        <p:nvSpPr>
          <p:cNvPr id="18" name="Shape 16"/>
          <p:cNvSpPr/>
          <p:nvPr/>
        </p:nvSpPr>
        <p:spPr>
          <a:xfrm>
            <a:off x="8121701" y="1298448"/>
            <a:ext cx="3503066" cy="82296"/>
          </a:xfrm>
          <a:prstGeom prst="rect">
            <a:avLst/>
          </a:prstGeom>
          <a:solidFill>
            <a:srgbClr val="166534"/>
          </a:solidFill>
          <a:ln w="12700">
            <a:solidFill>
              <a:srgbClr val="333333"/>
            </a:solidFill>
            <a:prstDash val="solid"/>
          </a:ln>
        </p:spPr>
      </p:sp>
      <p:sp>
        <p:nvSpPr>
          <p:cNvPr id="19" name="Text 17"/>
          <p:cNvSpPr/>
          <p:nvPr/>
        </p:nvSpPr>
        <p:spPr>
          <a:xfrm>
            <a:off x="8286293" y="1481328"/>
            <a:ext cx="3173882" cy="384048"/>
          </a:xfrm>
          <a:prstGeom prst="rect">
            <a:avLst/>
          </a:prstGeom>
          <a:noFill/>
          <a:ln/>
        </p:spPr>
        <p:txBody>
          <a:bodyPr wrap="square" lIns="0" tIns="0" rIns="0" bIns="0" rtlCol="0" anchor="ctr"/>
          <a:lstStyle/>
          <a:p>
            <a:pPr indent="0" marL="0">
              <a:buNone/>
            </a:pPr>
            <a:r>
              <a:rPr lang="en-US" sz="2100" b="1" dirty="0">
                <a:solidFill>
                  <a:srgbClr val="166534"/>
                </a:solidFill>
                <a:latin typeface="Century Schoolbook" pitchFamily="34" charset="0"/>
                <a:ea typeface="Century Schoolbook" pitchFamily="34" charset="-122"/>
                <a:cs typeface="Century Schoolbook" pitchFamily="34" charset="-120"/>
              </a:rPr>
              <a:t>Horizon 3</a:t>
            </a:r>
            <a:endParaRPr lang="en-US" sz="2100" dirty="0"/>
          </a:p>
        </p:txBody>
      </p:sp>
      <p:sp>
        <p:nvSpPr>
          <p:cNvPr id="20" name="Text 18"/>
          <p:cNvSpPr/>
          <p:nvPr/>
        </p:nvSpPr>
        <p:spPr>
          <a:xfrm>
            <a:off x="8286293" y="1883664"/>
            <a:ext cx="3173882" cy="274320"/>
          </a:xfrm>
          <a:prstGeom prst="rect">
            <a:avLst/>
          </a:prstGeom>
          <a:noFill/>
          <a:ln/>
        </p:spPr>
        <p:txBody>
          <a:bodyPr wrap="square" lIns="0" tIns="0" rIns="0" bIns="0" rtlCol="0" anchor="ctr"/>
          <a:lstStyle/>
          <a:p>
            <a:pPr indent="0" marL="0">
              <a:buNone/>
            </a:pPr>
            <a:r>
              <a:rPr lang="en-US" sz="1200" b="1" dirty="0">
                <a:solidFill>
                  <a:srgbClr val="64748B"/>
                </a:solidFill>
                <a:latin typeface="Calibri" pitchFamily="34" charset="0"/>
                <a:ea typeface="Calibri" pitchFamily="34" charset="-122"/>
                <a:cs typeface="Calibri" pitchFamily="34" charset="-120"/>
              </a:rPr>
              <a:t>Years 2 to 3</a:t>
            </a:r>
            <a:endParaRPr lang="en-US" sz="1200" dirty="0"/>
          </a:p>
        </p:txBody>
      </p:sp>
      <p:sp>
        <p:nvSpPr>
          <p:cNvPr id="21" name="Text 19"/>
          <p:cNvSpPr/>
          <p:nvPr/>
        </p:nvSpPr>
        <p:spPr>
          <a:xfrm>
            <a:off x="8286293" y="2249424"/>
            <a:ext cx="3173882"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Dhaka corridors, three more hubs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Medical and blood contracts</a:t>
            </a:r>
            <a:endParaRPr lang="en-US" sz="1400" dirty="0"/>
          </a:p>
          <a:p>
            <a:pPr marL="342900" indent="-342900">
              <a:spcAft>
                <a:spcPts val="800"/>
              </a:spcAft>
              <a:buSzPct val="100000"/>
              <a:buChar char="•"/>
            </a:pPr>
            <a:r>
              <a:rPr lang="en-US" sz="1400" dirty="0">
                <a:solidFill>
                  <a:srgbClr val="334155"/>
                </a:solidFill>
                <a:latin typeface="Calibri" pitchFamily="34" charset="0"/>
                <a:ea typeface="Calibri" pitchFamily="34" charset="-122"/>
                <a:cs typeface="Calibri" pitchFamily="34" charset="-120"/>
              </a:rPr>
              <a:t>Corridor data sold as a product</a:t>
            </a:r>
            <a:endParaRPr lang="en-US" sz="1400" dirty="0"/>
          </a:p>
        </p:txBody>
      </p:sp>
      <p:sp>
        <p:nvSpPr>
          <p:cNvPr id="22" name="Text 20"/>
          <p:cNvSpPr/>
          <p:nvPr/>
        </p:nvSpPr>
        <p:spPr>
          <a:xfrm>
            <a:off x="566928" y="4773168"/>
            <a:ext cx="11057839" cy="365760"/>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Permission gates Horizon 2, and break even gates Horizon 3. Neither can be bought ahead of the other.</a:t>
            </a:r>
            <a:endParaRPr lang="en-US" sz="1400" dirty="0"/>
          </a:p>
        </p:txBody>
      </p:sp>
      <p:sp>
        <p:nvSpPr>
          <p:cNvPr id="23" name="Shape 21"/>
          <p:cNvSpPr/>
          <p:nvPr/>
        </p:nvSpPr>
        <p:spPr>
          <a:xfrm>
            <a:off x="566928" y="5175504"/>
            <a:ext cx="11057839" cy="530352"/>
          </a:xfrm>
          <a:prstGeom prst="roundRect">
            <a:avLst>
              <a:gd name="adj" fmla="val 8621"/>
            </a:avLst>
          </a:prstGeom>
          <a:solidFill>
            <a:srgbClr val="FFF1F2"/>
          </a:solidFill>
          <a:ln w="12700">
            <a:solidFill>
              <a:srgbClr val="FDE8EA"/>
            </a:solidFill>
            <a:prstDash val="solid"/>
          </a:ln>
        </p:spPr>
      </p:sp>
      <p:sp>
        <p:nvSpPr>
          <p:cNvPr id="24" name="Text 22"/>
          <p:cNvSpPr/>
          <p:nvPr/>
        </p:nvSpPr>
        <p:spPr>
          <a:xfrm>
            <a:off x="786384" y="5175504"/>
            <a:ext cx="10618927" cy="530352"/>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Rajshahi is Horizon 1 and 2. Dhaka is Horizon 3. We would rather be early in a small city than late in a large one.</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182880"/>
            <a:ext cx="11057839" cy="219456"/>
          </a:xfrm>
          <a:prstGeom prst="rect">
            <a:avLst/>
          </a:prstGeom>
          <a:noFill/>
          <a:ln/>
        </p:spPr>
        <p:txBody>
          <a:bodyPr wrap="square" lIns="0" tIns="0" rIns="0" bIns="0" rtlCol="0" anchor="ctr"/>
          <a:lstStyle/>
          <a:p>
            <a:pPr indent="0" marL="0">
              <a:buNone/>
            </a:pPr>
            <a:r>
              <a:rPr lang="en-US" sz="1400" b="1" dirty="0">
                <a:solidFill>
                  <a:srgbClr val="800020"/>
                </a:solidFill>
                <a:latin typeface="Calibri" pitchFamily="34" charset="0"/>
                <a:ea typeface="Calibri" pitchFamily="34" charset="-122"/>
                <a:cs typeface="Calibri" pitchFamily="34" charset="-120"/>
              </a:rPr>
              <a:t>11. Social Impact, Ethics and Future Strategy</a:t>
            </a:r>
            <a:endParaRPr lang="en-US" sz="1400" dirty="0"/>
          </a:p>
        </p:txBody>
      </p:sp>
      <p:sp>
        <p:nvSpPr>
          <p:cNvPr id="3" name="Text 1"/>
          <p:cNvSpPr/>
          <p:nvPr/>
        </p:nvSpPr>
        <p:spPr>
          <a:xfrm>
            <a:off x="566928" y="438912"/>
            <a:ext cx="11057839" cy="493776"/>
          </a:xfrm>
          <a:prstGeom prst="rect">
            <a:avLst/>
          </a:prstGeom>
          <a:noFill/>
          <a:ln/>
        </p:spPr>
        <p:txBody>
          <a:bodyPr wrap="square" lIns="0" tIns="0" rIns="0" bIns="0" rtlCol="0" anchor="ctr">
            <a:normAutofit/>
          </a:bodyPr>
          <a:lstStyle/>
          <a:p>
            <a:pPr indent="0" marL="0">
              <a:buNone/>
            </a:pPr>
            <a:r>
              <a:rPr lang="en-US" sz="2600" b="1" dirty="0">
                <a:solidFill>
                  <a:srgbClr val="0F172A"/>
                </a:solidFill>
                <a:latin typeface="Century Schoolbook" pitchFamily="34" charset="0"/>
                <a:ea typeface="Century Schoolbook" pitchFamily="34" charset="-122"/>
                <a:cs typeface="Century Schoolbook" pitchFamily="34" charset="-120"/>
              </a:rPr>
              <a:t>Six conditions, and the verdict</a:t>
            </a:r>
            <a:endParaRPr lang="en-US" sz="2600" dirty="0"/>
          </a:p>
        </p:txBody>
      </p:sp>
      <p:sp>
        <p:nvSpPr>
          <p:cNvPr id="4" name="Text 2"/>
          <p:cNvSpPr/>
          <p:nvPr/>
        </p:nvSpPr>
        <p:spPr>
          <a:xfrm>
            <a:off x="566928" y="950976"/>
            <a:ext cx="11057839" cy="256032"/>
          </a:xfrm>
          <a:prstGeom prst="rect">
            <a:avLst/>
          </a:prstGeom>
          <a:noFill/>
          <a:ln/>
        </p:spPr>
        <p:txBody>
          <a:bodyPr wrap="square" lIns="0" tIns="0" rIns="0" bIns="0" rtlCol="0" anchor="ctr"/>
          <a:lstStyle/>
          <a:p>
            <a:pPr indent="0" marL="0">
              <a:buNone/>
            </a:pPr>
            <a:r>
              <a:rPr lang="en-US" sz="1600" dirty="0">
                <a:solidFill>
                  <a:srgbClr val="334155"/>
                </a:solidFill>
                <a:latin typeface="Calibri" pitchFamily="34" charset="0"/>
                <a:ea typeface="Calibri" pitchFamily="34" charset="-122"/>
                <a:cs typeface="Calibri" pitchFamily="34" charset="-120"/>
              </a:rPr>
              <a:t>What has to be true, stated as testable conditions</a:t>
            </a:r>
            <a:endParaRPr lang="en-US" sz="1600" dirty="0"/>
          </a:p>
        </p:txBody>
      </p:sp>
      <p:sp>
        <p:nvSpPr>
          <p:cNvPr id="5" name="Text 3"/>
          <p:cNvSpPr/>
          <p:nvPr/>
        </p:nvSpPr>
        <p:spPr>
          <a:xfrm>
            <a:off x="566928" y="6345936"/>
            <a:ext cx="6400800" cy="256032"/>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
        <p:nvSpPr>
          <p:cNvPr id="6" name="Text 4"/>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46</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7" name="Shape 5"/>
          <p:cNvSpPr/>
          <p:nvPr/>
        </p:nvSpPr>
        <p:spPr>
          <a:xfrm>
            <a:off x="566928" y="1298448"/>
            <a:ext cx="640080" cy="384048"/>
          </a:xfrm>
          <a:prstGeom prst="rect">
            <a:avLst/>
          </a:prstGeom>
          <a:solidFill>
            <a:srgbClr val="0F172A"/>
          </a:solidFill>
          <a:ln w="12700">
            <a:solidFill>
              <a:srgbClr val="333333"/>
            </a:solidFill>
            <a:prstDash val="solid"/>
          </a:ln>
        </p:spPr>
      </p:sp>
      <p:sp>
        <p:nvSpPr>
          <p:cNvPr id="8" name="Text 6"/>
          <p:cNvSpPr/>
          <p:nvPr/>
        </p:nvSpPr>
        <p:spPr>
          <a:xfrm>
            <a:off x="694944" y="1298448"/>
            <a:ext cx="384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9" name="Shape 7"/>
          <p:cNvSpPr/>
          <p:nvPr/>
        </p:nvSpPr>
        <p:spPr>
          <a:xfrm>
            <a:off x="1207008" y="1298448"/>
            <a:ext cx="4937760" cy="384048"/>
          </a:xfrm>
          <a:prstGeom prst="rect">
            <a:avLst/>
          </a:prstGeom>
          <a:solidFill>
            <a:srgbClr val="0F172A"/>
          </a:solidFill>
          <a:ln w="12700">
            <a:solidFill>
              <a:srgbClr val="333333"/>
            </a:solidFill>
            <a:prstDash val="solid"/>
          </a:ln>
        </p:spPr>
      </p:sp>
      <p:sp>
        <p:nvSpPr>
          <p:cNvPr id="10" name="Text 8"/>
          <p:cNvSpPr/>
          <p:nvPr/>
        </p:nvSpPr>
        <p:spPr>
          <a:xfrm>
            <a:off x="1335024" y="1298448"/>
            <a:ext cx="468172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Condition</a:t>
            </a:r>
            <a:endParaRPr lang="en-US" sz="1400" dirty="0"/>
          </a:p>
        </p:txBody>
      </p:sp>
      <p:sp>
        <p:nvSpPr>
          <p:cNvPr id="11" name="Shape 9"/>
          <p:cNvSpPr/>
          <p:nvPr/>
        </p:nvSpPr>
        <p:spPr>
          <a:xfrm>
            <a:off x="6144768" y="1298448"/>
            <a:ext cx="2926080" cy="384048"/>
          </a:xfrm>
          <a:prstGeom prst="rect">
            <a:avLst/>
          </a:prstGeom>
          <a:solidFill>
            <a:srgbClr val="0F172A"/>
          </a:solidFill>
          <a:ln w="12700">
            <a:solidFill>
              <a:srgbClr val="333333"/>
            </a:solidFill>
            <a:prstDash val="solid"/>
          </a:ln>
        </p:spPr>
      </p:sp>
      <p:sp>
        <p:nvSpPr>
          <p:cNvPr id="12" name="Text 10"/>
          <p:cNvSpPr/>
          <p:nvPr/>
        </p:nvSpPr>
        <p:spPr>
          <a:xfrm>
            <a:off x="6272784" y="1298448"/>
            <a:ext cx="2670048"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Threshold</a:t>
            </a:r>
            <a:endParaRPr lang="en-US" sz="1400" dirty="0"/>
          </a:p>
        </p:txBody>
      </p:sp>
      <p:sp>
        <p:nvSpPr>
          <p:cNvPr id="13" name="Shape 11"/>
          <p:cNvSpPr/>
          <p:nvPr/>
        </p:nvSpPr>
        <p:spPr>
          <a:xfrm>
            <a:off x="9070848" y="1298448"/>
            <a:ext cx="2551176" cy="384048"/>
          </a:xfrm>
          <a:prstGeom prst="rect">
            <a:avLst/>
          </a:prstGeom>
          <a:solidFill>
            <a:srgbClr val="0F172A"/>
          </a:solidFill>
          <a:ln w="12700">
            <a:solidFill>
              <a:srgbClr val="333333"/>
            </a:solidFill>
            <a:prstDash val="solid"/>
          </a:ln>
        </p:spPr>
      </p:sp>
      <p:sp>
        <p:nvSpPr>
          <p:cNvPr id="14" name="Text 12"/>
          <p:cNvSpPr/>
          <p:nvPr/>
        </p:nvSpPr>
        <p:spPr>
          <a:xfrm>
            <a:off x="9198864" y="1298448"/>
            <a:ext cx="2295144"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p>
        </p:txBody>
      </p:sp>
      <p:sp>
        <p:nvSpPr>
          <p:cNvPr id="15" name="Shape 13"/>
          <p:cNvSpPr/>
          <p:nvPr/>
        </p:nvSpPr>
        <p:spPr>
          <a:xfrm>
            <a:off x="566928" y="1682496"/>
            <a:ext cx="640080" cy="493776"/>
          </a:xfrm>
          <a:prstGeom prst="rect">
            <a:avLst/>
          </a:prstGeom>
          <a:solidFill>
            <a:srgbClr val="FFFFFF"/>
          </a:solidFill>
          <a:ln w="12700">
            <a:solidFill>
              <a:srgbClr val="E2E8F0"/>
            </a:solidFill>
            <a:prstDash val="solid"/>
          </a:ln>
        </p:spPr>
      </p:sp>
      <p:sp>
        <p:nvSpPr>
          <p:cNvPr id="16" name="Text 14"/>
          <p:cNvSpPr/>
          <p:nvPr/>
        </p:nvSpPr>
        <p:spPr>
          <a:xfrm>
            <a:off x="694944" y="1682496"/>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1</a:t>
            </a:r>
            <a:endParaRPr lang="en-US" sz="1400" dirty="0"/>
          </a:p>
        </p:txBody>
      </p:sp>
      <p:sp>
        <p:nvSpPr>
          <p:cNvPr id="17" name="Shape 15"/>
          <p:cNvSpPr/>
          <p:nvPr/>
        </p:nvSpPr>
        <p:spPr>
          <a:xfrm>
            <a:off x="1207008" y="1682496"/>
            <a:ext cx="4937760" cy="493776"/>
          </a:xfrm>
          <a:prstGeom prst="rect">
            <a:avLst/>
          </a:prstGeom>
          <a:solidFill>
            <a:srgbClr val="FFFFFF"/>
          </a:solidFill>
          <a:ln w="12700">
            <a:solidFill>
              <a:srgbClr val="E2E8F0"/>
            </a:solidFill>
            <a:prstDash val="solid"/>
          </a:ln>
        </p:spPr>
      </p:sp>
      <p:sp>
        <p:nvSpPr>
          <p:cNvPr id="18" name="Text 16"/>
          <p:cNvSpPr/>
          <p:nvPr/>
        </p:nvSpPr>
        <p:spPr>
          <a:xfrm>
            <a:off x="1335024" y="1682496"/>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CAAB grants corridor permission</a:t>
            </a:r>
            <a:endParaRPr lang="en-US" sz="1400" dirty="0"/>
          </a:p>
        </p:txBody>
      </p:sp>
      <p:sp>
        <p:nvSpPr>
          <p:cNvPr id="19" name="Shape 17"/>
          <p:cNvSpPr/>
          <p:nvPr/>
        </p:nvSpPr>
        <p:spPr>
          <a:xfrm>
            <a:off x="6144768" y="1682496"/>
            <a:ext cx="2926080" cy="493776"/>
          </a:xfrm>
          <a:prstGeom prst="rect">
            <a:avLst/>
          </a:prstGeom>
          <a:solidFill>
            <a:srgbClr val="FFFFFF"/>
          </a:solidFill>
          <a:ln w="12700">
            <a:solidFill>
              <a:srgbClr val="E2E8F0"/>
            </a:solidFill>
            <a:prstDash val="solid"/>
          </a:ln>
        </p:spPr>
      </p:sp>
      <p:sp>
        <p:nvSpPr>
          <p:cNvPr id="20" name="Text 18"/>
          <p:cNvSpPr/>
          <p:nvPr/>
        </p:nvSpPr>
        <p:spPr>
          <a:xfrm>
            <a:off x="6272784" y="1682496"/>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Binary</a:t>
            </a:r>
            <a:endParaRPr lang="en-US" sz="1400" dirty="0"/>
          </a:p>
        </p:txBody>
      </p:sp>
      <p:sp>
        <p:nvSpPr>
          <p:cNvPr id="21" name="Shape 19"/>
          <p:cNvSpPr/>
          <p:nvPr/>
        </p:nvSpPr>
        <p:spPr>
          <a:xfrm>
            <a:off x="9070848" y="1682496"/>
            <a:ext cx="2551176" cy="493776"/>
          </a:xfrm>
          <a:prstGeom prst="rect">
            <a:avLst/>
          </a:prstGeom>
          <a:solidFill>
            <a:srgbClr val="FFFFFF"/>
          </a:solidFill>
          <a:ln w="12700">
            <a:solidFill>
              <a:srgbClr val="E2E8F0"/>
            </a:solidFill>
            <a:prstDash val="solid"/>
          </a:ln>
        </p:spPr>
      </p:sp>
      <p:sp>
        <p:nvSpPr>
          <p:cNvPr id="22" name="Text 20"/>
          <p:cNvSpPr/>
          <p:nvPr/>
        </p:nvSpPr>
        <p:spPr>
          <a:xfrm>
            <a:off x="9198864" y="1682496"/>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23" name="Shape 21"/>
          <p:cNvSpPr/>
          <p:nvPr/>
        </p:nvSpPr>
        <p:spPr>
          <a:xfrm>
            <a:off x="566928" y="1682496"/>
            <a:ext cx="64008" cy="493776"/>
          </a:xfrm>
          <a:prstGeom prst="rect">
            <a:avLst/>
          </a:prstGeom>
          <a:solidFill>
            <a:srgbClr val="B45309"/>
          </a:solidFill>
          <a:ln w="12700">
            <a:solidFill>
              <a:srgbClr val="333333"/>
            </a:solidFill>
            <a:prstDash val="solid"/>
          </a:ln>
        </p:spPr>
      </p:sp>
      <p:sp>
        <p:nvSpPr>
          <p:cNvPr id="24" name="Shape 22"/>
          <p:cNvSpPr/>
          <p:nvPr/>
        </p:nvSpPr>
        <p:spPr>
          <a:xfrm>
            <a:off x="566928" y="2176272"/>
            <a:ext cx="640080" cy="493776"/>
          </a:xfrm>
          <a:prstGeom prst="rect">
            <a:avLst/>
          </a:prstGeom>
          <a:solidFill>
            <a:srgbClr val="F8FAFC"/>
          </a:solidFill>
          <a:ln w="12700">
            <a:solidFill>
              <a:srgbClr val="E2E8F0"/>
            </a:solidFill>
            <a:prstDash val="solid"/>
          </a:ln>
        </p:spPr>
      </p:sp>
      <p:sp>
        <p:nvSpPr>
          <p:cNvPr id="25" name="Text 23"/>
          <p:cNvSpPr/>
          <p:nvPr/>
        </p:nvSpPr>
        <p:spPr>
          <a:xfrm>
            <a:off x="694944" y="2176272"/>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2</a:t>
            </a:r>
            <a:endParaRPr lang="en-US" sz="1400" dirty="0"/>
          </a:p>
        </p:txBody>
      </p:sp>
      <p:sp>
        <p:nvSpPr>
          <p:cNvPr id="26" name="Shape 24"/>
          <p:cNvSpPr/>
          <p:nvPr/>
        </p:nvSpPr>
        <p:spPr>
          <a:xfrm>
            <a:off x="1207008" y="2176272"/>
            <a:ext cx="4937760" cy="493776"/>
          </a:xfrm>
          <a:prstGeom prst="rect">
            <a:avLst/>
          </a:prstGeom>
          <a:solidFill>
            <a:srgbClr val="F8FAFC"/>
          </a:solidFill>
          <a:ln w="12700">
            <a:solidFill>
              <a:srgbClr val="E2E8F0"/>
            </a:solidFill>
            <a:prstDash val="solid"/>
          </a:ln>
        </p:spPr>
      </p:sp>
      <p:sp>
        <p:nvSpPr>
          <p:cNvPr id="27" name="Text 25"/>
          <p:cNvSpPr/>
          <p:nvPr/>
        </p:nvSpPr>
        <p:spPr>
          <a:xfrm>
            <a:off x="1335024" y="2176272"/>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A hub flies 16 deliveries a day</a:t>
            </a:r>
            <a:endParaRPr lang="en-US" sz="1400" dirty="0"/>
          </a:p>
        </p:txBody>
      </p:sp>
      <p:sp>
        <p:nvSpPr>
          <p:cNvPr id="28" name="Shape 26"/>
          <p:cNvSpPr/>
          <p:nvPr/>
        </p:nvSpPr>
        <p:spPr>
          <a:xfrm>
            <a:off x="6144768" y="2176272"/>
            <a:ext cx="2926080" cy="493776"/>
          </a:xfrm>
          <a:prstGeom prst="rect">
            <a:avLst/>
          </a:prstGeom>
          <a:solidFill>
            <a:srgbClr val="F8FAFC"/>
          </a:solidFill>
          <a:ln w="12700">
            <a:solidFill>
              <a:srgbClr val="E2E8F0"/>
            </a:solidFill>
            <a:prstDash val="solid"/>
          </a:ln>
        </p:spPr>
      </p:sp>
      <p:sp>
        <p:nvSpPr>
          <p:cNvPr id="29" name="Text 27"/>
          <p:cNvSpPr/>
          <p:nvPr/>
        </p:nvSpPr>
        <p:spPr>
          <a:xfrm>
            <a:off x="6272784" y="2176272"/>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12 needed</a:t>
            </a:r>
            <a:endParaRPr lang="en-US" sz="1400" dirty="0"/>
          </a:p>
        </p:txBody>
      </p:sp>
      <p:sp>
        <p:nvSpPr>
          <p:cNvPr id="30" name="Shape 28"/>
          <p:cNvSpPr/>
          <p:nvPr/>
        </p:nvSpPr>
        <p:spPr>
          <a:xfrm>
            <a:off x="9070848" y="2176272"/>
            <a:ext cx="2551176" cy="493776"/>
          </a:xfrm>
          <a:prstGeom prst="rect">
            <a:avLst/>
          </a:prstGeom>
          <a:solidFill>
            <a:srgbClr val="F8FAFC"/>
          </a:solidFill>
          <a:ln w="12700">
            <a:solidFill>
              <a:srgbClr val="E2E8F0"/>
            </a:solidFill>
            <a:prstDash val="solid"/>
          </a:ln>
        </p:spPr>
      </p:sp>
      <p:sp>
        <p:nvSpPr>
          <p:cNvPr id="31" name="Text 29"/>
          <p:cNvSpPr/>
          <p:nvPr/>
        </p:nvSpPr>
        <p:spPr>
          <a:xfrm>
            <a:off x="9198864" y="2176272"/>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32" name="Shape 30"/>
          <p:cNvSpPr/>
          <p:nvPr/>
        </p:nvSpPr>
        <p:spPr>
          <a:xfrm>
            <a:off x="566928" y="2176272"/>
            <a:ext cx="64008" cy="493776"/>
          </a:xfrm>
          <a:prstGeom prst="rect">
            <a:avLst/>
          </a:prstGeom>
          <a:solidFill>
            <a:srgbClr val="B45309"/>
          </a:solidFill>
          <a:ln w="12700">
            <a:solidFill>
              <a:srgbClr val="333333"/>
            </a:solidFill>
            <a:prstDash val="solid"/>
          </a:ln>
        </p:spPr>
      </p:sp>
      <p:sp>
        <p:nvSpPr>
          <p:cNvPr id="33" name="Shape 31"/>
          <p:cNvSpPr/>
          <p:nvPr/>
        </p:nvSpPr>
        <p:spPr>
          <a:xfrm>
            <a:off x="566928" y="2670048"/>
            <a:ext cx="640080" cy="493776"/>
          </a:xfrm>
          <a:prstGeom prst="rect">
            <a:avLst/>
          </a:prstGeom>
          <a:solidFill>
            <a:srgbClr val="FFFFFF"/>
          </a:solidFill>
          <a:ln w="12700">
            <a:solidFill>
              <a:srgbClr val="E2E8F0"/>
            </a:solidFill>
            <a:prstDash val="solid"/>
          </a:ln>
        </p:spPr>
      </p:sp>
      <p:sp>
        <p:nvSpPr>
          <p:cNvPr id="34" name="Text 32"/>
          <p:cNvSpPr/>
          <p:nvPr/>
        </p:nvSpPr>
        <p:spPr>
          <a:xfrm>
            <a:off x="694944" y="2670048"/>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3</a:t>
            </a:r>
            <a:endParaRPr lang="en-US" sz="1400" dirty="0"/>
          </a:p>
        </p:txBody>
      </p:sp>
      <p:sp>
        <p:nvSpPr>
          <p:cNvPr id="35" name="Shape 33"/>
          <p:cNvSpPr/>
          <p:nvPr/>
        </p:nvSpPr>
        <p:spPr>
          <a:xfrm>
            <a:off x="1207008" y="2670048"/>
            <a:ext cx="4937760" cy="493776"/>
          </a:xfrm>
          <a:prstGeom prst="rect">
            <a:avLst/>
          </a:prstGeom>
          <a:solidFill>
            <a:srgbClr val="FFFFFF"/>
          </a:solidFill>
          <a:ln w="12700">
            <a:solidFill>
              <a:srgbClr val="E2E8F0"/>
            </a:solidFill>
            <a:prstDash val="solid"/>
          </a:ln>
        </p:spPr>
      </p:sp>
      <p:sp>
        <p:nvSpPr>
          <p:cNvPr id="36" name="Text 34"/>
          <p:cNvSpPr/>
          <p:nvPr/>
        </p:nvSpPr>
        <p:spPr>
          <a:xfrm>
            <a:off x="1335024" y="2670048"/>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Contribution holds above Tk 40</a:t>
            </a:r>
            <a:endParaRPr lang="en-US" sz="1400" dirty="0"/>
          </a:p>
        </p:txBody>
      </p:sp>
      <p:sp>
        <p:nvSpPr>
          <p:cNvPr id="37" name="Shape 35"/>
          <p:cNvSpPr/>
          <p:nvPr/>
        </p:nvSpPr>
        <p:spPr>
          <a:xfrm>
            <a:off x="6144768" y="2670048"/>
            <a:ext cx="2926080" cy="493776"/>
          </a:xfrm>
          <a:prstGeom prst="rect">
            <a:avLst/>
          </a:prstGeom>
          <a:solidFill>
            <a:srgbClr val="FFFFFF"/>
          </a:solidFill>
          <a:ln w="12700">
            <a:solidFill>
              <a:srgbClr val="E2E8F0"/>
            </a:solidFill>
            <a:prstDash val="solid"/>
          </a:ln>
        </p:spPr>
      </p:sp>
      <p:sp>
        <p:nvSpPr>
          <p:cNvPr id="38" name="Text 36"/>
          <p:cNvSpPr/>
          <p:nvPr/>
        </p:nvSpPr>
        <p:spPr>
          <a:xfrm>
            <a:off x="6272784" y="2670048"/>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43 modelled</a:t>
            </a:r>
            <a:endParaRPr lang="en-US" sz="1400" dirty="0"/>
          </a:p>
        </p:txBody>
      </p:sp>
      <p:sp>
        <p:nvSpPr>
          <p:cNvPr id="39" name="Shape 37"/>
          <p:cNvSpPr/>
          <p:nvPr/>
        </p:nvSpPr>
        <p:spPr>
          <a:xfrm>
            <a:off x="9070848" y="2670048"/>
            <a:ext cx="2551176" cy="493776"/>
          </a:xfrm>
          <a:prstGeom prst="rect">
            <a:avLst/>
          </a:prstGeom>
          <a:solidFill>
            <a:srgbClr val="FFFFFF"/>
          </a:solidFill>
          <a:ln w="12700">
            <a:solidFill>
              <a:srgbClr val="E2E8F0"/>
            </a:solidFill>
            <a:prstDash val="solid"/>
          </a:ln>
        </p:spPr>
      </p:sp>
      <p:sp>
        <p:nvSpPr>
          <p:cNvPr id="40" name="Text 38"/>
          <p:cNvSpPr/>
          <p:nvPr/>
        </p:nvSpPr>
        <p:spPr>
          <a:xfrm>
            <a:off x="9198864" y="2670048"/>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41" name="Shape 39"/>
          <p:cNvSpPr/>
          <p:nvPr/>
        </p:nvSpPr>
        <p:spPr>
          <a:xfrm>
            <a:off x="566928" y="2670048"/>
            <a:ext cx="64008" cy="493776"/>
          </a:xfrm>
          <a:prstGeom prst="rect">
            <a:avLst/>
          </a:prstGeom>
          <a:solidFill>
            <a:srgbClr val="B45309"/>
          </a:solidFill>
          <a:ln w="12700">
            <a:solidFill>
              <a:srgbClr val="333333"/>
            </a:solidFill>
            <a:prstDash val="solid"/>
          </a:ln>
        </p:spPr>
      </p:sp>
      <p:sp>
        <p:nvSpPr>
          <p:cNvPr id="42" name="Shape 40"/>
          <p:cNvSpPr/>
          <p:nvPr/>
        </p:nvSpPr>
        <p:spPr>
          <a:xfrm>
            <a:off x="566928" y="3163824"/>
            <a:ext cx="640080" cy="493776"/>
          </a:xfrm>
          <a:prstGeom prst="rect">
            <a:avLst/>
          </a:prstGeom>
          <a:solidFill>
            <a:srgbClr val="F8FAFC"/>
          </a:solidFill>
          <a:ln w="12700">
            <a:solidFill>
              <a:srgbClr val="E2E8F0"/>
            </a:solidFill>
            <a:prstDash val="solid"/>
          </a:ln>
        </p:spPr>
      </p:sp>
      <p:sp>
        <p:nvSpPr>
          <p:cNvPr id="43" name="Text 41"/>
          <p:cNvSpPr/>
          <p:nvPr/>
        </p:nvSpPr>
        <p:spPr>
          <a:xfrm>
            <a:off x="694944" y="3163824"/>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4</a:t>
            </a:r>
            <a:endParaRPr lang="en-US" sz="1400" dirty="0"/>
          </a:p>
        </p:txBody>
      </p:sp>
      <p:sp>
        <p:nvSpPr>
          <p:cNvPr id="44" name="Shape 42"/>
          <p:cNvSpPr/>
          <p:nvPr/>
        </p:nvSpPr>
        <p:spPr>
          <a:xfrm>
            <a:off x="1207008" y="3163824"/>
            <a:ext cx="4937760" cy="493776"/>
          </a:xfrm>
          <a:prstGeom prst="rect">
            <a:avLst/>
          </a:prstGeom>
          <a:solidFill>
            <a:srgbClr val="F8FAFC"/>
          </a:solidFill>
          <a:ln w="12700">
            <a:solidFill>
              <a:srgbClr val="E2E8F0"/>
            </a:solidFill>
            <a:prstDash val="solid"/>
          </a:ln>
        </p:spPr>
      </p:sp>
      <p:sp>
        <p:nvSpPr>
          <p:cNvPr id="45" name="Text 43"/>
          <p:cNvSpPr/>
          <p:nvPr/>
        </p:nvSpPr>
        <p:spPr>
          <a:xfrm>
            <a:off x="1335024" y="3163824"/>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Landing on a pad, not a rooftop</a:t>
            </a:r>
            <a:endParaRPr lang="en-US" sz="1400" dirty="0"/>
          </a:p>
        </p:txBody>
      </p:sp>
      <p:sp>
        <p:nvSpPr>
          <p:cNvPr id="46" name="Shape 44"/>
          <p:cNvSpPr/>
          <p:nvPr/>
        </p:nvSpPr>
        <p:spPr>
          <a:xfrm>
            <a:off x="6144768" y="3163824"/>
            <a:ext cx="2926080" cy="493776"/>
          </a:xfrm>
          <a:prstGeom prst="rect">
            <a:avLst/>
          </a:prstGeom>
          <a:solidFill>
            <a:srgbClr val="F8FAFC"/>
          </a:solidFill>
          <a:ln w="12700">
            <a:solidFill>
              <a:srgbClr val="E2E8F0"/>
            </a:solidFill>
            <a:prstDash val="solid"/>
          </a:ln>
        </p:spPr>
      </p:sp>
      <p:sp>
        <p:nvSpPr>
          <p:cNvPr id="47" name="Text 45"/>
          <p:cNvSpPr/>
          <p:nvPr/>
        </p:nvSpPr>
        <p:spPr>
          <a:xfrm>
            <a:off x="6272784" y="3163824"/>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Demonstrated elsewhere</a:t>
            </a:r>
            <a:endParaRPr lang="en-US" sz="1400" dirty="0"/>
          </a:p>
        </p:txBody>
      </p:sp>
      <p:sp>
        <p:nvSpPr>
          <p:cNvPr id="48" name="Shape 46"/>
          <p:cNvSpPr/>
          <p:nvPr/>
        </p:nvSpPr>
        <p:spPr>
          <a:xfrm>
            <a:off x="9070848" y="3163824"/>
            <a:ext cx="2551176" cy="493776"/>
          </a:xfrm>
          <a:prstGeom prst="rect">
            <a:avLst/>
          </a:prstGeom>
          <a:solidFill>
            <a:srgbClr val="F8FAFC"/>
          </a:solidFill>
          <a:ln w="12700">
            <a:solidFill>
              <a:srgbClr val="E2E8F0"/>
            </a:solidFill>
            <a:prstDash val="solid"/>
          </a:ln>
        </p:spPr>
      </p:sp>
      <p:sp>
        <p:nvSpPr>
          <p:cNvPr id="49" name="Text 47"/>
          <p:cNvSpPr/>
          <p:nvPr/>
        </p:nvSpPr>
        <p:spPr>
          <a:xfrm>
            <a:off x="9198864" y="3163824"/>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50" name="Shape 48"/>
          <p:cNvSpPr/>
          <p:nvPr/>
        </p:nvSpPr>
        <p:spPr>
          <a:xfrm>
            <a:off x="566928" y="3163824"/>
            <a:ext cx="64008" cy="493776"/>
          </a:xfrm>
          <a:prstGeom prst="rect">
            <a:avLst/>
          </a:prstGeom>
          <a:solidFill>
            <a:srgbClr val="B45309"/>
          </a:solidFill>
          <a:ln w="12700">
            <a:solidFill>
              <a:srgbClr val="333333"/>
            </a:solidFill>
            <a:prstDash val="solid"/>
          </a:ln>
        </p:spPr>
      </p:sp>
      <p:sp>
        <p:nvSpPr>
          <p:cNvPr id="51" name="Shape 49"/>
          <p:cNvSpPr/>
          <p:nvPr/>
        </p:nvSpPr>
        <p:spPr>
          <a:xfrm>
            <a:off x="566928" y="3657600"/>
            <a:ext cx="640080" cy="493776"/>
          </a:xfrm>
          <a:prstGeom prst="rect">
            <a:avLst/>
          </a:prstGeom>
          <a:solidFill>
            <a:srgbClr val="FFFFFF"/>
          </a:solidFill>
          <a:ln w="12700">
            <a:solidFill>
              <a:srgbClr val="E2E8F0"/>
            </a:solidFill>
            <a:prstDash val="solid"/>
          </a:ln>
        </p:spPr>
      </p:sp>
      <p:sp>
        <p:nvSpPr>
          <p:cNvPr id="52" name="Text 50"/>
          <p:cNvSpPr/>
          <p:nvPr/>
        </p:nvSpPr>
        <p:spPr>
          <a:xfrm>
            <a:off x="694944" y="3657600"/>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5</a:t>
            </a:r>
            <a:endParaRPr lang="en-US" sz="1400" dirty="0"/>
          </a:p>
        </p:txBody>
      </p:sp>
      <p:sp>
        <p:nvSpPr>
          <p:cNvPr id="53" name="Shape 51"/>
          <p:cNvSpPr/>
          <p:nvPr/>
        </p:nvSpPr>
        <p:spPr>
          <a:xfrm>
            <a:off x="1207008" y="3657600"/>
            <a:ext cx="4937760" cy="493776"/>
          </a:xfrm>
          <a:prstGeom prst="rect">
            <a:avLst/>
          </a:prstGeom>
          <a:solidFill>
            <a:srgbClr val="FFFFFF"/>
          </a:solidFill>
          <a:ln w="12700">
            <a:solidFill>
              <a:srgbClr val="E2E8F0"/>
            </a:solidFill>
            <a:prstDash val="solid"/>
          </a:ln>
        </p:spPr>
      </p:sp>
      <p:sp>
        <p:nvSpPr>
          <p:cNvPr id="54" name="Text 52"/>
          <p:cNvSpPr/>
          <p:nvPr/>
        </p:nvSpPr>
        <p:spPr>
          <a:xfrm>
            <a:off x="1335024" y="3657600"/>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Escalation keeps AI cost under Tk 1 a flight</a:t>
            </a:r>
            <a:endParaRPr lang="en-US" sz="1400" dirty="0"/>
          </a:p>
        </p:txBody>
      </p:sp>
      <p:sp>
        <p:nvSpPr>
          <p:cNvPr id="55" name="Shape 53"/>
          <p:cNvSpPr/>
          <p:nvPr/>
        </p:nvSpPr>
        <p:spPr>
          <a:xfrm>
            <a:off x="6144768" y="3657600"/>
            <a:ext cx="2926080" cy="493776"/>
          </a:xfrm>
          <a:prstGeom prst="rect">
            <a:avLst/>
          </a:prstGeom>
          <a:solidFill>
            <a:srgbClr val="FFFFFF"/>
          </a:solidFill>
          <a:ln w="12700">
            <a:solidFill>
              <a:srgbClr val="E2E8F0"/>
            </a:solidFill>
            <a:prstDash val="solid"/>
          </a:ln>
        </p:spPr>
      </p:sp>
      <p:sp>
        <p:nvSpPr>
          <p:cNvPr id="56" name="Text 54"/>
          <p:cNvSpPr/>
          <p:nvPr/>
        </p:nvSpPr>
        <p:spPr>
          <a:xfrm>
            <a:off x="6272784" y="3657600"/>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Tk 1 modelled</a:t>
            </a:r>
            <a:endParaRPr lang="en-US" sz="1400" dirty="0"/>
          </a:p>
        </p:txBody>
      </p:sp>
      <p:sp>
        <p:nvSpPr>
          <p:cNvPr id="57" name="Shape 55"/>
          <p:cNvSpPr/>
          <p:nvPr/>
        </p:nvSpPr>
        <p:spPr>
          <a:xfrm>
            <a:off x="9070848" y="3657600"/>
            <a:ext cx="2551176" cy="493776"/>
          </a:xfrm>
          <a:prstGeom prst="rect">
            <a:avLst/>
          </a:prstGeom>
          <a:solidFill>
            <a:srgbClr val="FFFFFF"/>
          </a:solidFill>
          <a:ln w="12700">
            <a:solidFill>
              <a:srgbClr val="E2E8F0"/>
            </a:solidFill>
            <a:prstDash val="solid"/>
          </a:ln>
        </p:spPr>
      </p:sp>
      <p:sp>
        <p:nvSpPr>
          <p:cNvPr id="58" name="Text 56"/>
          <p:cNvSpPr/>
          <p:nvPr/>
        </p:nvSpPr>
        <p:spPr>
          <a:xfrm>
            <a:off x="9198864" y="3657600"/>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59" name="Shape 57"/>
          <p:cNvSpPr/>
          <p:nvPr/>
        </p:nvSpPr>
        <p:spPr>
          <a:xfrm>
            <a:off x="566928" y="3657600"/>
            <a:ext cx="64008" cy="493776"/>
          </a:xfrm>
          <a:prstGeom prst="rect">
            <a:avLst/>
          </a:prstGeom>
          <a:solidFill>
            <a:srgbClr val="B45309"/>
          </a:solidFill>
          <a:ln w="12700">
            <a:solidFill>
              <a:srgbClr val="333333"/>
            </a:solidFill>
            <a:prstDash val="solid"/>
          </a:ln>
        </p:spPr>
      </p:sp>
      <p:sp>
        <p:nvSpPr>
          <p:cNvPr id="60" name="Shape 58"/>
          <p:cNvSpPr/>
          <p:nvPr/>
        </p:nvSpPr>
        <p:spPr>
          <a:xfrm>
            <a:off x="566928" y="4151376"/>
            <a:ext cx="640080" cy="493776"/>
          </a:xfrm>
          <a:prstGeom prst="rect">
            <a:avLst/>
          </a:prstGeom>
          <a:solidFill>
            <a:srgbClr val="F8FAFC"/>
          </a:solidFill>
          <a:ln w="12700">
            <a:solidFill>
              <a:srgbClr val="E2E8F0"/>
            </a:solidFill>
            <a:prstDash val="solid"/>
          </a:ln>
        </p:spPr>
      </p:sp>
      <p:sp>
        <p:nvSpPr>
          <p:cNvPr id="61" name="Text 59"/>
          <p:cNvSpPr/>
          <p:nvPr/>
        </p:nvSpPr>
        <p:spPr>
          <a:xfrm>
            <a:off x="694944" y="4151376"/>
            <a:ext cx="384048" cy="493776"/>
          </a:xfrm>
          <a:prstGeom prst="rect">
            <a:avLst/>
          </a:prstGeom>
          <a:noFill/>
          <a:ln/>
        </p:spPr>
        <p:txBody>
          <a:bodyPr wrap="square" lIns="0" tIns="0" rIns="0" bIns="0" rtlCol="0" anchor="ctr"/>
          <a:lstStyle/>
          <a:p>
            <a:pPr indent="0" marL="0">
              <a:lnSpc>
                <a:spcPts val="1700"/>
              </a:lnSpc>
              <a:buNone/>
            </a:pPr>
            <a:r>
              <a:rPr lang="en-US" sz="1400" b="1" dirty="0">
                <a:solidFill>
                  <a:srgbClr val="0F172A"/>
                </a:solidFill>
                <a:latin typeface="Calibri" pitchFamily="34" charset="0"/>
                <a:ea typeface="Calibri" pitchFamily="34" charset="-122"/>
                <a:cs typeface="Calibri" pitchFamily="34" charset="-120"/>
              </a:rPr>
              <a:t>6</a:t>
            </a:r>
            <a:endParaRPr lang="en-US" sz="1400" dirty="0"/>
          </a:p>
        </p:txBody>
      </p:sp>
      <p:sp>
        <p:nvSpPr>
          <p:cNvPr id="62" name="Shape 60"/>
          <p:cNvSpPr/>
          <p:nvPr/>
        </p:nvSpPr>
        <p:spPr>
          <a:xfrm>
            <a:off x="1207008" y="4151376"/>
            <a:ext cx="4937760" cy="493776"/>
          </a:xfrm>
          <a:prstGeom prst="rect">
            <a:avLst/>
          </a:prstGeom>
          <a:solidFill>
            <a:srgbClr val="F8FAFC"/>
          </a:solidFill>
          <a:ln w="12700">
            <a:solidFill>
              <a:srgbClr val="E2E8F0"/>
            </a:solidFill>
            <a:prstDash val="solid"/>
          </a:ln>
        </p:spPr>
      </p:sp>
      <p:sp>
        <p:nvSpPr>
          <p:cNvPr id="63" name="Text 61"/>
          <p:cNvSpPr/>
          <p:nvPr/>
        </p:nvSpPr>
        <p:spPr>
          <a:xfrm>
            <a:off x="1335024" y="4151376"/>
            <a:ext cx="468172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Monsoon does not close the network</a:t>
            </a:r>
            <a:endParaRPr lang="en-US" sz="1400" dirty="0"/>
          </a:p>
        </p:txBody>
      </p:sp>
      <p:sp>
        <p:nvSpPr>
          <p:cNvPr id="64" name="Shape 62"/>
          <p:cNvSpPr/>
          <p:nvPr/>
        </p:nvSpPr>
        <p:spPr>
          <a:xfrm>
            <a:off x="6144768" y="4151376"/>
            <a:ext cx="2926080" cy="493776"/>
          </a:xfrm>
          <a:prstGeom prst="rect">
            <a:avLst/>
          </a:prstGeom>
          <a:solidFill>
            <a:srgbClr val="F8FAFC"/>
          </a:solidFill>
          <a:ln w="12700">
            <a:solidFill>
              <a:srgbClr val="E2E8F0"/>
            </a:solidFill>
            <a:prstDash val="solid"/>
          </a:ln>
        </p:spPr>
      </p:sp>
      <p:sp>
        <p:nvSpPr>
          <p:cNvPr id="65" name="Text 63"/>
          <p:cNvSpPr/>
          <p:nvPr/>
        </p:nvSpPr>
        <p:spPr>
          <a:xfrm>
            <a:off x="6272784" y="4151376"/>
            <a:ext cx="2670048"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Open</a:t>
            </a:r>
            <a:endParaRPr lang="en-US" sz="1400" dirty="0"/>
          </a:p>
        </p:txBody>
      </p:sp>
      <p:sp>
        <p:nvSpPr>
          <p:cNvPr id="66" name="Shape 64"/>
          <p:cNvSpPr/>
          <p:nvPr/>
        </p:nvSpPr>
        <p:spPr>
          <a:xfrm>
            <a:off x="9070848" y="4151376"/>
            <a:ext cx="2551176" cy="493776"/>
          </a:xfrm>
          <a:prstGeom prst="rect">
            <a:avLst/>
          </a:prstGeom>
          <a:solidFill>
            <a:srgbClr val="F8FAFC"/>
          </a:solidFill>
          <a:ln w="12700">
            <a:solidFill>
              <a:srgbClr val="E2E8F0"/>
            </a:solidFill>
            <a:prstDash val="solid"/>
          </a:ln>
        </p:spPr>
      </p:sp>
      <p:sp>
        <p:nvSpPr>
          <p:cNvPr id="67" name="Text 65"/>
          <p:cNvSpPr/>
          <p:nvPr/>
        </p:nvSpPr>
        <p:spPr>
          <a:xfrm>
            <a:off x="9198864" y="4151376"/>
            <a:ext cx="2295144" cy="493776"/>
          </a:xfrm>
          <a:prstGeom prst="rect">
            <a:avLst/>
          </a:prstGeom>
          <a:noFill/>
          <a:ln/>
        </p:spPr>
        <p:txBody>
          <a:bodyPr wrap="square" lIns="0" tIns="0" rIns="0" bIns="0" rtlCol="0" anchor="ctr"/>
          <a:lstStyle/>
          <a:p>
            <a:pPr indent="0" marL="0">
              <a:lnSpc>
                <a:spcPts val="1700"/>
              </a:lnSpc>
              <a:buNone/>
            </a:pPr>
            <a:r>
              <a:rPr lang="en-US" sz="1400" dirty="0">
                <a:solidFill>
                  <a:srgbClr val="334155"/>
                </a:solidFill>
                <a:latin typeface="Calibri" pitchFamily="34" charset="0"/>
                <a:ea typeface="Calibri" pitchFamily="34" charset="-122"/>
                <a:cs typeface="Calibri" pitchFamily="34" charset="-120"/>
              </a:rPr>
              <a:t>Not yet</a:t>
            </a:r>
            <a:endParaRPr lang="en-US" sz="1400" dirty="0"/>
          </a:p>
        </p:txBody>
      </p:sp>
      <p:sp>
        <p:nvSpPr>
          <p:cNvPr id="68" name="Shape 66"/>
          <p:cNvSpPr/>
          <p:nvPr/>
        </p:nvSpPr>
        <p:spPr>
          <a:xfrm>
            <a:off x="566928" y="4151376"/>
            <a:ext cx="64008" cy="493776"/>
          </a:xfrm>
          <a:prstGeom prst="rect">
            <a:avLst/>
          </a:prstGeom>
          <a:solidFill>
            <a:srgbClr val="B45309"/>
          </a:solidFill>
          <a:ln w="12700">
            <a:solidFill>
              <a:srgbClr val="333333"/>
            </a:solidFill>
            <a:prstDash val="solid"/>
          </a:ln>
        </p:spPr>
      </p:sp>
      <p:sp>
        <p:nvSpPr>
          <p:cNvPr id="69" name="Shape 67"/>
          <p:cNvSpPr/>
          <p:nvPr/>
        </p:nvSpPr>
        <p:spPr>
          <a:xfrm>
            <a:off x="566928" y="4590288"/>
            <a:ext cx="11057839" cy="1115568"/>
          </a:xfrm>
          <a:prstGeom prst="roundRect">
            <a:avLst>
              <a:gd name="adj" fmla="val 4098"/>
            </a:avLst>
          </a:prstGeom>
          <a:solidFill>
            <a:srgbClr val="FFFFFF"/>
          </a:solidFill>
          <a:ln w="12700">
            <a:solidFill>
              <a:srgbClr val="800020"/>
            </a:solidFill>
            <a:prstDash val="solid"/>
          </a:ln>
          <a:effectLst>
            <a:outerShdw sx="100000" sy="100000" kx="0" ky="0" algn="bl" rotWithShape="0" blurRad="114300" dist="12700" dir="5400000">
              <a:srgbClr val="0F172A">
                <a:alpha val="8000"/>
              </a:srgbClr>
            </a:outerShdw>
          </a:effectLst>
        </p:spPr>
      </p:sp>
      <p:sp>
        <p:nvSpPr>
          <p:cNvPr id="70" name="Text 68"/>
          <p:cNvSpPr/>
          <p:nvPr/>
        </p:nvSpPr>
        <p:spPr>
          <a:xfrm>
            <a:off x="786384" y="4700016"/>
            <a:ext cx="10618927" cy="292608"/>
          </a:xfrm>
          <a:prstGeom prst="rect">
            <a:avLst/>
          </a:prstGeom>
          <a:noFill/>
          <a:ln/>
        </p:spPr>
        <p:txBody>
          <a:bodyPr wrap="square" lIns="0" tIns="0" rIns="0" bIns="0" rtlCol="0" anchor="ctr"/>
          <a:lstStyle/>
          <a:p>
            <a:pPr indent="0" marL="0">
              <a:buNone/>
            </a:pPr>
            <a:r>
              <a:rPr lang="en-US" sz="1600" b="1" dirty="0">
                <a:solidFill>
                  <a:srgbClr val="800020"/>
                </a:solidFill>
                <a:latin typeface="Calibri" pitchFamily="34" charset="0"/>
                <a:ea typeface="Calibri" pitchFamily="34" charset="-122"/>
                <a:cs typeface="Calibri" pitchFamily="34" charset="-120"/>
              </a:rPr>
              <a:t>The verdict</a:t>
            </a:r>
            <a:endParaRPr lang="en-US" sz="1600" dirty="0"/>
          </a:p>
        </p:txBody>
      </p:sp>
      <p:sp>
        <p:nvSpPr>
          <p:cNvPr id="71" name="Text 69"/>
          <p:cNvSpPr/>
          <p:nvPr/>
        </p:nvSpPr>
        <p:spPr>
          <a:xfrm>
            <a:off x="786384" y="5010912"/>
            <a:ext cx="10618927" cy="603504"/>
          </a:xfrm>
          <a:prstGeom prst="rect">
            <a:avLst/>
          </a:prstGeom>
          <a:noFill/>
          <a:ln/>
        </p:spPr>
        <p:txBody>
          <a:bodyPr wrap="square" lIns="0" tIns="0" rIns="0" bIns="0" rtlCol="0" anchor="t"/>
          <a:lstStyle/>
          <a:p>
            <a:pPr indent="0" marL="0">
              <a:lnSpc>
                <a:spcPts val="1900"/>
              </a:lnSpc>
              <a:buNone/>
            </a:pPr>
            <a:r>
              <a:rPr lang="en-US" sz="1400" dirty="0">
                <a:solidFill>
                  <a:srgbClr val="334155"/>
                </a:solidFill>
                <a:latin typeface="Calibri" pitchFamily="34" charset="0"/>
                <a:ea typeface="Calibri" pitchFamily="34" charset="-122"/>
                <a:cs typeface="Calibri" pitchFamily="34" charset="-120"/>
              </a:rPr>
              <a:t>Six of six conditions are untested. That is the honest position of any first year. The plan is not to prove the market, which is already proven, but to prove permission and density, in Rajshahi, before any capital is committed to Dhaka.</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344607" y="6345936"/>
            <a:ext cx="1280160" cy="256032"/>
          </a:xfrm>
          <a:prstGeom prst="rect">
            <a:avLst/>
          </a:prstGeom>
          <a:noFill/>
          <a:ln/>
        </p:spPr>
        <p:txBody>
          <a:bodyPr wrap="square" lIns="0" tIns="0" rIns="0" bIns="0" rtlCol="0" anchor="ctr"/>
          <a:lstStyle/>
          <a:p>
            <a:pPr algn="r" indent="0" marL="0">
              <a:buNone/>
            </a:pPr>
            <a:fld id="{6F3B9A21-7C4D-4E52-9A18-3B7D5C2E1F40}" type="slidenum">
              <a:rPr lang="en-US" sz="1200" b="1" dirty="0">
                <a:solidFill>
                  <a:srgbClr val="334155"/>
                </a:solidFill>
                <a:latin typeface="Calibri" pitchFamily="34" charset="0"/>
              </a:rPr>
              <a:t>47</a:t>
            </a:fld>
            <a:pPr algn="r" indent="0" marL="0">
              <a:buNone/>
            </a:pPr>
            <a:r>
              <a:rPr lang="en-US" sz="1200" b="1" dirty="0">
                <a:solidFill>
                  <a:srgbClr val="334155"/>
                </a:solidFill>
                <a:latin typeface="Calibri" pitchFamily="34" charset="0"/>
                <a:ea typeface="Calibri" pitchFamily="34" charset="-122"/>
                <a:cs typeface="Calibri" pitchFamily="34" charset="-120"/>
              </a:rPr>
              <a:t>/48</a:t>
            </a:r>
            <a:endParaRPr lang="en-US" sz="1200" dirty="0"/>
          </a:p>
        </p:txBody>
      </p:sp>
      <p:sp>
        <p:nvSpPr>
          <p:cNvPr id="3" name="Shape 1"/>
          <p:cNvSpPr/>
          <p:nvPr/>
        </p:nvSpPr>
        <p:spPr>
          <a:xfrm>
            <a:off x="566928" y="1371600"/>
            <a:ext cx="11057839" cy="2103120"/>
          </a:xfrm>
          <a:prstGeom prst="roundRect">
            <a:avLst>
              <a:gd name="adj" fmla="val 2174"/>
            </a:avLst>
          </a:prstGeom>
          <a:solidFill>
            <a:srgbClr val="FFF1F2"/>
          </a:solidFill>
          <a:ln w="12700">
            <a:solidFill>
              <a:srgbClr val="FDE8EA"/>
            </a:solidFill>
            <a:prstDash val="solid"/>
          </a:ln>
        </p:spPr>
      </p:sp>
      <p:sp>
        <p:nvSpPr>
          <p:cNvPr id="4" name="Text 2"/>
          <p:cNvSpPr/>
          <p:nvPr/>
        </p:nvSpPr>
        <p:spPr>
          <a:xfrm>
            <a:off x="566928" y="1572768"/>
            <a:ext cx="11057839" cy="786384"/>
          </a:xfrm>
          <a:prstGeom prst="rect">
            <a:avLst/>
          </a:prstGeom>
          <a:noFill/>
          <a:ln/>
        </p:spPr>
        <p:txBody>
          <a:bodyPr wrap="square" lIns="0" tIns="0" rIns="0" bIns="0" rtlCol="0" anchor="ctr"/>
          <a:lstStyle/>
          <a:p>
            <a:pPr algn="ctr" indent="0" marL="0">
              <a:buNone/>
            </a:pPr>
            <a:r>
              <a:rPr lang="en-US" sz="4800" b="1" dirty="0">
                <a:solidFill>
                  <a:srgbClr val="800020"/>
                </a:solidFill>
                <a:latin typeface="Century Schoolbook" pitchFamily="34" charset="0"/>
                <a:ea typeface="Century Schoolbook" pitchFamily="34" charset="-122"/>
                <a:cs typeface="Century Schoolbook" pitchFamily="34" charset="-120"/>
              </a:rPr>
              <a:t>Thank You</a:t>
            </a:r>
            <a:endParaRPr lang="en-US" sz="4800" dirty="0"/>
          </a:p>
        </p:txBody>
      </p:sp>
      <p:sp>
        <p:nvSpPr>
          <p:cNvPr id="5" name="Text 3"/>
          <p:cNvSpPr/>
          <p:nvPr/>
        </p:nvSpPr>
        <p:spPr>
          <a:xfrm>
            <a:off x="566928" y="2414016"/>
            <a:ext cx="11057839" cy="384048"/>
          </a:xfrm>
          <a:prstGeom prst="rect">
            <a:avLst/>
          </a:prstGeom>
          <a:noFill/>
          <a:ln/>
        </p:spPr>
        <p:txBody>
          <a:bodyPr wrap="square" lIns="0" tIns="0" rIns="0" bIns="0" rtlCol="0" anchor="ctr"/>
          <a:lstStyle/>
          <a:p>
            <a:pPr algn="ctr" indent="0" marL="0">
              <a:buNone/>
            </a:pPr>
            <a:r>
              <a:rPr lang="en-US" sz="1800" b="1" dirty="0">
                <a:solidFill>
                  <a:srgbClr val="0F172A"/>
                </a:solidFill>
                <a:latin typeface="Calibri" pitchFamily="34" charset="0"/>
                <a:ea typeface="Calibri" pitchFamily="34" charset="-122"/>
                <a:cs typeface="Calibri" pitchFamily="34" charset="-120"/>
              </a:rPr>
              <a:t>Open Discussions</a:t>
            </a:r>
            <a:endParaRPr lang="en-US" sz="1800" dirty="0"/>
          </a:p>
        </p:txBody>
      </p:sp>
      <p:sp>
        <p:nvSpPr>
          <p:cNvPr id="6" name="Text 4"/>
          <p:cNvSpPr/>
          <p:nvPr/>
        </p:nvSpPr>
        <p:spPr>
          <a:xfrm>
            <a:off x="566928" y="2834640"/>
            <a:ext cx="11057839" cy="365760"/>
          </a:xfrm>
          <a:prstGeom prst="rect">
            <a:avLst/>
          </a:prstGeom>
          <a:noFill/>
          <a:ln/>
        </p:spPr>
        <p:txBody>
          <a:bodyPr wrap="square" lIns="0" tIns="0" rIns="0" bIns="0" rtlCol="0" anchor="ctr"/>
          <a:lstStyle/>
          <a:p>
            <a:pPr algn="ctr" indent="0" marL="0">
              <a:buNone/>
            </a:pPr>
            <a:r>
              <a:rPr lang="en-US" sz="1400" dirty="0">
                <a:solidFill>
                  <a:srgbClr val="334155"/>
                </a:solidFill>
                <a:latin typeface="Calibri" pitchFamily="34" charset="0"/>
                <a:ea typeface="Calibri" pitchFamily="34" charset="-122"/>
                <a:cs typeface="Calibri" pitchFamily="34" charset="-120"/>
              </a:rPr>
              <a:t>We welcome questions from the professor and audience.</a:t>
            </a:r>
            <a:endParaRPr lang="en-US" sz="1400" dirty="0"/>
          </a:p>
        </p:txBody>
      </p:sp>
      <p:sp>
        <p:nvSpPr>
          <p:cNvPr id="7" name="Shape 5"/>
          <p:cNvSpPr/>
          <p:nvPr/>
        </p:nvSpPr>
        <p:spPr>
          <a:xfrm>
            <a:off x="566928" y="3803904"/>
            <a:ext cx="365760" cy="365760"/>
          </a:xfrm>
          <a:prstGeom prst="roundRect">
            <a:avLst>
              <a:gd name="adj" fmla="val 20000"/>
            </a:avLst>
          </a:prstGeom>
          <a:solidFill>
            <a:srgbClr val="800020"/>
          </a:solidFill>
          <a:ln w="12700">
            <a:solidFill>
              <a:srgbClr val="333333"/>
            </a:solidFill>
            <a:prstDash val="solid"/>
          </a:ln>
        </p:spPr>
      </p:sp>
      <p:sp>
        <p:nvSpPr>
          <p:cNvPr id="8" name="Text 6"/>
          <p:cNvSpPr/>
          <p:nvPr/>
        </p:nvSpPr>
        <p:spPr>
          <a:xfrm>
            <a:off x="566928" y="38039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Text 7"/>
          <p:cNvSpPr/>
          <p:nvPr/>
        </p:nvSpPr>
        <p:spPr>
          <a:xfrm>
            <a:off x="1115568" y="3803904"/>
            <a:ext cx="10509199" cy="365760"/>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If CAAB approves a single corridor, does that change the order of our plan?</a:t>
            </a:r>
            <a:endParaRPr lang="en-US" sz="1400" dirty="0"/>
          </a:p>
        </p:txBody>
      </p:sp>
      <p:sp>
        <p:nvSpPr>
          <p:cNvPr id="10" name="Shape 8"/>
          <p:cNvSpPr/>
          <p:nvPr/>
        </p:nvSpPr>
        <p:spPr>
          <a:xfrm>
            <a:off x="566928" y="4370832"/>
            <a:ext cx="365760" cy="365760"/>
          </a:xfrm>
          <a:prstGeom prst="roundRect">
            <a:avLst>
              <a:gd name="adj" fmla="val 20000"/>
            </a:avLst>
          </a:prstGeom>
          <a:solidFill>
            <a:srgbClr val="800020"/>
          </a:solidFill>
          <a:ln w="12700">
            <a:solidFill>
              <a:srgbClr val="333333"/>
            </a:solidFill>
            <a:prstDash val="solid"/>
          </a:ln>
        </p:spPr>
      </p:sp>
      <p:sp>
        <p:nvSpPr>
          <p:cNvPr id="11" name="Text 9"/>
          <p:cNvSpPr/>
          <p:nvPr/>
        </p:nvSpPr>
        <p:spPr>
          <a:xfrm>
            <a:off x="566928" y="437083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115568" y="4370832"/>
            <a:ext cx="10509199" cy="365760"/>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How much of the fifteen minute promise survives a week of monsoon rain?</a:t>
            </a:r>
            <a:endParaRPr lang="en-US" sz="1400" dirty="0"/>
          </a:p>
        </p:txBody>
      </p:sp>
      <p:sp>
        <p:nvSpPr>
          <p:cNvPr id="13" name="Shape 11"/>
          <p:cNvSpPr/>
          <p:nvPr/>
        </p:nvSpPr>
        <p:spPr>
          <a:xfrm>
            <a:off x="566928" y="4937760"/>
            <a:ext cx="365760" cy="365760"/>
          </a:xfrm>
          <a:prstGeom prst="roundRect">
            <a:avLst>
              <a:gd name="adj" fmla="val 20000"/>
            </a:avLst>
          </a:prstGeom>
          <a:solidFill>
            <a:srgbClr val="800020"/>
          </a:solidFill>
          <a:ln w="12700">
            <a:solidFill>
              <a:srgbClr val="333333"/>
            </a:solidFill>
            <a:prstDash val="solid"/>
          </a:ln>
        </p:spPr>
      </p:sp>
      <p:sp>
        <p:nvSpPr>
          <p:cNvPr id="14" name="Text 12"/>
          <p:cNvSpPr/>
          <p:nvPr/>
        </p:nvSpPr>
        <p:spPr>
          <a:xfrm>
            <a:off x="566928" y="4937760"/>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Text 13"/>
          <p:cNvSpPr/>
          <p:nvPr/>
        </p:nvSpPr>
        <p:spPr>
          <a:xfrm>
            <a:off x="1115568" y="4937760"/>
            <a:ext cx="10509199" cy="365760"/>
          </a:xfrm>
          <a:prstGeom prst="rect">
            <a:avLst/>
          </a:prstGeom>
          <a:noFill/>
          <a:ln/>
        </p:spPr>
        <p:txBody>
          <a:bodyPr wrap="square" lIns="0" tIns="0" rIns="0" bIns="0" rtlCol="0" anchor="ctr"/>
          <a:lstStyle/>
          <a:p>
            <a:pPr indent="0" marL="0">
              <a:buNone/>
            </a:pPr>
            <a:r>
              <a:rPr lang="en-US" sz="1400" dirty="0">
                <a:solidFill>
                  <a:srgbClr val="0F172A"/>
                </a:solidFill>
                <a:latin typeface="Calibri" pitchFamily="34" charset="0"/>
                <a:ea typeface="Calibri" pitchFamily="34" charset="-122"/>
                <a:cs typeface="Calibri" pitchFamily="34" charset="-120"/>
              </a:rPr>
              <a:t>Would you rather we started in Dhaka, and what would it cost us?</a:t>
            </a:r>
            <a:endParaRPr lang="en-US" sz="1400" dirty="0"/>
          </a:p>
        </p:txBody>
      </p:sp>
      <p:sp>
        <p:nvSpPr>
          <p:cNvPr id="16" name="Text 14"/>
          <p:cNvSpPr/>
          <p:nvPr/>
        </p:nvSpPr>
        <p:spPr>
          <a:xfrm>
            <a:off x="566928" y="5541264"/>
            <a:ext cx="11057839" cy="310896"/>
          </a:xfrm>
          <a:prstGeom prst="rect">
            <a:avLst/>
          </a:prstGeom>
          <a:noFill/>
          <a:ln/>
        </p:spPr>
        <p:txBody>
          <a:bodyPr wrap="square" lIns="0" tIns="0" rIns="0" bIns="0" rtlCol="0" anchor="ctr"/>
          <a:lstStyle/>
          <a:p>
            <a:pPr algn="ctr" indent="0" marL="0">
              <a:buNone/>
            </a:pPr>
            <a:r>
              <a:rPr lang="en-US" sz="1200" b="1" dirty="0">
                <a:solidFill>
                  <a:srgbClr val="64748B"/>
                </a:solidFill>
                <a:latin typeface="Calibri" pitchFamily="34" charset="0"/>
                <a:ea typeface="Calibri" pitchFamily="34" charset="-122"/>
                <a:cs typeface="Calibri" pitchFamily="34" charset="-120"/>
              </a:rPr>
              <a:t>Vision and AI powered drone food delivery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AeroSetu: vision and AI powered drone food delivery</dc:title>
  <dc:subject>Humanities group presentation on AeroSetu, a vision and AI powered drone delivery business with a Rajshahi pilot</dc:subject>
  <dc:creator>AeroSetu group presentation</dc:creator>
  <cp:lastModifiedBy>AeroSetu group presentation</cp:lastModifiedBy>
  <cp:revision>1</cp:revision>
  <dcterms:created xsi:type="dcterms:W3CDTF">2026-10-01T02:00:11Z</dcterms:created>
  <dcterms:modified xsi:type="dcterms:W3CDTF">2026-10-01T02:00:11Z</dcterms:modified>
</cp:coreProperties>
</file>